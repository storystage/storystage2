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Calibri"/>
              </a:rPr>
              <a:t>StoryStage 2 workplan: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Calibri"/>
              </a:rPr>
              <a:t>Earliest-start schedule from the dependency map, with about 8 parallel Claude Code sessions. Durations are estimates; re-plan as work is measured.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9098280" y="219456"/>
            <a:ext cx="274320" cy="137160"/>
          </a:xfrm>
          <a:prstGeom prst="rect">
            <a:avLst/>
          </a:prstGeom>
          <a:solidFill>
            <a:srgbClr val="FDE6CF"/>
          </a:solidFill>
          <a:ln w="12700">
            <a:solidFill>
              <a:srgbClr val="D9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45752" y="196596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Calibri"/>
              </a:rPr>
              <a:t>Critical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9098280" y="420623"/>
            <a:ext cx="274320" cy="137160"/>
          </a:xfrm>
          <a:prstGeom prst="rect">
            <a:avLst/>
          </a:prstGeom>
          <a:solidFill>
            <a:srgbClr val="DDF0EA"/>
          </a:solidFill>
          <a:ln w="1270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45752" y="397764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Calibri"/>
              </a:rPr>
              <a:t>First release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9098280" y="621792"/>
            <a:ext cx="274320" cy="137160"/>
          </a:xfrm>
          <a:prstGeom prst="rect">
            <a:avLst/>
          </a:prstGeom>
          <a:solidFill>
            <a:srgbClr val="EFEFEF"/>
          </a:solidFill>
          <a:ln w="12700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45752" y="598932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Calibri"/>
              </a:rPr>
              <a:t>Owner-led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822960"/>
            <a:ext cx="274320" cy="137160"/>
          </a:xfrm>
          <a:prstGeom prst="rect">
            <a:avLst/>
          </a:prstGeom>
          <a:solidFill>
            <a:srgbClr val="DCE8F5"/>
          </a:solidFill>
          <a:ln w="12700">
            <a:solidFill>
              <a:srgbClr val="2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45752" y="800100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  <a:latin typeface="Calibri"/>
              </a:rPr>
              <a:t>AR, projection, pathway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08176"/>
            <a:ext cx="11475719" cy="30723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040940"/>
            <a:ext cx="11475719" cy="30723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529230"/>
            <a:ext cx="11475719" cy="30723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161995"/>
            <a:ext cx="11475719" cy="162763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650284"/>
            <a:ext cx="11475719" cy="162763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994099"/>
            <a:ext cx="11475719" cy="451713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915814"/>
            <a:ext cx="11475719" cy="30723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548579"/>
            <a:ext cx="11475719" cy="162763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491522" y="1124712"/>
            <a:ext cx="0" cy="4604918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28098" y="1106424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Nov 2026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15373" y="1124712"/>
            <a:ext cx="0" cy="4604918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51949" y="1106424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Dec 2026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86686" y="1124712"/>
            <a:ext cx="0" cy="4604918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23262" y="1106424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Jan 2027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7999" y="1124712"/>
            <a:ext cx="0" cy="4604918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94575" y="1106424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Feb 2027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186928" y="1124712"/>
            <a:ext cx="0" cy="4604918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3503" y="1106424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Mar 2027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58241" y="1124712"/>
            <a:ext cx="0" cy="4604918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694817" y="1106424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Apr 2027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082092" y="1124712"/>
            <a:ext cx="0" cy="4604918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118668" y="1106424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May 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39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6103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20567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85031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9495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3959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78423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2887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07351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71816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6280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0744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65208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29672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94136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w28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58600" y="1261872"/>
            <a:ext cx="36576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>
                <a:solidFill>
                  <a:srgbClr val="8A8A8A"/>
                </a:solidFill>
                <a:latin typeface="Calibri"/>
              </a:rPr>
              <a:t>w30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874519" y="1124712"/>
            <a:ext cx="0" cy="4604918"/>
          </a:xfrm>
          <a:prstGeom prst="line">
            <a:avLst/>
          </a:prstGeom>
          <a:ln w="1270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856231" y="960120"/>
            <a:ext cx="13716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F5F5F"/>
                </a:solidFill>
                <a:latin typeface="Calibri"/>
              </a:rPr>
              <a:t>Start: Mon 19 Oct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" y="1417320"/>
            <a:ext cx="1389888" cy="288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Foundations, quality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74519" y="1430121"/>
            <a:ext cx="480059" cy="118872"/>
          </a:xfrm>
          <a:prstGeom prst="rect">
            <a:avLst/>
          </a:prstGeom>
          <a:solidFill>
            <a:srgbClr val="FDE6CF"/>
          </a:solidFill>
          <a:ln w="15875">
            <a:solidFill>
              <a:srgbClr val="D9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1">
                <a:solidFill>
                  <a:srgbClr val="8A3F00"/>
                </a:solidFill>
                <a:latin typeface="Calibri"/>
              </a:rPr>
              <a:t>WP0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2868" y="1430121"/>
            <a:ext cx="480059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WP0s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56347" y="1430121"/>
            <a:ext cx="646175" cy="118872"/>
          </a:xfrm>
          <a:prstGeom prst="rect">
            <a:avLst/>
          </a:prstGeom>
          <a:solidFill>
            <a:srgbClr val="FDE6CF"/>
          </a:solidFill>
          <a:ln w="15875">
            <a:solidFill>
              <a:srgbClr val="D9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1">
                <a:solidFill>
                  <a:srgbClr val="8A3F00"/>
                </a:solidFill>
                <a:latin typeface="Calibri"/>
              </a:rPr>
              <a:t>18b gate tests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2868" y="1574596"/>
            <a:ext cx="646175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WP18a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" y="1733702"/>
            <a:ext cx="1389888" cy="288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Spikes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74519" y="1746504"/>
            <a:ext cx="313943" cy="118872"/>
          </a:xfrm>
          <a:prstGeom prst="rect">
            <a:avLst/>
          </a:prstGeom>
          <a:solidFill>
            <a:srgbClr val="EFEFEF"/>
          </a:solidFill>
          <a:ln w="952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3A3A3A"/>
                </a:solidFill>
                <a:latin typeface="Calibri"/>
              </a:rPr>
              <a:t>WP1.1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372868" y="1746504"/>
            <a:ext cx="978407" cy="118872"/>
          </a:xfrm>
          <a:prstGeom prst="rect">
            <a:avLst/>
          </a:prstGeom>
          <a:solidFill>
            <a:srgbClr val="FDE6CF"/>
          </a:solidFill>
          <a:ln w="15875">
            <a:solidFill>
              <a:srgbClr val="D9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1">
                <a:solidFill>
                  <a:srgbClr val="8A3F00"/>
                </a:solidFill>
                <a:latin typeface="Calibri"/>
              </a:rPr>
              <a:t>WP1 spikes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74519" y="1890979"/>
            <a:ext cx="646175" cy="118872"/>
          </a:xfrm>
          <a:prstGeom prst="rect">
            <a:avLst/>
          </a:prstGeom>
          <a:solidFill>
            <a:srgbClr val="EFEFEF"/>
          </a:solidFill>
          <a:ln w="952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3A3A3A"/>
                </a:solidFill>
                <a:latin typeface="Calibri"/>
              </a:rPr>
              <a:t>1.11 classroom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" y="2050084"/>
            <a:ext cx="1389888" cy="288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Language, Story API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72868" y="2062886"/>
            <a:ext cx="978407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WP2 AST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69563" y="2062886"/>
            <a:ext cx="1310639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WP6 runtime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72868" y="2207361"/>
            <a:ext cx="646175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4a API spec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37331" y="2207361"/>
            <a:ext cx="313943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4d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66259" y="2207361"/>
            <a:ext cx="978407" cy="118872"/>
          </a:xfrm>
          <a:prstGeom prst="rect">
            <a:avLst/>
          </a:prstGeom>
          <a:solidFill>
            <a:srgbClr val="FDE6CF"/>
          </a:solidFill>
          <a:ln w="15875">
            <a:solidFill>
              <a:srgbClr val="D9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1">
                <a:solidFill>
                  <a:srgbClr val="8A3F00"/>
                </a:solidFill>
                <a:latin typeface="Calibri"/>
              </a:rPr>
              <a:t>4b API blocks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" y="2366467"/>
            <a:ext cx="1389888" cy="1444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Stage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69563" y="2379268"/>
            <a:ext cx="978407" cy="118872"/>
          </a:xfrm>
          <a:prstGeom prst="rect">
            <a:avLst/>
          </a:prstGeom>
          <a:solidFill>
            <a:srgbClr val="FDE6CF"/>
          </a:solidFill>
          <a:ln w="15875">
            <a:solidFill>
              <a:srgbClr val="D9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1">
                <a:solidFill>
                  <a:srgbClr val="8A3F00"/>
                </a:solidFill>
                <a:latin typeface="Calibri"/>
              </a:rPr>
              <a:t>5a stage core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66259" y="2379268"/>
            <a:ext cx="646175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5b extras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62955" y="2379268"/>
            <a:ext cx="1310639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4c character actions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" y="2538374"/>
            <a:ext cx="1389888" cy="288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Backstage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74519" y="2551176"/>
            <a:ext cx="480059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WP3a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372868" y="2551176"/>
            <a:ext cx="1310639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3b model pipelines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701795" y="2551176"/>
            <a:ext cx="646175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3c budgets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95187" y="2551176"/>
            <a:ext cx="978407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3i import, sketches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372868" y="2695651"/>
            <a:ext cx="646175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10s sketches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535679" y="2695651"/>
            <a:ext cx="3304031" cy="118872"/>
          </a:xfrm>
          <a:prstGeom prst="rect">
            <a:avLst/>
          </a:prstGeom>
          <a:solidFill>
            <a:srgbClr val="EFEFEF"/>
          </a:solidFill>
          <a:ln w="9525">
            <a:solidFill>
              <a:srgbClr val="7A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3A3A3A"/>
                </a:solidFill>
                <a:latin typeface="Calibri"/>
              </a:rPr>
              <a:t>3d storybook cast (commissioned)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8912" y="2854756"/>
            <a:ext cx="1389888" cy="288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Interface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74519" y="2867558"/>
            <a:ext cx="646175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12a mock-ups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538983" y="2867558"/>
            <a:ext cx="978407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12b design system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67911" y="2867558"/>
            <a:ext cx="1310639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10a Storyboard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2955" y="2867558"/>
            <a:ext cx="1310639" cy="118872"/>
          </a:xfrm>
          <a:prstGeom prst="rect">
            <a:avLst/>
          </a:prstGeom>
          <a:solidFill>
            <a:srgbClr val="FDE6CF"/>
          </a:solidFill>
          <a:ln w="15875">
            <a:solidFill>
              <a:srgbClr val="D9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1">
                <a:solidFill>
                  <a:srgbClr val="8A3F00"/>
                </a:solidFill>
                <a:latin typeface="Calibri"/>
              </a:rPr>
              <a:t>WP7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91883" y="2867558"/>
            <a:ext cx="646175" cy="118872"/>
          </a:xfrm>
          <a:prstGeom prst="rect">
            <a:avLst/>
          </a:prstGeom>
          <a:solidFill>
            <a:srgbClr val="FDE6CF"/>
          </a:solidFill>
          <a:ln w="15875">
            <a:solidFill>
              <a:srgbClr val="D9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1">
                <a:solidFill>
                  <a:srgbClr val="8A3F00"/>
                </a:solidFill>
                <a:latin typeface="Calibri"/>
              </a:rPr>
              <a:t>10b links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91883" y="3012033"/>
            <a:ext cx="480059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WP10c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912" y="3171139"/>
            <a:ext cx="1389888" cy="1444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Tile editor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535679" y="3183940"/>
            <a:ext cx="2307335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7c Tiles editor (C)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691883" y="3183940"/>
            <a:ext cx="480059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WP7t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8912" y="3343046"/>
            <a:ext cx="1389888" cy="288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Productions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871215" y="3355848"/>
            <a:ext cx="313943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9a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69563" y="3355848"/>
            <a:ext cx="480059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8f format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66259" y="3355848"/>
            <a:ext cx="646175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9b import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98491" y="3500323"/>
            <a:ext cx="978407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WP8 scenes, save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912" y="3659428"/>
            <a:ext cx="1389888" cy="1444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Screening room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369563" y="3672230"/>
            <a:ext cx="646175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WP11a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695187" y="3672230"/>
            <a:ext cx="978407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11b Screening room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56347" y="3672230"/>
            <a:ext cx="646175" cy="118872"/>
          </a:xfrm>
          <a:prstGeom prst="rect">
            <a:avLst/>
          </a:prstGeom>
          <a:solidFill>
            <a:srgbClr val="FDE6CF"/>
          </a:solidFill>
          <a:ln w="15875">
            <a:solidFill>
              <a:srgbClr val="D9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1">
                <a:solidFill>
                  <a:srgbClr val="8A3F00"/>
                </a:solidFill>
                <a:latin typeface="Calibri"/>
              </a:rPr>
              <a:t>WP11c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8912" y="3831336"/>
            <a:ext cx="1389888" cy="1444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Prompter, speech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72868" y="3844137"/>
            <a:ext cx="978407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WP13a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369563" y="3844137"/>
            <a:ext cx="978407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14a speech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66259" y="3844137"/>
            <a:ext cx="1476755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13b Prompter core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61303" y="3844137"/>
            <a:ext cx="313943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14b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691883" y="3844137"/>
            <a:ext cx="646175" cy="118872"/>
          </a:xfrm>
          <a:prstGeom prst="rect">
            <a:avLst/>
          </a:prstGeom>
          <a:solidFill>
            <a:srgbClr val="FDE6CF"/>
          </a:solidFill>
          <a:ln w="15875">
            <a:solidFill>
              <a:srgbClr val="D9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1">
                <a:solidFill>
                  <a:srgbClr val="8A3F00"/>
                </a:solidFill>
                <a:latin typeface="Calibri"/>
              </a:rPr>
              <a:t>WP13c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8912" y="4003243"/>
            <a:ext cx="1389888" cy="4334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Apps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372868" y="4016044"/>
            <a:ext cx="646175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WP15a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037331" y="4016044"/>
            <a:ext cx="978407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15b signing, stores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861303" y="4016044"/>
            <a:ext cx="978407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24b class set-up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369563" y="4160520"/>
            <a:ext cx="978407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15k key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867911" y="4304995"/>
            <a:ext cx="646175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WP24a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38912" y="4464100"/>
            <a:ext cx="1389888" cy="4334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Curriculum, legal, pilot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74519" y="4476902"/>
            <a:ext cx="1642871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WP16a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535679" y="4476902"/>
            <a:ext cx="978407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16b templates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861303" y="4476902"/>
            <a:ext cx="978407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17b DPIA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020811" y="4476902"/>
            <a:ext cx="1975103" cy="118872"/>
          </a:xfrm>
          <a:prstGeom prst="rect">
            <a:avLst/>
          </a:prstGeom>
          <a:solidFill>
            <a:srgbClr val="FDE6CF"/>
          </a:solidFill>
          <a:ln w="15875">
            <a:solidFill>
              <a:srgbClr val="D96A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1">
                <a:solidFill>
                  <a:srgbClr val="8A3F00"/>
                </a:solidFill>
                <a:latin typeface="Calibri"/>
              </a:rPr>
              <a:t>WP19 pilot and editor study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874519" y="4621377"/>
            <a:ext cx="978407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WP17a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538983" y="4765852"/>
            <a:ext cx="978407" cy="118872"/>
          </a:xfrm>
          <a:prstGeom prst="rect">
            <a:avLst/>
          </a:prstGeom>
          <a:solidFill>
            <a:srgbClr val="DDF0EA"/>
          </a:solidFill>
          <a:ln w="9525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64C40"/>
                </a:solidFill>
                <a:latin typeface="Calibri"/>
              </a:rPr>
              <a:t>19a website, guide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38912" y="4924958"/>
            <a:ext cx="1389888" cy="288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AR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20811" y="4937759"/>
            <a:ext cx="1975103" cy="118872"/>
          </a:xfrm>
          <a:prstGeom prst="rect">
            <a:avLst/>
          </a:prstGeom>
          <a:solidFill>
            <a:srgbClr val="DCE8F5"/>
          </a:solidFill>
          <a:ln w="9525">
            <a:solidFill>
              <a:srgbClr val="2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F3F66"/>
                </a:solidFill>
                <a:latin typeface="Calibri"/>
              </a:rPr>
              <a:t>WP21 AR design mode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014203" y="4937759"/>
            <a:ext cx="978407" cy="118872"/>
          </a:xfrm>
          <a:prstGeom prst="rect">
            <a:avLst/>
          </a:prstGeom>
          <a:solidFill>
            <a:srgbClr val="DCE8F5"/>
          </a:solidFill>
          <a:ln w="9525">
            <a:solidFill>
              <a:srgbClr val="2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F3F66"/>
                </a:solidFill>
                <a:latin typeface="Calibri"/>
              </a:rPr>
              <a:t>22b AR player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010899" y="4937759"/>
            <a:ext cx="646175" cy="118872"/>
          </a:xfrm>
          <a:prstGeom prst="rect">
            <a:avLst/>
          </a:prstGeom>
          <a:solidFill>
            <a:srgbClr val="DCE8F5"/>
          </a:solidFill>
          <a:ln w="9525">
            <a:solidFill>
              <a:srgbClr val="2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F3F66"/>
                </a:solidFill>
                <a:latin typeface="Calibri"/>
              </a:rPr>
              <a:t>22c MR film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20811" y="5082235"/>
            <a:ext cx="1310639" cy="118872"/>
          </a:xfrm>
          <a:prstGeom prst="rect">
            <a:avLst/>
          </a:prstGeom>
          <a:solidFill>
            <a:srgbClr val="DCE8F5"/>
          </a:solidFill>
          <a:ln w="9525">
            <a:solidFill>
              <a:srgbClr val="2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F3F66"/>
                </a:solidFill>
                <a:latin typeface="Calibri"/>
              </a:rPr>
              <a:t>22a AR baker, pack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38912" y="5241340"/>
            <a:ext cx="1389888" cy="288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Projection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698491" y="5254142"/>
            <a:ext cx="646175" cy="118872"/>
          </a:xfrm>
          <a:prstGeom prst="rect">
            <a:avLst/>
          </a:prstGeom>
          <a:solidFill>
            <a:srgbClr val="DCE8F5"/>
          </a:solidFill>
          <a:ln w="9525">
            <a:solidFill>
              <a:srgbClr val="2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F3F66"/>
                </a:solidFill>
                <a:latin typeface="Calibri"/>
              </a:rPr>
              <a:t>23a spike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20811" y="5254142"/>
            <a:ext cx="978407" cy="118872"/>
          </a:xfrm>
          <a:prstGeom prst="rect">
            <a:avLst/>
          </a:prstGeom>
          <a:solidFill>
            <a:srgbClr val="DCE8F5"/>
          </a:solidFill>
          <a:ln w="9525">
            <a:solidFill>
              <a:srgbClr val="2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F3F66"/>
                </a:solidFill>
                <a:latin typeface="Calibri"/>
              </a:rPr>
              <a:t>23b Projection stage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017507" y="5254142"/>
            <a:ext cx="480059" cy="118872"/>
          </a:xfrm>
          <a:prstGeom prst="rect">
            <a:avLst/>
          </a:prstGeom>
          <a:solidFill>
            <a:srgbClr val="DCE8F5"/>
          </a:solidFill>
          <a:ln w="9525">
            <a:solidFill>
              <a:srgbClr val="2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F3F66"/>
                </a:solidFill>
                <a:latin typeface="Calibri"/>
              </a:rPr>
              <a:t>23c class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017507" y="5398617"/>
            <a:ext cx="978407" cy="118872"/>
          </a:xfrm>
          <a:prstGeom prst="rect">
            <a:avLst/>
          </a:prstGeom>
          <a:solidFill>
            <a:srgbClr val="DCE8F5"/>
          </a:solidFill>
          <a:ln w="9525">
            <a:solidFill>
              <a:srgbClr val="2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F3F66"/>
                </a:solidFill>
                <a:latin typeface="Calibri"/>
              </a:rPr>
              <a:t>23d Export to Pixera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38912" y="5557723"/>
            <a:ext cx="1389888" cy="1444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>
                <a:solidFill>
                  <a:srgbClr val="5F5F5F"/>
                </a:solidFill>
                <a:latin typeface="Calibri"/>
              </a:rPr>
              <a:t>Pathway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020811" y="5570524"/>
            <a:ext cx="1975103" cy="118872"/>
          </a:xfrm>
          <a:prstGeom prst="rect">
            <a:avLst/>
          </a:prstGeom>
          <a:solidFill>
            <a:srgbClr val="DCE8F5"/>
          </a:solidFill>
          <a:ln w="9525">
            <a:solidFill>
              <a:srgbClr val="2F5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0" bIns="0"/>
          <a:lstStyle/>
          <a:p>
            <a:pPr algn="ctr"/>
            <a:r>
              <a:rPr sz="650" b="0">
                <a:solidFill>
                  <a:srgbClr val="1F3F66"/>
                </a:solidFill>
                <a:latin typeface="Calibri"/>
              </a:rPr>
              <a:t>WP20 pathway: Unreal, Unity, Godot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8020811" y="1371600"/>
            <a:ext cx="0" cy="4403750"/>
          </a:xfrm>
          <a:prstGeom prst="line">
            <a:avLst/>
          </a:prstGeom>
          <a:ln w="19050">
            <a:solidFill>
              <a:srgbClr val="D96A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Diamond 128"/>
          <p:cNvSpPr/>
          <p:nvPr/>
        </p:nvSpPr>
        <p:spPr>
          <a:xfrm>
            <a:off x="7956803" y="5757062"/>
            <a:ext cx="128016" cy="128016"/>
          </a:xfrm>
          <a:prstGeom prst="diamond">
            <a:avLst/>
          </a:prstGeom>
          <a:solidFill>
            <a:srgbClr val="D9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106411" y="590336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96A0B"/>
                </a:solidFill>
                <a:latin typeface="Calibri"/>
              </a:rPr>
              <a:t>Release candidate · 26 Feb 2027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10014203" y="1371600"/>
            <a:ext cx="0" cy="4403750"/>
          </a:xfrm>
          <a:prstGeom prst="line">
            <a:avLst/>
          </a:prstGeom>
          <a:ln w="19050">
            <a:solidFill>
              <a:srgbClr val="164C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Diamond 131"/>
          <p:cNvSpPr/>
          <p:nvPr/>
        </p:nvSpPr>
        <p:spPr>
          <a:xfrm>
            <a:off x="9950195" y="5757062"/>
            <a:ext cx="128016" cy="128016"/>
          </a:xfrm>
          <a:prstGeom prst="diamond">
            <a:avLst/>
          </a:prstGeom>
          <a:solidFill>
            <a:srgbClr val="164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099803" y="590336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64C40"/>
                </a:solidFill>
                <a:latin typeface="Calibri"/>
              </a:rPr>
              <a:t>Pilot ends · 9 Apr 2027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65760" y="6236208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F5F5F"/>
                </a:solidFill>
                <a:latin typeface="Calibri"/>
              </a:rPr>
              <a:t>Critical path: repo and contracts → spikes → stage core → Story API blocks → Production stage (Blocks) → storyboard links and story coach → gate tests → release candidate → pilot and editor study.</a:t>
            </a:r>
          </a:p>
          <a:p>
            <a:pPr algn="l"/>
            <a:r>
              <a:rPr sz="850" b="0">
                <a:solidFill>
                  <a:srgbClr val="5F5F5F"/>
                </a:solidFill>
                <a:latin typeface="Calibri"/>
              </a:rPr>
              <a:t>Parallel sessions: 8 gives this schedule; 6 moves the release candidate about 4 weeks later; 4 about 13 weeks. AR, projection and the pathway start after the release candidate. Owner reviews, decisions and device runs set the real pace. Source: StoryStage2-workplan.md, section 5a.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