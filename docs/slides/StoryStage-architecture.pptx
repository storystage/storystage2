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StoryStage 2 architecture, agreed 17 Oct 2026. Yellow = retained from Alice; orange = design carried over from StoryStage 1 and rebuilt; teal = new.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Retained from Alice: models (subject to licence), vocabulary, semantics and .a3p import. Everything else is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plan confirmed 17 Oct 2026: an app on every device with the Prompter, plus a browser version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Milestones M0–M10 from the StoryStage 2 workplan, updated 18 Oct 2026. Roadmap in workplan section 6b.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18 Oct 2026: pathway to industry tools, lessons from Unreal and Unity, and AR design mode.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from tools/plan/schedule.py (workplan section 5a), 18 Oct 2026. Durations are planning estimates; re-run as WPs are measured.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18 Oct 2026: AR as an audience experience and a distribution format (WP22), and AR trails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18 Oct 2026: both code editors in the first release, with a switch and a pilot study to choose.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18 Oct 2026: projection mapping pathway and Export to Pixera (WP23). Pixera facts from its online documentation, October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ctr" lIns="36576" rIns="36576" tIns="18288" bIns="18288">
            <a:spAutoFit/>
          </a:bodyPr>
          <a:lstStyle/>
          <a:p>
            <a:pPr algn="l"/>
            <a:r>
              <a:rPr sz="2400" b="1">
                <a:solidFill>
                  <a:srgbClr val="222222"/>
                </a:solidFill>
                <a:latin typeface="Calibri"/>
              </a:rPr>
              <a:t>Alice 3.9.1: system architecture (before)</a:t>
            </a:r>
          </a:p>
        </p:txBody>
      </p:sp>
      <p:sp>
        <p:nvSpPr>
          <p:cNvPr id="3" name="TextBox 2"/>
          <p:cNvSpPr txBox="1"/>
          <p:nvPr/>
        </p:nvSpPr>
        <p:spPr>
          <a:xfrm>
            <a:off x="274320" y="621792"/>
            <a:ext cx="8778240" cy="292608"/>
          </a:xfrm>
          <a:prstGeom prst="rect">
            <a:avLst/>
          </a:prstGeom>
          <a:noFill/>
        </p:spPr>
        <p:txBody>
          <a:bodyPr wrap="square" anchor="ctr" lIns="36576" rIns="36576" tIns="18288" bIns="18288">
            <a:spAutoFit/>
          </a:bodyPr>
          <a:lstStyle/>
          <a:p>
            <a:pPr algn="l"/>
            <a:r>
              <a:rPr sz="1100" b="0">
                <a:solidFill>
                  <a:srgbClr val="5F5F5F"/>
                </a:solidFill>
                <a:latin typeface="Calibri"/>
              </a:rPr>
              <a:t>Maven modules at tag 3.9.1.0, layered by dependency: each layer uses the layers below it.</a:t>
            </a:r>
          </a:p>
        </p:txBody>
      </p:sp>
      <p:sp>
        <p:nvSpPr>
          <p:cNvPr id="4" name="Rounded Rectangle 3"/>
          <p:cNvSpPr/>
          <p:nvPr/>
        </p:nvSpPr>
        <p:spPr>
          <a:xfrm>
            <a:off x="8732520" y="182880"/>
            <a:ext cx="292608" cy="1828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
            </a:r>
          </a:p>
        </p:txBody>
      </p:sp>
      <p:sp>
        <p:nvSpPr>
          <p:cNvPr id="5" name="TextBox 4"/>
          <p:cNvSpPr txBox="1"/>
          <p:nvPr/>
        </p:nvSpPr>
        <p:spPr>
          <a:xfrm>
            <a:off x="9098280" y="146304"/>
            <a:ext cx="2834640" cy="256032"/>
          </a:xfrm>
          <a:prstGeom prst="rect">
            <a:avLst/>
          </a:prstGeom>
          <a:noFill/>
        </p:spPr>
        <p:txBody>
          <a:bodyPr wrap="square" anchor="ctr" lIns="36576" rIns="36576" tIns="18288" bIns="18288">
            <a:spAutoFit/>
          </a:bodyPr>
          <a:lstStyle/>
          <a:p>
            <a:pPr algn="l"/>
            <a:r>
              <a:rPr sz="900" b="0">
                <a:solidFill>
                  <a:srgbClr val="222222"/>
                </a:solidFill>
                <a:latin typeface="Calibri"/>
              </a:rPr>
              <a:t>Alice 3 module (Carnegie Mellon University)</a:t>
            </a:r>
          </a:p>
        </p:txBody>
      </p:sp>
      <p:sp>
        <p:nvSpPr>
          <p:cNvPr id="6" name="Rounded Rectangle 5"/>
          <p:cNvSpPr/>
          <p:nvPr/>
        </p:nvSpPr>
        <p:spPr>
          <a:xfrm>
            <a:off x="8732520" y="429768"/>
            <a:ext cx="292608" cy="182880"/>
          </a:xfrm>
          <a:prstGeom prst="roundRect">
            <a:avLst>
              <a:gd name="adj" fmla="val 8000"/>
            </a:avLst>
          </a:prstGeom>
          <a:solidFill>
            <a:srgbClr val="F2F2F2"/>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5F5F5F"/>
                </a:solidFill>
                <a:latin typeface="Calibri"/>
              </a:rPr>
              <a:t/>
            </a:r>
          </a:p>
        </p:txBody>
      </p:sp>
      <p:sp>
        <p:nvSpPr>
          <p:cNvPr id="7" name="TextBox 6"/>
          <p:cNvSpPr txBox="1"/>
          <p:nvPr/>
        </p:nvSpPr>
        <p:spPr>
          <a:xfrm>
            <a:off x="9098280" y="393192"/>
            <a:ext cx="2834640" cy="256032"/>
          </a:xfrm>
          <a:prstGeom prst="rect">
            <a:avLst/>
          </a:prstGeom>
          <a:noFill/>
        </p:spPr>
        <p:txBody>
          <a:bodyPr wrap="square" anchor="ctr" lIns="36576" rIns="36576" tIns="18288" bIns="18288">
            <a:spAutoFit/>
          </a:bodyPr>
          <a:lstStyle/>
          <a:p>
            <a:pPr algn="l"/>
            <a:r>
              <a:rPr sz="900" b="0">
                <a:solidFill>
                  <a:srgbClr val="222222"/>
                </a:solidFill>
                <a:latin typeface="Calibri"/>
              </a:rPr>
              <a:t>Platform and third-party</a:t>
            </a:r>
          </a:p>
        </p:txBody>
      </p:sp>
      <p:sp>
        <p:nvSpPr>
          <p:cNvPr id="8" name="Rectangle 7"/>
          <p:cNvSpPr/>
          <p:nvPr/>
        </p:nvSpPr>
        <p:spPr>
          <a:xfrm>
            <a:off x="274320" y="1051560"/>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078992"/>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Launch and
packaging</a:t>
            </a:r>
          </a:p>
        </p:txBody>
      </p:sp>
      <p:sp>
        <p:nvSpPr>
          <p:cNvPr id="10" name="Rectangle 9"/>
          <p:cNvSpPr/>
          <p:nvPr/>
        </p:nvSpPr>
        <p:spPr>
          <a:xfrm>
            <a:off x="274320" y="1709928"/>
            <a:ext cx="11640312" cy="841247"/>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737360"/>
            <a:ext cx="1143000" cy="786384"/>
          </a:xfrm>
          <a:prstGeom prst="rect">
            <a:avLst/>
          </a:prstGeom>
          <a:noFill/>
        </p:spPr>
        <p:txBody>
          <a:bodyPr wrap="square" anchor="ctr" lIns="36576" rIns="36576" tIns="18288" bIns="18288">
            <a:spAutoFit/>
          </a:bodyPr>
          <a:lstStyle/>
          <a:p>
            <a:pPr algn="l"/>
            <a:r>
              <a:rPr sz="950" b="1">
                <a:solidFill>
                  <a:srgbClr val="5F5F5F"/>
                </a:solidFill>
                <a:latin typeface="Calibri"/>
              </a:rPr>
              <a:t>IDE
application</a:t>
            </a:r>
          </a:p>
        </p:txBody>
      </p:sp>
      <p:sp>
        <p:nvSpPr>
          <p:cNvPr id="12" name="Rectangle 11"/>
          <p:cNvSpPr/>
          <p:nvPr/>
        </p:nvSpPr>
        <p:spPr>
          <a:xfrm>
            <a:off x="274320" y="2587752"/>
            <a:ext cx="11640312" cy="53035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615184"/>
            <a:ext cx="1143000" cy="475488"/>
          </a:xfrm>
          <a:prstGeom prst="rect">
            <a:avLst/>
          </a:prstGeom>
          <a:noFill/>
        </p:spPr>
        <p:txBody>
          <a:bodyPr wrap="square" anchor="ctr" lIns="36576" rIns="36576" tIns="18288" bIns="18288">
            <a:spAutoFit/>
          </a:bodyPr>
          <a:lstStyle/>
          <a:p>
            <a:pPr algn="l"/>
            <a:r>
              <a:rPr sz="950" b="1">
                <a:solidFill>
                  <a:srgbClr val="5F5F5F"/>
                </a:solidFill>
                <a:latin typeface="Calibri"/>
              </a:rPr>
              <a:t>UI framework</a:t>
            </a:r>
          </a:p>
        </p:txBody>
      </p:sp>
      <p:sp>
        <p:nvSpPr>
          <p:cNvPr id="14" name="Rectangle 13"/>
          <p:cNvSpPr/>
          <p:nvPr/>
        </p:nvSpPr>
        <p:spPr>
          <a:xfrm>
            <a:off x="274320" y="3154680"/>
            <a:ext cx="11640312" cy="69494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3182112"/>
            <a:ext cx="1143000" cy="640080"/>
          </a:xfrm>
          <a:prstGeom prst="rect">
            <a:avLst/>
          </a:prstGeom>
          <a:noFill/>
        </p:spPr>
        <p:txBody>
          <a:bodyPr wrap="square" anchor="ctr" lIns="36576" rIns="36576" tIns="18288" bIns="18288">
            <a:spAutoFit/>
          </a:bodyPr>
          <a:lstStyle/>
          <a:p>
            <a:pPr algn="l"/>
            <a:r>
              <a:rPr sz="950" b="1">
                <a:solidFill>
                  <a:srgbClr val="5F5F5F"/>
                </a:solidFill>
                <a:latin typeface="Calibri"/>
              </a:rPr>
              <a:t>Language and
projects</a:t>
            </a:r>
          </a:p>
        </p:txBody>
      </p:sp>
      <p:sp>
        <p:nvSpPr>
          <p:cNvPr id="16" name="Rectangle 15"/>
          <p:cNvSpPr/>
          <p:nvPr/>
        </p:nvSpPr>
        <p:spPr>
          <a:xfrm>
            <a:off x="274320" y="3886200"/>
            <a:ext cx="11640312" cy="7863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3913632"/>
            <a:ext cx="1143000" cy="731520"/>
          </a:xfrm>
          <a:prstGeom prst="rect">
            <a:avLst/>
          </a:prstGeom>
          <a:noFill/>
        </p:spPr>
        <p:txBody>
          <a:bodyPr wrap="square" anchor="ctr" lIns="36576" rIns="36576" tIns="18288" bIns="18288">
            <a:spAutoFit/>
          </a:bodyPr>
          <a:lstStyle/>
          <a:p>
            <a:pPr algn="l"/>
            <a:r>
              <a:rPr sz="950" b="1">
                <a:solidFill>
                  <a:srgbClr val="5F5F5F"/>
                </a:solidFill>
                <a:latin typeface="Calibri"/>
              </a:rPr>
              <a:t>Story API
and 3D</a:t>
            </a:r>
          </a:p>
        </p:txBody>
      </p:sp>
      <p:sp>
        <p:nvSpPr>
          <p:cNvPr id="18" name="Rectangle 17"/>
          <p:cNvSpPr/>
          <p:nvPr/>
        </p:nvSpPr>
        <p:spPr>
          <a:xfrm>
            <a:off x="274320" y="4709159"/>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4736592"/>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Foundation</a:t>
            </a:r>
          </a:p>
        </p:txBody>
      </p:sp>
      <p:sp>
        <p:nvSpPr>
          <p:cNvPr id="20" name="Rectangle 19"/>
          <p:cNvSpPr/>
          <p:nvPr/>
        </p:nvSpPr>
        <p:spPr>
          <a:xfrm>
            <a:off x="274320" y="5367528"/>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5394960"/>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Optional
non-free</a:t>
            </a:r>
          </a:p>
        </p:txBody>
      </p:sp>
      <p:sp>
        <p:nvSpPr>
          <p:cNvPr id="22" name="Rounded Rectangle 21"/>
          <p:cNvSpPr/>
          <p:nvPr/>
        </p:nvSpPr>
        <p:spPr>
          <a:xfrm>
            <a:off x="1463040" y="1078992"/>
            <a:ext cx="265176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alice-ide</a:t>
            </a:r>
          </a:p>
          <a:p>
            <a:pPr algn="ctr"/>
            <a:r>
              <a:rPr sz="850" b="0">
                <a:solidFill>
                  <a:srgbClr val="222222"/>
                </a:solidFill>
                <a:latin typeface="Calibri"/>
              </a:rPr>
              <a:t>EntryPoint · JavaFX launch · main jar</a:t>
            </a:r>
          </a:p>
        </p:txBody>
      </p:sp>
      <p:sp>
        <p:nvSpPr>
          <p:cNvPr id="23" name="Rounded Rectangle 22"/>
          <p:cNvSpPr/>
          <p:nvPr/>
        </p:nvSpPr>
        <p:spPr>
          <a:xfrm>
            <a:off x="4206240" y="1078992"/>
            <a:ext cx="219456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installer</a:t>
            </a:r>
          </a:p>
          <a:p>
            <a:pPr algn="ctr"/>
            <a:r>
              <a:rPr sz="850" b="0">
                <a:solidFill>
                  <a:srgbClr val="222222"/>
                </a:solidFill>
                <a:latin typeface="Calibri"/>
              </a:rPr>
              <a:t>install4j Windows / macOS / Linux installers</a:t>
            </a:r>
          </a:p>
        </p:txBody>
      </p:sp>
      <p:sp>
        <p:nvSpPr>
          <p:cNvPr id="24" name="Rounded Rectangle 23"/>
          <p:cNvSpPr/>
          <p:nvPr/>
        </p:nvSpPr>
        <p:spPr>
          <a:xfrm>
            <a:off x="6492240" y="1078992"/>
            <a:ext cx="224028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netbeans</a:t>
            </a:r>
          </a:p>
          <a:p>
            <a:pPr algn="ctr"/>
            <a:r>
              <a:rPr sz="850" b="0">
                <a:solidFill>
                  <a:srgbClr val="222222"/>
                </a:solidFill>
                <a:latin typeface="Calibri"/>
              </a:rPr>
              <a:t>NetBeans plug-in (export to Java)</a:t>
            </a:r>
          </a:p>
        </p:txBody>
      </p:sp>
      <p:sp>
        <p:nvSpPr>
          <p:cNvPr id="25" name="Rounded Rectangle 24"/>
          <p:cNvSpPr/>
          <p:nvPr/>
        </p:nvSpPr>
        <p:spPr>
          <a:xfrm>
            <a:off x="4800600" y="1737360"/>
            <a:ext cx="393192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ide  (core/ide)</a:t>
            </a:r>
          </a:p>
          <a:p>
            <a:pPr algn="ctr"/>
            <a:r>
              <a:rPr sz="850" b="0">
                <a:solidFill>
                  <a:srgbClr val="222222"/>
                </a:solidFill>
                <a:latin typeface="Calibri"/>
              </a:rPr>
              <a:t>StageIDE · code editor · scene editor · gallery browser · Project History (undo)</a:t>
            </a:r>
          </a:p>
          <a:p>
            <a:pPr algn="ctr"/>
            <a:r>
              <a:rPr sz="750" b="0">
                <a:solidFill>
                  <a:srgbClr val="5F5F5F"/>
                </a:solidFill>
                <a:latin typeface="Calibri"/>
              </a:rPr>
              <a:t>165k lines</a:t>
            </a:r>
          </a:p>
        </p:txBody>
      </p:sp>
      <p:sp>
        <p:nvSpPr>
          <p:cNvPr id="26" name="Rounded Rectangle 25"/>
          <p:cNvSpPr/>
          <p:nvPr/>
        </p:nvSpPr>
        <p:spPr>
          <a:xfrm>
            <a:off x="1463040" y="1737360"/>
            <a:ext cx="105156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image-editor</a:t>
            </a:r>
          </a:p>
          <a:p>
            <a:pPr algn="ctr"/>
            <a:r>
              <a:rPr sz="750" b="0">
                <a:solidFill>
                  <a:srgbClr val="5F5F5F"/>
                </a:solidFill>
                <a:latin typeface="Calibri"/>
              </a:rPr>
              <a:t>2.1k lines</a:t>
            </a:r>
          </a:p>
        </p:txBody>
      </p:sp>
      <p:sp>
        <p:nvSpPr>
          <p:cNvPr id="27" name="Rounded Rectangle 26"/>
          <p:cNvSpPr/>
          <p:nvPr/>
        </p:nvSpPr>
        <p:spPr>
          <a:xfrm>
            <a:off x="2606040" y="1737360"/>
            <a:ext cx="114300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issue-reporting</a:t>
            </a:r>
          </a:p>
          <a:p>
            <a:pPr algn="ctr"/>
            <a:r>
              <a:rPr sz="750" b="0">
                <a:solidFill>
                  <a:srgbClr val="5F5F5F"/>
                </a:solidFill>
                <a:latin typeface="Calibri"/>
              </a:rPr>
              <a:t>1.0k lines</a:t>
            </a:r>
          </a:p>
        </p:txBody>
      </p:sp>
      <p:sp>
        <p:nvSpPr>
          <p:cNvPr id="28" name="Rounded Rectangle 27"/>
          <p:cNvSpPr/>
          <p:nvPr/>
        </p:nvSpPr>
        <p:spPr>
          <a:xfrm>
            <a:off x="3840480" y="1737360"/>
            <a:ext cx="86868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i18n</a:t>
            </a:r>
          </a:p>
          <a:p>
            <a:pPr algn="ctr"/>
            <a:r>
              <a:rPr sz="850" b="0">
                <a:solidFill>
                  <a:srgbClr val="222222"/>
                </a:solidFill>
                <a:latin typeface="Calibri"/>
              </a:rPr>
              <a:t>translations</a:t>
            </a:r>
          </a:p>
        </p:txBody>
      </p:sp>
      <p:sp>
        <p:nvSpPr>
          <p:cNvPr id="29" name="Rounded Rectangle 28"/>
          <p:cNvSpPr/>
          <p:nvPr/>
        </p:nvSpPr>
        <p:spPr>
          <a:xfrm>
            <a:off x="1463040" y="2615184"/>
            <a:ext cx="7269480" cy="47548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croquet</a:t>
            </a:r>
          </a:p>
          <a:p>
            <a:pPr algn="ctr"/>
            <a:r>
              <a:rPr sz="850" b="0">
                <a:solidFill>
                  <a:srgbClr val="222222"/>
                </a:solidFill>
                <a:latin typeface="Calibri"/>
              </a:rPr>
              <a:t>Alice's UI framework over Swing + FlatLaf: models, operations, states, undoable edits · 46k lines</a:t>
            </a:r>
          </a:p>
        </p:txBody>
      </p:sp>
      <p:sp>
        <p:nvSpPr>
          <p:cNvPr id="30" name="Rounded Rectangle 29"/>
          <p:cNvSpPr/>
          <p:nvPr/>
        </p:nvSpPr>
        <p:spPr>
          <a:xfrm>
            <a:off x="1463040" y="3182112"/>
            <a:ext cx="274320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ast</a:t>
            </a:r>
          </a:p>
          <a:p>
            <a:pPr algn="ctr"/>
            <a:r>
              <a:rPr sz="850" b="0">
                <a:solidFill>
                  <a:srgbClr val="222222"/>
                </a:solidFill>
                <a:latin typeface="Calibri"/>
              </a:rPr>
              <a:t>Program AST · VirtualMachine (runs worlds)</a:t>
            </a:r>
          </a:p>
          <a:p>
            <a:pPr algn="ctr"/>
            <a:r>
              <a:rPr sz="750" b="0">
                <a:solidFill>
                  <a:srgbClr val="5F5F5F"/>
                </a:solidFill>
                <a:latin typeface="Calibri"/>
              </a:rPr>
              <a:t>25k lines</a:t>
            </a:r>
          </a:p>
        </p:txBody>
      </p:sp>
      <p:sp>
        <p:nvSpPr>
          <p:cNvPr id="31" name="Rounded Rectangle 30"/>
          <p:cNvSpPr/>
          <p:nvPr/>
        </p:nvSpPr>
        <p:spPr>
          <a:xfrm>
            <a:off x="4297680" y="3182112"/>
            <a:ext cx="210312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tweedle</a:t>
            </a:r>
          </a:p>
          <a:p>
            <a:pPr algn="ctr"/>
            <a:r>
              <a:rPr sz="850" b="0">
                <a:solidFill>
                  <a:srgbClr val="222222"/>
                </a:solidFill>
                <a:latin typeface="Calibri"/>
              </a:rPr>
              <a:t>Tweedle language: parser and types</a:t>
            </a:r>
          </a:p>
          <a:p>
            <a:pPr algn="ctr"/>
            <a:r>
              <a:rPr sz="750" b="0">
                <a:solidFill>
                  <a:srgbClr val="5F5F5F"/>
                </a:solidFill>
                <a:latin typeface="Calibri"/>
              </a:rPr>
              <a:t>5.7k lines</a:t>
            </a:r>
          </a:p>
        </p:txBody>
      </p:sp>
      <p:sp>
        <p:nvSpPr>
          <p:cNvPr id="32" name="Rounded Rectangle 31"/>
          <p:cNvSpPr/>
          <p:nvPr/>
        </p:nvSpPr>
        <p:spPr>
          <a:xfrm>
            <a:off x="6492240" y="3182112"/>
            <a:ext cx="224028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story-api-migration</a:t>
            </a:r>
          </a:p>
          <a:p>
            <a:pPr algn="ctr"/>
            <a:r>
              <a:rPr sz="850" b="0">
                <a:solidFill>
                  <a:srgbClr val="222222"/>
                </a:solidFill>
                <a:latin typeface="Calibri"/>
              </a:rPr>
              <a:t>project versions · .a3p read / write</a:t>
            </a:r>
          </a:p>
          <a:p>
            <a:pPr algn="ctr"/>
            <a:r>
              <a:rPr sz="750" b="0">
                <a:solidFill>
                  <a:srgbClr val="5F5F5F"/>
                </a:solidFill>
                <a:latin typeface="Calibri"/>
              </a:rPr>
              <a:t>9.8k lines</a:t>
            </a:r>
          </a:p>
        </p:txBody>
      </p:sp>
      <p:sp>
        <p:nvSpPr>
          <p:cNvPr id="33" name="Rounded Rectangle 32"/>
          <p:cNvSpPr/>
          <p:nvPr/>
        </p:nvSpPr>
        <p:spPr>
          <a:xfrm>
            <a:off x="1463040" y="3913632"/>
            <a:ext cx="20574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story-api</a:t>
            </a:r>
          </a:p>
          <a:p>
            <a:pPr algn="ctr"/>
            <a:r>
              <a:rPr sz="850" b="0">
                <a:solidFill>
                  <a:srgbClr val="222222"/>
                </a:solidFill>
                <a:latin typeface="Calibri"/>
              </a:rPr>
              <a:t>SScene · SModel · SCamera · events</a:t>
            </a:r>
          </a:p>
          <a:p>
            <a:pPr algn="ctr"/>
            <a:r>
              <a:rPr sz="750" b="0">
                <a:solidFill>
                  <a:srgbClr val="5F5F5F"/>
                </a:solidFill>
                <a:latin typeface="Calibri"/>
              </a:rPr>
              <a:t>60k lines</a:t>
            </a:r>
          </a:p>
        </p:txBody>
      </p:sp>
      <p:sp>
        <p:nvSpPr>
          <p:cNvPr id="34" name="Rounded Rectangle 33"/>
          <p:cNvSpPr/>
          <p:nvPr/>
        </p:nvSpPr>
        <p:spPr>
          <a:xfrm>
            <a:off x="3611880" y="3913632"/>
            <a:ext cx="16002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models</a:t>
            </a:r>
          </a:p>
          <a:p>
            <a:pPr algn="ctr"/>
            <a:r>
              <a:rPr sz="850" b="0">
                <a:solidFill>
                  <a:srgbClr val="222222"/>
                </a:solidFill>
                <a:latin typeface="Calibri"/>
              </a:rPr>
              <a:t>gallery model classes</a:t>
            </a:r>
          </a:p>
          <a:p>
            <a:pPr algn="ctr"/>
            <a:r>
              <a:rPr sz="750" b="0">
                <a:solidFill>
                  <a:srgbClr val="5F5F5F"/>
                </a:solidFill>
                <a:latin typeface="Calibri"/>
              </a:rPr>
              <a:t>24k lines</a:t>
            </a:r>
          </a:p>
        </p:txBody>
      </p:sp>
      <p:sp>
        <p:nvSpPr>
          <p:cNvPr id="35" name="Rounded Rectangle 34"/>
          <p:cNvSpPr/>
          <p:nvPr/>
        </p:nvSpPr>
        <p:spPr>
          <a:xfrm>
            <a:off x="5303520" y="3913632"/>
            <a:ext cx="11430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model-loading</a:t>
            </a:r>
          </a:p>
          <a:p>
            <a:pPr algn="ctr"/>
            <a:r>
              <a:rPr sz="850" b="0">
                <a:solidFill>
                  <a:srgbClr val="222222"/>
                </a:solidFill>
                <a:latin typeface="Calibri"/>
              </a:rPr>
              <a:t>COLLADA import</a:t>
            </a:r>
          </a:p>
          <a:p>
            <a:pPr algn="ctr"/>
            <a:r>
              <a:rPr sz="750" b="0">
                <a:solidFill>
                  <a:srgbClr val="5F5F5F"/>
                </a:solidFill>
                <a:latin typeface="Calibri"/>
              </a:rPr>
              <a:t>7.0k lines</a:t>
            </a:r>
          </a:p>
        </p:txBody>
      </p:sp>
      <p:sp>
        <p:nvSpPr>
          <p:cNvPr id="36" name="Rounded Rectangle 35"/>
          <p:cNvSpPr/>
          <p:nvPr/>
        </p:nvSpPr>
        <p:spPr>
          <a:xfrm>
            <a:off x="6537960" y="3913632"/>
            <a:ext cx="105156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scenegraph</a:t>
            </a:r>
          </a:p>
          <a:p>
            <a:pPr algn="ctr"/>
            <a:r>
              <a:rPr sz="750" b="0">
                <a:solidFill>
                  <a:srgbClr val="5F5F5F"/>
                </a:solidFill>
                <a:latin typeface="Calibri"/>
              </a:rPr>
              <a:t>16k lines</a:t>
            </a:r>
          </a:p>
        </p:txBody>
      </p:sp>
      <p:sp>
        <p:nvSpPr>
          <p:cNvPr id="37" name="Rounded Rectangle 36"/>
          <p:cNvSpPr/>
          <p:nvPr/>
        </p:nvSpPr>
        <p:spPr>
          <a:xfrm>
            <a:off x="7680960" y="3913632"/>
            <a:ext cx="105156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glrender</a:t>
            </a:r>
          </a:p>
          <a:p>
            <a:pPr algn="ctr"/>
            <a:r>
              <a:rPr sz="850" b="0">
                <a:solidFill>
                  <a:srgbClr val="222222"/>
                </a:solidFill>
                <a:latin typeface="Calibri"/>
              </a:rPr>
              <a:t>JOGL / OpenGL</a:t>
            </a:r>
          </a:p>
          <a:p>
            <a:pPr algn="ctr"/>
            <a:r>
              <a:rPr sz="750" b="0">
                <a:solidFill>
                  <a:srgbClr val="5F5F5F"/>
                </a:solidFill>
                <a:latin typeface="Calibri"/>
              </a:rPr>
              <a:t>19k lines</a:t>
            </a:r>
          </a:p>
        </p:txBody>
      </p:sp>
      <p:sp>
        <p:nvSpPr>
          <p:cNvPr id="38" name="Rounded Rectangle 37"/>
          <p:cNvSpPr/>
          <p:nvPr/>
        </p:nvSpPr>
        <p:spPr>
          <a:xfrm>
            <a:off x="1463040" y="4736592"/>
            <a:ext cx="237744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util</a:t>
            </a:r>
          </a:p>
          <a:p>
            <a:pPr algn="ctr"/>
            <a:r>
              <a:rPr sz="850" b="0">
                <a:solidFill>
                  <a:srgbClr val="222222"/>
                </a:solidFill>
                <a:latin typeface="Calibri"/>
              </a:rPr>
              <a:t>collections, maths, logging, I/O</a:t>
            </a:r>
          </a:p>
          <a:p>
            <a:pPr algn="ctr"/>
            <a:r>
              <a:rPr sz="750" b="0">
                <a:solidFill>
                  <a:srgbClr val="5F5F5F"/>
                </a:solidFill>
                <a:latin typeface="Calibri"/>
              </a:rPr>
              <a:t>41k lines</a:t>
            </a:r>
          </a:p>
        </p:txBody>
      </p:sp>
      <p:sp>
        <p:nvSpPr>
          <p:cNvPr id="39" name="Rounded Rectangle 38"/>
          <p:cNvSpPr/>
          <p:nvPr/>
        </p:nvSpPr>
        <p:spPr>
          <a:xfrm>
            <a:off x="3931920" y="4736592"/>
            <a:ext cx="237744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resources</a:t>
            </a:r>
          </a:p>
          <a:p>
            <a:pPr algn="ctr"/>
            <a:r>
              <a:rPr sz="850" b="0">
                <a:solidFill>
                  <a:srgbClr val="222222"/>
                </a:solidFill>
                <a:latin typeface="Calibri"/>
              </a:rPr>
              <a:t>distribution: gallery, natives, EULAs</a:t>
            </a:r>
          </a:p>
        </p:txBody>
      </p:sp>
      <p:sp>
        <p:nvSpPr>
          <p:cNvPr id="40" name="Rounded Rectangle 39"/>
          <p:cNvSpPr/>
          <p:nvPr/>
        </p:nvSpPr>
        <p:spPr>
          <a:xfrm>
            <a:off x="6400800" y="4736592"/>
            <a:ext cx="233172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external</a:t>
            </a:r>
          </a:p>
          <a:p>
            <a:pPr algn="ctr"/>
            <a:r>
              <a:rPr sz="850" b="0">
                <a:solidFill>
                  <a:srgbClr val="222222"/>
                </a:solidFill>
                <a:latin typeface="Calibri"/>
              </a:rPr>
              <a:t>COLLADA schema · wrapped-flow-layout</a:t>
            </a:r>
          </a:p>
          <a:p>
            <a:pPr algn="ctr"/>
            <a:r>
              <a:rPr sz="750" b="0">
                <a:solidFill>
                  <a:srgbClr val="5F5F5F"/>
                </a:solidFill>
                <a:latin typeface="Calibri"/>
              </a:rPr>
              <a:t>5.9k lines</a:t>
            </a:r>
          </a:p>
        </p:txBody>
      </p:sp>
      <p:sp>
        <p:nvSpPr>
          <p:cNvPr id="41" name="Rounded Rectangle 40"/>
          <p:cNvSpPr/>
          <p:nvPr/>
        </p:nvSpPr>
        <p:spPr>
          <a:xfrm>
            <a:off x="1463040" y="5394960"/>
            <a:ext cx="726948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00" b="1">
                <a:solidFill>
                  <a:srgbClr val="1F3F66"/>
                </a:solidFill>
                <a:latin typeface="Calibri"/>
              </a:rPr>
              <a:t>core-nonfree: ide-nonfree · story-api-nonfree · models-nonfree · resources-nonfree</a:t>
            </a:r>
          </a:p>
          <a:p>
            <a:pPr algn="ctr"/>
            <a:r>
              <a:rPr sz="850" b="0">
                <a:solidFill>
                  <a:srgbClr val="222222"/>
                </a:solidFill>
                <a:latin typeface="Calibri"/>
              </a:rPr>
              <a:t>The Sims (TM) 2 art assets and the 'nebulous' native renderer; licensed by EA for non-commercial use · 58k lines</a:t>
            </a:r>
          </a:p>
        </p:txBody>
      </p:sp>
      <p:sp>
        <p:nvSpPr>
          <p:cNvPr id="42" name="Rounded Rectangle 41"/>
          <p:cNvSpPr/>
          <p:nvPr/>
        </p:nvSpPr>
        <p:spPr>
          <a:xfrm>
            <a:off x="8915400" y="1737360"/>
            <a:ext cx="2999232" cy="1463040"/>
          </a:xfrm>
          <a:prstGeom prst="roundRect">
            <a:avLst>
              <a:gd name="adj" fmla="val 8000"/>
            </a:avLst>
          </a:prstGeom>
          <a:solidFill>
            <a:srgbClr val="F2F2F2"/>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50" b="1">
                <a:solidFill>
                  <a:srgbClr val="5F5F5F"/>
                </a:solidFill>
                <a:latin typeface="Calibri"/>
              </a:rPr>
              <a:t>Platform and libraries</a:t>
            </a:r>
          </a:p>
          <a:p>
            <a:pPr algn="ctr"/>
            <a:r>
              <a:rPr sz="850" b="0">
                <a:solidFill>
                  <a:srgbClr val="222222"/>
                </a:solidFill>
                <a:latin typeface="Calibri"/>
              </a:rPr>
              <a:t>Java 21 · JavaFX (media, web) · Swing + FlatLaf · JOGL / OpenGL · Jackson · install4j</a:t>
            </a:r>
          </a:p>
        </p:txBody>
      </p:sp>
      <p:sp>
        <p:nvSpPr>
          <p:cNvPr id="43" name="Rounded Rectangle 42"/>
          <p:cNvSpPr/>
          <p:nvPr/>
        </p:nvSpPr>
        <p:spPr>
          <a:xfrm>
            <a:off x="8915400" y="3337560"/>
            <a:ext cx="2999232" cy="1143000"/>
          </a:xfrm>
          <a:prstGeom prst="roundRect">
            <a:avLst>
              <a:gd name="adj" fmla="val 8000"/>
            </a:avLst>
          </a:prstGeom>
          <a:solidFill>
            <a:srgbClr val="F2F2F2"/>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50" b="1">
                <a:solidFill>
                  <a:srgbClr val="5F5F5F"/>
                </a:solidFill>
                <a:latin typeface="Calibri"/>
              </a:rPr>
              <a:t>Learner's files</a:t>
            </a:r>
          </a:p>
          <a:p>
            <a:pPr algn="ctr"/>
            <a:r>
              <a:rPr sz="850" b="0">
                <a:solidFill>
                  <a:srgbClr val="222222"/>
                </a:solidFill>
                <a:latin typeface="Calibri"/>
              </a:rPr>
              <a:t>Worlds saved as .a3p (zipped XML)
My Gallery models · preferences</a:t>
            </a:r>
          </a:p>
        </p:txBody>
      </p:sp>
      <p:sp>
        <p:nvSpPr>
          <p:cNvPr id="44" name="Rounded Rectangle 43"/>
          <p:cNvSpPr/>
          <p:nvPr/>
        </p:nvSpPr>
        <p:spPr>
          <a:xfrm>
            <a:off x="8915400" y="4617720"/>
            <a:ext cx="2999232" cy="1691640"/>
          </a:xfrm>
          <a:prstGeom prst="roundRect">
            <a:avLst>
              <a:gd name="adj" fmla="val 8000"/>
            </a:avLst>
          </a:prstGeom>
          <a:solidFill>
            <a:srgbClr val="F2F2F2"/>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50" b="1">
                <a:solidFill>
                  <a:srgbClr val="5F5F5F"/>
                </a:solidFill>
                <a:latin typeface="Calibri"/>
              </a:rPr>
              <a:t>No network use by default</a:t>
            </a:r>
          </a:p>
          <a:p>
            <a:pPr algn="ctr"/>
            <a:r>
              <a:rPr sz="850" b="0">
                <a:solidFill>
                  <a:srgbClr val="222222"/>
                </a:solidFill>
                <a:latin typeface="Calibri"/>
              </a:rPr>
              <a:t>Apart from 'Check for a new version' and the bug reporter, which posted to the Alice team's issue tracker</a:t>
            </a:r>
          </a:p>
        </p:txBody>
      </p:sp>
      <p:sp>
        <p:nvSpPr>
          <p:cNvPr id="45" name="TextBox 44"/>
          <p:cNvSpPr txBox="1"/>
          <p:nvPr/>
        </p:nvSpPr>
        <p:spPr>
          <a:xfrm>
            <a:off x="274320" y="6355080"/>
            <a:ext cx="11612880" cy="365760"/>
          </a:xfrm>
          <a:prstGeom prst="rect">
            <a:avLst/>
          </a:prstGeom>
          <a:noFill/>
        </p:spPr>
        <p:txBody>
          <a:bodyPr wrap="square" anchor="ctr" lIns="36576" rIns="36576" tIns="18288" bIns="18288">
            <a:spAutoFit/>
          </a:bodyPr>
          <a:lstStyle/>
          <a:p>
            <a:pPr algn="l"/>
            <a:r>
              <a:rPr sz="850" b="0">
                <a:solidFill>
                  <a:srgbClr val="5F5F5F"/>
                </a:solidFill>
                <a:latin typeface="Calibri"/>
              </a:rPr>
              <a:t>Java: 490,107 lines in all modules (including the Sims 2 non-free modules). Source: github.com/TheAliceProject/alice3, tag 3.9.1.0.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ctr" lIns="36576" rIns="36576" tIns="18288" bIns="18288">
            <a:spAutoFit/>
          </a:bodyPr>
          <a:lstStyle/>
          <a:p>
            <a:pPr algn="l"/>
            <a:r>
              <a:rPr sz="2400" b="1">
                <a:solidFill>
                  <a:srgbClr val="222222"/>
                </a:solidFill>
                <a:latin typeface="Calibri"/>
              </a:rPr>
              <a:t>StoryStage: system architecture (after)</a:t>
            </a:r>
          </a:p>
        </p:txBody>
      </p:sp>
      <p:sp>
        <p:nvSpPr>
          <p:cNvPr id="3" name="TextBox 2"/>
          <p:cNvSpPr txBox="1"/>
          <p:nvPr/>
        </p:nvSpPr>
        <p:spPr>
          <a:xfrm>
            <a:off x="274320" y="621792"/>
            <a:ext cx="8778240" cy="292608"/>
          </a:xfrm>
          <a:prstGeom prst="rect">
            <a:avLst/>
          </a:prstGeom>
          <a:noFill/>
        </p:spPr>
        <p:txBody>
          <a:bodyPr wrap="square" anchor="ctr" lIns="36576" rIns="36576" tIns="18288" bIns="18288">
            <a:spAutoFit/>
          </a:bodyPr>
          <a:lstStyle/>
          <a:p>
            <a:pPr algn="l"/>
            <a:r>
              <a:rPr sz="1100" b="0">
                <a:solidFill>
                  <a:srgbClr val="5F5F5F"/>
                </a:solidFill>
                <a:latin typeface="Calibri"/>
              </a:rPr>
              <a:t>Alice 3.9.1 kept intact; the Prompter is an optional module found at start-up, so builds without it are plain Alice.</a:t>
            </a:r>
          </a:p>
        </p:txBody>
      </p:sp>
      <p:sp>
        <p:nvSpPr>
          <p:cNvPr id="4" name="Rounded Rectangle 3"/>
          <p:cNvSpPr/>
          <p:nvPr/>
        </p:nvSpPr>
        <p:spPr>
          <a:xfrm>
            <a:off x="8732520" y="182880"/>
            <a:ext cx="292608" cy="1828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
            </a:r>
          </a:p>
        </p:txBody>
      </p:sp>
      <p:sp>
        <p:nvSpPr>
          <p:cNvPr id="5" name="TextBox 4"/>
          <p:cNvSpPr txBox="1"/>
          <p:nvPr/>
        </p:nvSpPr>
        <p:spPr>
          <a:xfrm>
            <a:off x="9098280" y="146304"/>
            <a:ext cx="2834640" cy="256032"/>
          </a:xfrm>
          <a:prstGeom prst="rect">
            <a:avLst/>
          </a:prstGeom>
          <a:noFill/>
        </p:spPr>
        <p:txBody>
          <a:bodyPr wrap="square" anchor="ctr" lIns="36576" rIns="36576" tIns="18288" bIns="18288">
            <a:spAutoFit/>
          </a:bodyPr>
          <a:lstStyle/>
          <a:p>
            <a:pPr algn="l"/>
            <a:r>
              <a:rPr sz="900" b="0">
                <a:solidFill>
                  <a:srgbClr val="222222"/>
                </a:solidFill>
                <a:latin typeface="Calibri"/>
              </a:rPr>
              <a:t>Alice 3 module, unchanged</a:t>
            </a:r>
          </a:p>
        </p:txBody>
      </p:sp>
      <p:sp>
        <p:nvSpPr>
          <p:cNvPr id="6" name="Rounded Rectangle 5"/>
          <p:cNvSpPr/>
          <p:nvPr/>
        </p:nvSpPr>
        <p:spPr>
          <a:xfrm>
            <a:off x="8732520" y="429768"/>
            <a:ext cx="292608" cy="182880"/>
          </a:xfrm>
          <a:prstGeom prst="roundRect">
            <a:avLst>
              <a:gd name="adj" fmla="val 8000"/>
            </a:avLst>
          </a:prstGeom>
          <a:solidFill>
            <a:srgbClr val="DCE8F5"/>
          </a:solidFill>
          <a:ln w="28575">
            <a:solidFill>
              <a:srgbClr val="D9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
            </a:r>
          </a:p>
        </p:txBody>
      </p:sp>
      <p:sp>
        <p:nvSpPr>
          <p:cNvPr id="7" name="TextBox 6"/>
          <p:cNvSpPr txBox="1"/>
          <p:nvPr/>
        </p:nvSpPr>
        <p:spPr>
          <a:xfrm>
            <a:off x="9098280" y="393192"/>
            <a:ext cx="2834640" cy="256032"/>
          </a:xfrm>
          <a:prstGeom prst="rect">
            <a:avLst/>
          </a:prstGeom>
          <a:noFill/>
        </p:spPr>
        <p:txBody>
          <a:bodyPr wrap="square" anchor="ctr" lIns="36576" rIns="36576" tIns="18288" bIns="18288">
            <a:spAutoFit/>
          </a:bodyPr>
          <a:lstStyle/>
          <a:p>
            <a:pPr algn="l"/>
            <a:r>
              <a:rPr sz="900" b="0">
                <a:solidFill>
                  <a:srgbClr val="222222"/>
                </a:solidFill>
                <a:latin typeface="Calibri"/>
              </a:rPr>
              <a:t>Alice module with small StoryStage changes</a:t>
            </a:r>
          </a:p>
        </p:txBody>
      </p:sp>
      <p:sp>
        <p:nvSpPr>
          <p:cNvPr id="8" name="Rounded Rectangle 7"/>
          <p:cNvSpPr/>
          <p:nvPr/>
        </p:nvSpPr>
        <p:spPr>
          <a:xfrm>
            <a:off x="8732520" y="676656"/>
            <a:ext cx="292608" cy="18288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8A3F00"/>
                </a:solidFill>
                <a:latin typeface="Calibri"/>
              </a:rPr>
              <a:t/>
            </a:r>
          </a:p>
        </p:txBody>
      </p:sp>
      <p:sp>
        <p:nvSpPr>
          <p:cNvPr id="9" name="TextBox 8"/>
          <p:cNvSpPr txBox="1"/>
          <p:nvPr/>
        </p:nvSpPr>
        <p:spPr>
          <a:xfrm>
            <a:off x="9098280" y="640080"/>
            <a:ext cx="2834640" cy="256032"/>
          </a:xfrm>
          <a:prstGeom prst="rect">
            <a:avLst/>
          </a:prstGeom>
          <a:noFill/>
        </p:spPr>
        <p:txBody>
          <a:bodyPr wrap="square" anchor="ctr" lIns="36576" rIns="36576" tIns="18288" bIns="18288">
            <a:spAutoFit/>
          </a:bodyPr>
          <a:lstStyle/>
          <a:p>
            <a:pPr algn="l"/>
            <a:r>
              <a:rPr sz="900" b="0">
                <a:solidFill>
                  <a:srgbClr val="222222"/>
                </a:solidFill>
                <a:latin typeface="Calibri"/>
              </a:rPr>
              <a:t>New in StoryStage</a:t>
            </a:r>
          </a:p>
        </p:txBody>
      </p:sp>
      <p:sp>
        <p:nvSpPr>
          <p:cNvPr id="10" name="Rectangle 9"/>
          <p:cNvSpPr/>
          <p:nvPr/>
        </p:nvSpPr>
        <p:spPr>
          <a:xfrm>
            <a:off x="274320" y="1051560"/>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078992"/>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Launch and
packaging</a:t>
            </a:r>
          </a:p>
        </p:txBody>
      </p:sp>
      <p:sp>
        <p:nvSpPr>
          <p:cNvPr id="12" name="Rectangle 11"/>
          <p:cNvSpPr/>
          <p:nvPr/>
        </p:nvSpPr>
        <p:spPr>
          <a:xfrm>
            <a:off x="274320" y="1709928"/>
            <a:ext cx="11640312" cy="841247"/>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737360"/>
            <a:ext cx="1143000" cy="786384"/>
          </a:xfrm>
          <a:prstGeom prst="rect">
            <a:avLst/>
          </a:prstGeom>
          <a:noFill/>
        </p:spPr>
        <p:txBody>
          <a:bodyPr wrap="square" anchor="ctr" lIns="36576" rIns="36576" tIns="18288" bIns="18288">
            <a:spAutoFit/>
          </a:bodyPr>
          <a:lstStyle/>
          <a:p>
            <a:pPr algn="l"/>
            <a:r>
              <a:rPr sz="950" b="1">
                <a:solidFill>
                  <a:srgbClr val="5F5F5F"/>
                </a:solidFill>
                <a:latin typeface="Calibri"/>
              </a:rPr>
              <a:t>IDE
application</a:t>
            </a:r>
          </a:p>
        </p:txBody>
      </p:sp>
      <p:sp>
        <p:nvSpPr>
          <p:cNvPr id="14" name="Rectangle 13"/>
          <p:cNvSpPr/>
          <p:nvPr/>
        </p:nvSpPr>
        <p:spPr>
          <a:xfrm>
            <a:off x="274320" y="2587752"/>
            <a:ext cx="11640312" cy="53035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2615184"/>
            <a:ext cx="1143000" cy="475488"/>
          </a:xfrm>
          <a:prstGeom prst="rect">
            <a:avLst/>
          </a:prstGeom>
          <a:noFill/>
        </p:spPr>
        <p:txBody>
          <a:bodyPr wrap="square" anchor="ctr" lIns="36576" rIns="36576" tIns="18288" bIns="18288">
            <a:spAutoFit/>
          </a:bodyPr>
          <a:lstStyle/>
          <a:p>
            <a:pPr algn="l"/>
            <a:r>
              <a:rPr sz="950" b="1">
                <a:solidFill>
                  <a:srgbClr val="5F5F5F"/>
                </a:solidFill>
                <a:latin typeface="Calibri"/>
              </a:rPr>
              <a:t>UI framework</a:t>
            </a:r>
          </a:p>
        </p:txBody>
      </p:sp>
      <p:sp>
        <p:nvSpPr>
          <p:cNvPr id="16" name="Rectangle 15"/>
          <p:cNvSpPr/>
          <p:nvPr/>
        </p:nvSpPr>
        <p:spPr>
          <a:xfrm>
            <a:off x="274320" y="3154680"/>
            <a:ext cx="11640312" cy="69494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3182112"/>
            <a:ext cx="1143000" cy="640080"/>
          </a:xfrm>
          <a:prstGeom prst="rect">
            <a:avLst/>
          </a:prstGeom>
          <a:noFill/>
        </p:spPr>
        <p:txBody>
          <a:bodyPr wrap="square" anchor="ctr" lIns="36576" rIns="36576" tIns="18288" bIns="18288">
            <a:spAutoFit/>
          </a:bodyPr>
          <a:lstStyle/>
          <a:p>
            <a:pPr algn="l"/>
            <a:r>
              <a:rPr sz="950" b="1">
                <a:solidFill>
                  <a:srgbClr val="5F5F5F"/>
                </a:solidFill>
                <a:latin typeface="Calibri"/>
              </a:rPr>
              <a:t>Language and
projects</a:t>
            </a:r>
          </a:p>
        </p:txBody>
      </p:sp>
      <p:sp>
        <p:nvSpPr>
          <p:cNvPr id="18" name="Rectangle 17"/>
          <p:cNvSpPr/>
          <p:nvPr/>
        </p:nvSpPr>
        <p:spPr>
          <a:xfrm>
            <a:off x="274320" y="3886200"/>
            <a:ext cx="11640312" cy="78638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3913632"/>
            <a:ext cx="1143000" cy="731520"/>
          </a:xfrm>
          <a:prstGeom prst="rect">
            <a:avLst/>
          </a:prstGeom>
          <a:noFill/>
        </p:spPr>
        <p:txBody>
          <a:bodyPr wrap="square" anchor="ctr" lIns="36576" rIns="36576" tIns="18288" bIns="18288">
            <a:spAutoFit/>
          </a:bodyPr>
          <a:lstStyle/>
          <a:p>
            <a:pPr algn="l"/>
            <a:r>
              <a:rPr sz="950" b="1">
                <a:solidFill>
                  <a:srgbClr val="5F5F5F"/>
                </a:solidFill>
                <a:latin typeface="Calibri"/>
              </a:rPr>
              <a:t>Story API
and 3D</a:t>
            </a:r>
          </a:p>
        </p:txBody>
      </p:sp>
      <p:sp>
        <p:nvSpPr>
          <p:cNvPr id="20" name="Rectangle 19"/>
          <p:cNvSpPr/>
          <p:nvPr/>
        </p:nvSpPr>
        <p:spPr>
          <a:xfrm>
            <a:off x="274320" y="4709159"/>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4736592"/>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Foundation</a:t>
            </a:r>
          </a:p>
        </p:txBody>
      </p:sp>
      <p:sp>
        <p:nvSpPr>
          <p:cNvPr id="22" name="Rectangle 21"/>
          <p:cNvSpPr/>
          <p:nvPr/>
        </p:nvSpPr>
        <p:spPr>
          <a:xfrm>
            <a:off x="274320" y="5367528"/>
            <a:ext cx="11640312" cy="621792"/>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5394960"/>
            <a:ext cx="1143000" cy="566928"/>
          </a:xfrm>
          <a:prstGeom prst="rect">
            <a:avLst/>
          </a:prstGeom>
          <a:noFill/>
        </p:spPr>
        <p:txBody>
          <a:bodyPr wrap="square" anchor="ctr" lIns="36576" rIns="36576" tIns="18288" bIns="18288">
            <a:spAutoFit/>
          </a:bodyPr>
          <a:lstStyle/>
          <a:p>
            <a:pPr algn="l"/>
            <a:r>
              <a:rPr sz="950" b="1">
                <a:solidFill>
                  <a:srgbClr val="5F5F5F"/>
                </a:solidFill>
                <a:latin typeface="Calibri"/>
              </a:rPr>
              <a:t>Optional
non-free</a:t>
            </a:r>
          </a:p>
        </p:txBody>
      </p:sp>
      <p:sp>
        <p:nvSpPr>
          <p:cNvPr id="24" name="Rounded Rectangle 23"/>
          <p:cNvSpPr/>
          <p:nvPr/>
        </p:nvSpPr>
        <p:spPr>
          <a:xfrm>
            <a:off x="1463040" y="1078992"/>
            <a:ext cx="2651760" cy="566928"/>
          </a:xfrm>
          <a:prstGeom prst="roundRect">
            <a:avLst>
              <a:gd name="adj" fmla="val 8000"/>
            </a:avLst>
          </a:prstGeom>
          <a:solidFill>
            <a:srgbClr val="DCE8F5"/>
          </a:solidFill>
          <a:ln w="28575">
            <a:solidFill>
              <a:srgbClr val="D9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alice-ide</a:t>
            </a:r>
          </a:p>
          <a:p>
            <a:pPr algn="ctr"/>
            <a:r>
              <a:rPr sz="850" b="0">
                <a:solidFill>
                  <a:srgbClr val="222222"/>
                </a:solidFill>
                <a:latin typeface="Calibri"/>
              </a:rPr>
              <a:t>EntryPoint · JavaFX launch · main jar · includePrompter profile</a:t>
            </a:r>
          </a:p>
        </p:txBody>
      </p:sp>
      <p:sp>
        <p:nvSpPr>
          <p:cNvPr id="25" name="Rounded Rectangle 24"/>
          <p:cNvSpPr/>
          <p:nvPr/>
        </p:nvSpPr>
        <p:spPr>
          <a:xfrm>
            <a:off x="4206240" y="1078992"/>
            <a:ext cx="219456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installer</a:t>
            </a:r>
          </a:p>
          <a:p>
            <a:pPr algn="ctr"/>
            <a:r>
              <a:rPr sz="850" b="0">
                <a:solidFill>
                  <a:srgbClr val="222222"/>
                </a:solidFill>
                <a:latin typeface="Calibri"/>
              </a:rPr>
              <a:t>install4j installers (Alice); StoryStage uses jpackage</a:t>
            </a:r>
          </a:p>
        </p:txBody>
      </p:sp>
      <p:sp>
        <p:nvSpPr>
          <p:cNvPr id="26" name="Rounded Rectangle 25"/>
          <p:cNvSpPr/>
          <p:nvPr/>
        </p:nvSpPr>
        <p:spPr>
          <a:xfrm>
            <a:off x="6492240" y="1078992"/>
            <a:ext cx="224028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netbeans</a:t>
            </a:r>
          </a:p>
          <a:p>
            <a:pPr algn="ctr"/>
            <a:r>
              <a:rPr sz="850" b="0">
                <a:solidFill>
                  <a:srgbClr val="222222"/>
                </a:solidFill>
                <a:latin typeface="Calibri"/>
              </a:rPr>
              <a:t>NetBeans plug-in (export to Java)</a:t>
            </a:r>
          </a:p>
        </p:txBody>
      </p:sp>
      <p:sp>
        <p:nvSpPr>
          <p:cNvPr id="27" name="Rounded Rectangle 26"/>
          <p:cNvSpPr/>
          <p:nvPr/>
        </p:nvSpPr>
        <p:spPr>
          <a:xfrm>
            <a:off x="4800600" y="1737360"/>
            <a:ext cx="3931920" cy="786384"/>
          </a:xfrm>
          <a:prstGeom prst="roundRect">
            <a:avLst>
              <a:gd name="adj" fmla="val 8000"/>
            </a:avLst>
          </a:prstGeom>
          <a:solidFill>
            <a:srgbClr val="DCE8F5"/>
          </a:solidFill>
          <a:ln w="28575">
            <a:solidFill>
              <a:srgbClr val="D9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ide  (core/ide)</a:t>
            </a:r>
          </a:p>
          <a:p>
            <a:pPr algn="ctr"/>
            <a:r>
              <a:rPr sz="850" b="0">
                <a:solidFill>
                  <a:srgbClr val="222222"/>
                </a:solidFill>
                <a:latin typeface="Calibri"/>
              </a:rPr>
              <a:t>StageIDE · code editor · scene editor · gallery browser · Project History (undo)
Changed: Prompter slot (SPI) · branding · Preferences · GitHub reports · thumbnail switch</a:t>
            </a:r>
          </a:p>
          <a:p>
            <a:pPr algn="ctr"/>
            <a:r>
              <a:rPr sz="750" b="0">
                <a:solidFill>
                  <a:srgbClr val="5F5F5F"/>
                </a:solidFill>
                <a:latin typeface="Calibri"/>
              </a:rPr>
              <a:t>166k lines</a:t>
            </a:r>
          </a:p>
        </p:txBody>
      </p:sp>
      <p:sp>
        <p:nvSpPr>
          <p:cNvPr id="28" name="Rounded Rectangle 27"/>
          <p:cNvSpPr/>
          <p:nvPr/>
        </p:nvSpPr>
        <p:spPr>
          <a:xfrm>
            <a:off x="1463040" y="1737360"/>
            <a:ext cx="105156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image-editor</a:t>
            </a:r>
          </a:p>
          <a:p>
            <a:pPr algn="ctr"/>
            <a:r>
              <a:rPr sz="750" b="0">
                <a:solidFill>
                  <a:srgbClr val="5F5F5F"/>
                </a:solidFill>
                <a:latin typeface="Calibri"/>
              </a:rPr>
              <a:t>2.1k lines</a:t>
            </a:r>
          </a:p>
        </p:txBody>
      </p:sp>
      <p:sp>
        <p:nvSpPr>
          <p:cNvPr id="29" name="Rounded Rectangle 28"/>
          <p:cNvSpPr/>
          <p:nvPr/>
        </p:nvSpPr>
        <p:spPr>
          <a:xfrm>
            <a:off x="2606040" y="1737360"/>
            <a:ext cx="114300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issue-reporting</a:t>
            </a:r>
          </a:p>
          <a:p>
            <a:pPr algn="ctr"/>
            <a:r>
              <a:rPr sz="750" b="0">
                <a:solidFill>
                  <a:srgbClr val="5F5F5F"/>
                </a:solidFill>
                <a:latin typeface="Calibri"/>
              </a:rPr>
              <a:t>1.0k lines</a:t>
            </a:r>
          </a:p>
        </p:txBody>
      </p:sp>
      <p:sp>
        <p:nvSpPr>
          <p:cNvPr id="30" name="Rounded Rectangle 29"/>
          <p:cNvSpPr/>
          <p:nvPr/>
        </p:nvSpPr>
        <p:spPr>
          <a:xfrm>
            <a:off x="3840480" y="1737360"/>
            <a:ext cx="868680" cy="786384"/>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i18n</a:t>
            </a:r>
          </a:p>
          <a:p>
            <a:pPr algn="ctr"/>
            <a:r>
              <a:rPr sz="850" b="0">
                <a:solidFill>
                  <a:srgbClr val="222222"/>
                </a:solidFill>
                <a:latin typeface="Calibri"/>
              </a:rPr>
              <a:t>translations</a:t>
            </a:r>
          </a:p>
        </p:txBody>
      </p:sp>
      <p:sp>
        <p:nvSpPr>
          <p:cNvPr id="31" name="Rounded Rectangle 30"/>
          <p:cNvSpPr/>
          <p:nvPr/>
        </p:nvSpPr>
        <p:spPr>
          <a:xfrm>
            <a:off x="1463040" y="2615184"/>
            <a:ext cx="7269480" cy="47548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croquet</a:t>
            </a:r>
          </a:p>
          <a:p>
            <a:pPr algn="ctr"/>
            <a:r>
              <a:rPr sz="850" b="0">
                <a:solidFill>
                  <a:srgbClr val="222222"/>
                </a:solidFill>
                <a:latin typeface="Calibri"/>
              </a:rPr>
              <a:t>Alice's UI framework over Swing + FlatLaf: models, operations, states, undoable edits · 46k lines</a:t>
            </a:r>
          </a:p>
        </p:txBody>
      </p:sp>
      <p:sp>
        <p:nvSpPr>
          <p:cNvPr id="32" name="Rounded Rectangle 31"/>
          <p:cNvSpPr/>
          <p:nvPr/>
        </p:nvSpPr>
        <p:spPr>
          <a:xfrm>
            <a:off x="1463040" y="3182112"/>
            <a:ext cx="2743200" cy="640080"/>
          </a:xfrm>
          <a:prstGeom prst="roundRect">
            <a:avLst>
              <a:gd name="adj" fmla="val 8000"/>
            </a:avLst>
          </a:prstGeom>
          <a:solidFill>
            <a:srgbClr val="DCE8F5"/>
          </a:solidFill>
          <a:ln w="28575">
            <a:solidFill>
              <a:srgbClr val="D9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ast</a:t>
            </a:r>
          </a:p>
          <a:p>
            <a:pPr algn="ctr"/>
            <a:r>
              <a:rPr sz="850" b="0">
                <a:solidFill>
                  <a:srgbClr val="222222"/>
                </a:solidFill>
                <a:latin typeface="Calibri"/>
              </a:rPr>
              <a:t>Program AST · VirtualMachine (runs worlds) · Changed: encoder hook</a:t>
            </a:r>
          </a:p>
          <a:p>
            <a:pPr algn="ctr"/>
            <a:r>
              <a:rPr sz="750" b="0">
                <a:solidFill>
                  <a:srgbClr val="5F5F5F"/>
                </a:solidFill>
                <a:latin typeface="Calibri"/>
              </a:rPr>
              <a:t>25k lines</a:t>
            </a:r>
          </a:p>
        </p:txBody>
      </p:sp>
      <p:sp>
        <p:nvSpPr>
          <p:cNvPr id="33" name="Rounded Rectangle 32"/>
          <p:cNvSpPr/>
          <p:nvPr/>
        </p:nvSpPr>
        <p:spPr>
          <a:xfrm>
            <a:off x="4297680" y="3182112"/>
            <a:ext cx="210312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tweedle</a:t>
            </a:r>
          </a:p>
          <a:p>
            <a:pPr algn="ctr"/>
            <a:r>
              <a:rPr sz="850" b="0">
                <a:solidFill>
                  <a:srgbClr val="222222"/>
                </a:solidFill>
                <a:latin typeface="Calibri"/>
              </a:rPr>
              <a:t>Tweedle language: parser and types</a:t>
            </a:r>
          </a:p>
          <a:p>
            <a:pPr algn="ctr"/>
            <a:r>
              <a:rPr sz="750" b="0">
                <a:solidFill>
                  <a:srgbClr val="5F5F5F"/>
                </a:solidFill>
                <a:latin typeface="Calibri"/>
              </a:rPr>
              <a:t>5.7k lines</a:t>
            </a:r>
          </a:p>
        </p:txBody>
      </p:sp>
      <p:sp>
        <p:nvSpPr>
          <p:cNvPr id="34" name="Rounded Rectangle 33"/>
          <p:cNvSpPr/>
          <p:nvPr/>
        </p:nvSpPr>
        <p:spPr>
          <a:xfrm>
            <a:off x="6492240" y="3182112"/>
            <a:ext cx="224028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story-api-migration</a:t>
            </a:r>
          </a:p>
          <a:p>
            <a:pPr algn="ctr"/>
            <a:r>
              <a:rPr sz="850" b="0">
                <a:solidFill>
                  <a:srgbClr val="222222"/>
                </a:solidFill>
                <a:latin typeface="Calibri"/>
              </a:rPr>
              <a:t>project versions · .a3p read / write</a:t>
            </a:r>
          </a:p>
          <a:p>
            <a:pPr algn="ctr"/>
            <a:r>
              <a:rPr sz="750" b="0">
                <a:solidFill>
                  <a:srgbClr val="5F5F5F"/>
                </a:solidFill>
                <a:latin typeface="Calibri"/>
              </a:rPr>
              <a:t>9.8k lines</a:t>
            </a:r>
          </a:p>
        </p:txBody>
      </p:sp>
      <p:sp>
        <p:nvSpPr>
          <p:cNvPr id="35" name="Rounded Rectangle 34"/>
          <p:cNvSpPr/>
          <p:nvPr/>
        </p:nvSpPr>
        <p:spPr>
          <a:xfrm>
            <a:off x="1463040" y="3913632"/>
            <a:ext cx="20574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story-api</a:t>
            </a:r>
          </a:p>
          <a:p>
            <a:pPr algn="ctr"/>
            <a:r>
              <a:rPr sz="850" b="0">
                <a:solidFill>
                  <a:srgbClr val="222222"/>
                </a:solidFill>
                <a:latin typeface="Calibri"/>
              </a:rPr>
              <a:t>SScene · SModel · SCamera · events</a:t>
            </a:r>
          </a:p>
          <a:p>
            <a:pPr algn="ctr"/>
            <a:r>
              <a:rPr sz="750" b="0">
                <a:solidFill>
                  <a:srgbClr val="5F5F5F"/>
                </a:solidFill>
                <a:latin typeface="Calibri"/>
              </a:rPr>
              <a:t>60k lines</a:t>
            </a:r>
          </a:p>
        </p:txBody>
      </p:sp>
      <p:sp>
        <p:nvSpPr>
          <p:cNvPr id="36" name="Rounded Rectangle 35"/>
          <p:cNvSpPr/>
          <p:nvPr/>
        </p:nvSpPr>
        <p:spPr>
          <a:xfrm>
            <a:off x="3611880" y="3913632"/>
            <a:ext cx="16002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models</a:t>
            </a:r>
          </a:p>
          <a:p>
            <a:pPr algn="ctr"/>
            <a:r>
              <a:rPr sz="850" b="0">
                <a:solidFill>
                  <a:srgbClr val="222222"/>
                </a:solidFill>
                <a:latin typeface="Calibri"/>
              </a:rPr>
              <a:t>gallery model classes</a:t>
            </a:r>
          </a:p>
          <a:p>
            <a:pPr algn="ctr"/>
            <a:r>
              <a:rPr sz="750" b="0">
                <a:solidFill>
                  <a:srgbClr val="5F5F5F"/>
                </a:solidFill>
                <a:latin typeface="Calibri"/>
              </a:rPr>
              <a:t>24k lines</a:t>
            </a:r>
          </a:p>
        </p:txBody>
      </p:sp>
      <p:sp>
        <p:nvSpPr>
          <p:cNvPr id="37" name="Rounded Rectangle 36"/>
          <p:cNvSpPr/>
          <p:nvPr/>
        </p:nvSpPr>
        <p:spPr>
          <a:xfrm>
            <a:off x="5303520" y="3913632"/>
            <a:ext cx="114300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model-loading</a:t>
            </a:r>
          </a:p>
          <a:p>
            <a:pPr algn="ctr"/>
            <a:r>
              <a:rPr sz="850" b="0">
                <a:solidFill>
                  <a:srgbClr val="222222"/>
                </a:solidFill>
                <a:latin typeface="Calibri"/>
              </a:rPr>
              <a:t>COLLADA import</a:t>
            </a:r>
          </a:p>
          <a:p>
            <a:pPr algn="ctr"/>
            <a:r>
              <a:rPr sz="750" b="0">
                <a:solidFill>
                  <a:srgbClr val="5F5F5F"/>
                </a:solidFill>
                <a:latin typeface="Calibri"/>
              </a:rPr>
              <a:t>7.0k lines</a:t>
            </a:r>
          </a:p>
        </p:txBody>
      </p:sp>
      <p:sp>
        <p:nvSpPr>
          <p:cNvPr id="38" name="Rounded Rectangle 37"/>
          <p:cNvSpPr/>
          <p:nvPr/>
        </p:nvSpPr>
        <p:spPr>
          <a:xfrm>
            <a:off x="6537960" y="3913632"/>
            <a:ext cx="105156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scenegraph</a:t>
            </a:r>
          </a:p>
          <a:p>
            <a:pPr algn="ctr"/>
            <a:r>
              <a:rPr sz="750" b="0">
                <a:solidFill>
                  <a:srgbClr val="5F5F5F"/>
                </a:solidFill>
                <a:latin typeface="Calibri"/>
              </a:rPr>
              <a:t>16k lines</a:t>
            </a:r>
          </a:p>
        </p:txBody>
      </p:sp>
      <p:sp>
        <p:nvSpPr>
          <p:cNvPr id="39" name="Rounded Rectangle 38"/>
          <p:cNvSpPr/>
          <p:nvPr/>
        </p:nvSpPr>
        <p:spPr>
          <a:xfrm>
            <a:off x="7680960" y="3913632"/>
            <a:ext cx="1051560"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1F3F66"/>
                </a:solidFill>
                <a:latin typeface="Calibri"/>
              </a:rPr>
              <a:t>glrender</a:t>
            </a:r>
          </a:p>
          <a:p>
            <a:pPr algn="ctr"/>
            <a:r>
              <a:rPr sz="850" b="0">
                <a:solidFill>
                  <a:srgbClr val="222222"/>
                </a:solidFill>
                <a:latin typeface="Calibri"/>
              </a:rPr>
              <a:t>JOGL / OpenGL</a:t>
            </a:r>
          </a:p>
          <a:p>
            <a:pPr algn="ctr"/>
            <a:r>
              <a:rPr sz="750" b="0">
                <a:solidFill>
                  <a:srgbClr val="5F5F5F"/>
                </a:solidFill>
                <a:latin typeface="Calibri"/>
              </a:rPr>
              <a:t>19k lines</a:t>
            </a:r>
          </a:p>
        </p:txBody>
      </p:sp>
      <p:sp>
        <p:nvSpPr>
          <p:cNvPr id="40" name="Rounded Rectangle 39"/>
          <p:cNvSpPr/>
          <p:nvPr/>
        </p:nvSpPr>
        <p:spPr>
          <a:xfrm>
            <a:off x="1463040" y="4736592"/>
            <a:ext cx="237744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util</a:t>
            </a:r>
          </a:p>
          <a:p>
            <a:pPr algn="ctr"/>
            <a:r>
              <a:rPr sz="850" b="0">
                <a:solidFill>
                  <a:srgbClr val="222222"/>
                </a:solidFill>
                <a:latin typeface="Calibri"/>
              </a:rPr>
              <a:t>collections, maths, logging, I/O</a:t>
            </a:r>
          </a:p>
          <a:p>
            <a:pPr algn="ctr"/>
            <a:r>
              <a:rPr sz="750" b="0">
                <a:solidFill>
                  <a:srgbClr val="5F5F5F"/>
                </a:solidFill>
                <a:latin typeface="Calibri"/>
              </a:rPr>
              <a:t>41k lines</a:t>
            </a:r>
          </a:p>
        </p:txBody>
      </p:sp>
      <p:sp>
        <p:nvSpPr>
          <p:cNvPr id="41" name="Rounded Rectangle 40"/>
          <p:cNvSpPr/>
          <p:nvPr/>
        </p:nvSpPr>
        <p:spPr>
          <a:xfrm>
            <a:off x="3931920" y="4736592"/>
            <a:ext cx="237744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resources</a:t>
            </a:r>
          </a:p>
          <a:p>
            <a:pPr algn="ctr"/>
            <a:r>
              <a:rPr sz="850" b="0">
                <a:solidFill>
                  <a:srgbClr val="222222"/>
                </a:solidFill>
                <a:latin typeface="Calibri"/>
              </a:rPr>
              <a:t>distribution: gallery, natives, EULAs</a:t>
            </a:r>
          </a:p>
        </p:txBody>
      </p:sp>
      <p:sp>
        <p:nvSpPr>
          <p:cNvPr id="42" name="Rounded Rectangle 41"/>
          <p:cNvSpPr/>
          <p:nvPr/>
        </p:nvSpPr>
        <p:spPr>
          <a:xfrm>
            <a:off x="6400800" y="4736592"/>
            <a:ext cx="233172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100" b="1">
                <a:solidFill>
                  <a:srgbClr val="1F3F66"/>
                </a:solidFill>
                <a:latin typeface="Calibri"/>
              </a:rPr>
              <a:t>external</a:t>
            </a:r>
          </a:p>
          <a:p>
            <a:pPr algn="ctr"/>
            <a:r>
              <a:rPr sz="850" b="0">
                <a:solidFill>
                  <a:srgbClr val="222222"/>
                </a:solidFill>
                <a:latin typeface="Calibri"/>
              </a:rPr>
              <a:t>COLLADA schema · wrapped-flow-layout</a:t>
            </a:r>
          </a:p>
          <a:p>
            <a:pPr algn="ctr"/>
            <a:r>
              <a:rPr sz="750" b="0">
                <a:solidFill>
                  <a:srgbClr val="5F5F5F"/>
                </a:solidFill>
                <a:latin typeface="Calibri"/>
              </a:rPr>
              <a:t>5.9k lines</a:t>
            </a:r>
          </a:p>
        </p:txBody>
      </p:sp>
      <p:sp>
        <p:nvSpPr>
          <p:cNvPr id="43" name="Rounded Rectangle 42"/>
          <p:cNvSpPr/>
          <p:nvPr/>
        </p:nvSpPr>
        <p:spPr>
          <a:xfrm>
            <a:off x="1463040" y="5394960"/>
            <a:ext cx="7269480" cy="566928"/>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00" b="1">
                <a:solidFill>
                  <a:srgbClr val="1F3F66"/>
                </a:solidFill>
                <a:latin typeface="Calibri"/>
              </a:rPr>
              <a:t>core-nonfree: ide-nonfree · story-api-nonfree · models-nonfree · resources-nonfree</a:t>
            </a:r>
          </a:p>
          <a:p>
            <a:pPr algn="ctr"/>
            <a:r>
              <a:rPr sz="850" b="0">
                <a:solidFill>
                  <a:srgbClr val="222222"/>
                </a:solidFill>
                <a:latin typeface="Calibri"/>
              </a:rPr>
              <a:t>The Sims (TM) 2 art assets and the 'nebulous' native renderer; licensed by EA for non-commercial use · 58k lines</a:t>
            </a:r>
          </a:p>
        </p:txBody>
      </p:sp>
      <p:sp>
        <p:nvSpPr>
          <p:cNvPr id="44" name="Rounded Rectangle 43"/>
          <p:cNvSpPr/>
          <p:nvPr/>
        </p:nvSpPr>
        <p:spPr>
          <a:xfrm>
            <a:off x="8915400" y="1078992"/>
            <a:ext cx="2999232" cy="566928"/>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1000" b="1">
                <a:solidFill>
                  <a:srgbClr val="8A3F00"/>
                </a:solidFill>
                <a:latin typeface="Calibri"/>
              </a:rPr>
              <a:t>Build, CI and packaging</a:t>
            </a:r>
          </a:p>
          <a:p>
            <a:pPr algn="ctr"/>
            <a:r>
              <a:rPr sz="850" b="0">
                <a:solidFill>
                  <a:srgbClr val="222222"/>
                </a:solidFill>
                <a:latin typeface="Calibri"/>
              </a:rPr>
              <a:t>GitHub Actions · jpackage portable app · smoke test · self-test</a:t>
            </a:r>
          </a:p>
        </p:txBody>
      </p:sp>
      <p:sp>
        <p:nvSpPr>
          <p:cNvPr id="45" name="Rounded Rectangle 44"/>
          <p:cNvSpPr/>
          <p:nvPr/>
        </p:nvSpPr>
        <p:spPr>
          <a:xfrm>
            <a:off x="8915400" y="1737360"/>
            <a:ext cx="2999232" cy="4224528"/>
          </a:xfrm>
          <a:prstGeom prst="roundRect">
            <a:avLst>
              <a:gd name="adj" fmla="val 4000"/>
            </a:avLst>
          </a:prstGeom>
          <a:solidFill>
            <a:srgbClr val="FDE6CF"/>
          </a:solidFill>
          <a:ln w="1905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bIns="54864"/>
          <a:lstStyle/>
          <a:p>
            <a:pPr algn="ctr"/>
            <a:r>
              <a:rPr sz="1200" b="1">
                <a:solidFill>
                  <a:srgbClr val="8A3F00"/>
                </a:solidFill>
                <a:latin typeface="Calibri"/>
              </a:rPr>
              <a:t>core/prompter: the Prompter</a:t>
            </a:r>
          </a:p>
          <a:p>
            <a:pPr algn="ctr"/>
            <a:r>
              <a:rPr sz="850" b="0">
                <a:solidFill>
                  <a:srgbClr val="8A3F00"/>
                </a:solidFill>
                <a:latin typeface="Calibri"/>
              </a:rPr>
              <a:t>new, optional · 5.4k lines of Java</a:t>
            </a:r>
          </a:p>
        </p:txBody>
      </p:sp>
      <p:sp>
        <p:nvSpPr>
          <p:cNvPr id="46" name="Rounded Rectangle 45"/>
          <p:cNvSpPr/>
          <p:nvPr/>
        </p:nvSpPr>
        <p:spPr>
          <a:xfrm>
            <a:off x="9025128" y="2240280"/>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Prompter panel and session</a:t>
            </a:r>
          </a:p>
          <a:p>
            <a:pPr algn="ctr"/>
            <a:r>
              <a:rPr sz="750" b="0">
                <a:solidFill>
                  <a:srgbClr val="222222"/>
                </a:solidFill>
                <a:latin typeface="Calibri"/>
              </a:rPr>
              <a:t>chat · modes · Stop · Undo this request · usage estimate</a:t>
            </a:r>
          </a:p>
        </p:txBody>
      </p:sp>
      <p:sp>
        <p:nvSpPr>
          <p:cNvPr id="47" name="Rounded Rectangle 46"/>
          <p:cNvSpPr/>
          <p:nvPr/>
        </p:nvSpPr>
        <p:spPr>
          <a:xfrm>
            <a:off x="9025128" y="2762794"/>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Set-up wizard and key store</a:t>
            </a:r>
          </a:p>
          <a:p>
            <a:pPr algn="ctr"/>
            <a:r>
              <a:rPr sz="750" b="0">
                <a:solidFill>
                  <a:srgbClr val="222222"/>
                </a:solidFill>
                <a:latin typeface="Calibri"/>
              </a:rPr>
              <a:t>consent · OS credential store · key check</a:t>
            </a:r>
          </a:p>
        </p:txBody>
      </p:sp>
      <p:sp>
        <p:nvSpPr>
          <p:cNvPr id="48" name="Rounded Rectangle 47"/>
          <p:cNvSpPr/>
          <p:nvPr/>
        </p:nvSpPr>
        <p:spPr>
          <a:xfrm>
            <a:off x="9025128" y="3285308"/>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Claude client</a:t>
            </a:r>
          </a:p>
          <a:p>
            <a:pPr algn="ctr"/>
            <a:r>
              <a:rPr sz="750" b="0">
                <a:solidFill>
                  <a:srgbClr val="222222"/>
                </a:solidFill>
                <a:latin typeface="Calibri"/>
              </a:rPr>
              <a:t>Anthropic Java SDK · streaming · tool loop · claude-opus-5-5</a:t>
            </a:r>
          </a:p>
        </p:txBody>
      </p:sp>
      <p:sp>
        <p:nvSpPr>
          <p:cNvPr id="49" name="Rounded Rectangle 48"/>
          <p:cNvSpPr/>
          <p:nvPr/>
        </p:nvSpPr>
        <p:spPr>
          <a:xfrm>
            <a:off x="9025128" y="3807822"/>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World context</a:t>
            </a:r>
          </a:p>
          <a:p>
            <a:pPr algn="ctr"/>
            <a:r>
              <a:rPr sz="750" b="0">
                <a:solidFill>
                  <a:srgbClr val="222222"/>
                </a:solidFill>
                <a:latin typeface="Calibri"/>
              </a:rPr>
              <a:t>API and gallery catalogs · project text with block ids · scene picture</a:t>
            </a:r>
          </a:p>
        </p:txBody>
      </p:sp>
      <p:sp>
        <p:nvSpPr>
          <p:cNvPr id="50" name="Rounded Rectangle 49"/>
          <p:cNvSpPr/>
          <p:nvPr/>
        </p:nvSpPr>
        <p:spPr>
          <a:xfrm>
            <a:off x="9025128" y="4330337"/>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World tools</a:t>
            </a:r>
          </a:p>
          <a:p>
            <a:pPr algn="ctr"/>
            <a:r>
              <a:rPr sz="750" b="0">
                <a:solidFill>
                  <a:srgbClr val="222222"/>
                </a:solidFill>
                <a:latin typeface="Calibri"/>
              </a:rPr>
              <a:t>add_model · set_property · insert_statement · insert_control · add_event_listener</a:t>
            </a:r>
          </a:p>
        </p:txBody>
      </p:sp>
      <p:sp>
        <p:nvSpPr>
          <p:cNvPr id="51" name="Rounded Rectangle 50"/>
          <p:cNvSpPr/>
          <p:nvPr/>
        </p:nvSpPr>
        <p:spPr>
          <a:xfrm>
            <a:off x="9025128" y="4852851"/>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Speech</a:t>
            </a:r>
          </a:p>
          <a:p>
            <a:pPr algn="ctr"/>
            <a:r>
              <a:rPr sz="750" b="0">
                <a:solidFill>
                  <a:srgbClr val="222222"/>
                </a:solidFill>
                <a:latin typeface="Calibri"/>
              </a:rPr>
              <a:t>whisper.cpp hold-to-talk (on device) · system voices read the steps</a:t>
            </a:r>
          </a:p>
        </p:txBody>
      </p:sp>
      <p:sp>
        <p:nvSpPr>
          <p:cNvPr id="52" name="Rounded Rectangle 51"/>
          <p:cNvSpPr/>
          <p:nvPr/>
        </p:nvSpPr>
        <p:spPr>
          <a:xfrm>
            <a:off x="9025128" y="5375365"/>
            <a:ext cx="2779776" cy="46765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r>
              <a:rPr sz="950" b="1">
                <a:solidFill>
                  <a:srgbClr val="8A3F00"/>
                </a:solidFill>
                <a:latin typeface="Calibri"/>
              </a:rPr>
              <a:t>Switches and school policy</a:t>
            </a:r>
          </a:p>
          <a:p>
            <a:pPr algn="ctr"/>
            <a:r>
              <a:rPr sz="750" b="0">
                <a:solidFill>
                  <a:srgbClr val="222222"/>
                </a:solidFill>
                <a:latin typeface="Calibri"/>
              </a:rPr>
              <a:t>on/off · explain only · voice · policy.properties</a:t>
            </a:r>
          </a:p>
        </p:txBody>
      </p:sp>
      <p:cxnSp>
        <p:nvCxnSpPr>
          <p:cNvPr id="53" name="Connector 52"/>
          <p:cNvCxnSpPr/>
          <p:nvPr/>
        </p:nvCxnSpPr>
        <p:spPr>
          <a:xfrm flipH="1">
            <a:off x="8732520" y="2011679"/>
            <a:ext cx="182880" cy="0"/>
          </a:xfrm>
          <a:prstGeom prst="line">
            <a:avLst/>
          </a:prstGeom>
          <a:ln w="22225">
            <a:solidFill>
              <a:srgbClr val="D96A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32520" y="2267712"/>
            <a:ext cx="182880" cy="0"/>
          </a:xfrm>
          <a:prstGeom prst="line">
            <a:avLst/>
          </a:prstGeom>
          <a:ln w="22225">
            <a:solidFill>
              <a:srgbClr val="D96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74320" y="6355080"/>
            <a:ext cx="11612880" cy="365760"/>
          </a:xfrm>
          <a:prstGeom prst="rect">
            <a:avLst/>
          </a:prstGeom>
          <a:noFill/>
        </p:spPr>
        <p:txBody>
          <a:bodyPr wrap="square" anchor="ctr" lIns="36576" rIns="36576" tIns="18288" bIns="18288">
            <a:spAutoFit/>
          </a:bodyPr>
          <a:lstStyle/>
          <a:p>
            <a:pPr algn="l"/>
            <a:r>
              <a:rPr sz="850" b="0">
                <a:solidFill>
                  <a:srgbClr val="5F5F5F"/>
                </a:solidFill>
                <a:latin typeface="Calibri"/>
              </a:rPr>
              <a:t>Arrows: the Prompter plugs into the IDE through the PrompterProvider service (Java ServiceLoader), and changes worlds with Alice's own undoable edits, so they show in Project History. Outside the computer, requests go only to the Anthropic Claude API (HTTPS) with the learner's own key; the speech model is downloaded once from Hugging Face. StoryStage runs no servers.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ctr" lIns="36576" rIns="36576" tIns="18288" bIns="18288">
            <a:spAutoFit/>
          </a:bodyPr>
          <a:lstStyle/>
          <a:p>
            <a:pPr algn="l"/>
            <a:r>
              <a:rPr sz="2400" b="1">
                <a:solidFill>
                  <a:srgbClr val="222222"/>
                </a:solidFill>
                <a:latin typeface="Calibri"/>
              </a:rPr>
              <a:t>Lines of code: before and after</a:t>
            </a:r>
          </a:p>
        </p:txBody>
      </p:sp>
      <p:sp>
        <p:nvSpPr>
          <p:cNvPr id="3" name="TextBox 2"/>
          <p:cNvSpPr txBox="1"/>
          <p:nvPr/>
        </p:nvSpPr>
        <p:spPr>
          <a:xfrm>
            <a:off x="274320" y="621792"/>
            <a:ext cx="8778240" cy="292608"/>
          </a:xfrm>
          <a:prstGeom prst="rect">
            <a:avLst/>
          </a:prstGeom>
          <a:noFill/>
        </p:spPr>
        <p:txBody>
          <a:bodyPr wrap="square" anchor="ctr" lIns="36576" rIns="36576" tIns="18288" bIns="18288">
            <a:spAutoFit/>
          </a:bodyPr>
          <a:lstStyle/>
          <a:p>
            <a:pPr algn="l"/>
            <a:r>
              <a:rPr sz="1100" b="0">
                <a:solidFill>
                  <a:srgbClr val="5F5F5F"/>
                </a:solidFill>
                <a:latin typeface="Calibri"/>
              </a:rPr>
              <a:t>Counted from git: Alice at tag 3.9.1.0, StoryStage at the tip of its branches (all work to date, including open pull requests #31 and #32).</a:t>
            </a:r>
          </a:p>
        </p:txBody>
      </p:sp>
      <p:graphicFrame>
        <p:nvGraphicFramePr>
          <p:cNvPr id="4" name="Table 3"/>
          <p:cNvGraphicFramePr>
            <a:graphicFrameLocks noGrp="1"/>
          </p:cNvGraphicFramePr>
          <p:nvPr/>
        </p:nvGraphicFramePr>
        <p:xfrm>
          <a:off x="457200" y="1188720"/>
          <a:ext cx="6035040" cy="3621024"/>
        </p:xfrm>
        <a:graphic>
          <a:graphicData uri="http://schemas.openxmlformats.org/drawingml/2006/table">
            <a:tbl>
              <a:tblPr firstRow="1" bandRow="1">
                <a:tableStyleId>{5C22544A-7EE6-4342-B048-85BDC9FD1C3A}</a:tableStyleId>
              </a:tblPr>
              <a:tblGrid>
                <a:gridCol w="2377440"/>
                <a:gridCol w="1188720"/>
                <a:gridCol w="1188720"/>
                <a:gridCol w="1280160"/>
              </a:tblGrid>
              <a:tr h="329184">
                <a:tc>
                  <a:txBody>
                    <a:bodyPr wrap="square" anchor="ctr" lIns="54864" rIns="54864" tIns="36576" bIns="36576"/>
                    <a:lstStyle/>
                    <a:p>
                      <a:pPr algn="l"/>
                      <a:r>
                        <a:rPr sz="1100" b="1">
                          <a:solidFill>
                            <a:srgbClr val="FFFFFF"/>
                          </a:solidFill>
                          <a:latin typeface="Calibri"/>
                        </a:rPr>
                        <a:t>File type</a:t>
                      </a:r>
                    </a:p>
                  </a:txBody>
                  <a:tcPr>
                    <a:solidFill>
                      <a:srgbClr val="1F3F66"/>
                    </a:solidFill>
                  </a:tcPr>
                </a:tc>
                <a:tc>
                  <a:txBody>
                    <a:bodyPr wrap="square" anchor="ctr" lIns="54864" rIns="54864" tIns="36576" bIns="36576"/>
                    <a:lstStyle/>
                    <a:p>
                      <a:pPr algn="r"/>
                      <a:r>
                        <a:rPr sz="1100" b="1">
                          <a:solidFill>
                            <a:srgbClr val="FFFFFF"/>
                          </a:solidFill>
                          <a:latin typeface="Calibri"/>
                        </a:rPr>
                        <a:t>Alice 3.9.1</a:t>
                      </a:r>
                    </a:p>
                  </a:txBody>
                  <a:tcPr>
                    <a:solidFill>
                      <a:srgbClr val="1F3F66"/>
                    </a:solidFill>
                  </a:tcPr>
                </a:tc>
                <a:tc>
                  <a:txBody>
                    <a:bodyPr wrap="square" anchor="ctr" lIns="54864" rIns="54864" tIns="36576" bIns="36576"/>
                    <a:lstStyle/>
                    <a:p>
                      <a:pPr algn="r"/>
                      <a:r>
                        <a:rPr sz="1100" b="1">
                          <a:solidFill>
                            <a:srgbClr val="FFFFFF"/>
                          </a:solidFill>
                          <a:latin typeface="Calibri"/>
                        </a:rPr>
                        <a:t>StoryStage</a:t>
                      </a:r>
                    </a:p>
                  </a:txBody>
                  <a:tcPr>
                    <a:solidFill>
                      <a:srgbClr val="1F3F66"/>
                    </a:solidFill>
                  </a:tcPr>
                </a:tc>
                <a:tc>
                  <a:txBody>
                    <a:bodyPr wrap="square" anchor="ctr" lIns="54864" rIns="54864" tIns="36576" bIns="36576"/>
                    <a:lstStyle/>
                    <a:p>
                      <a:pPr algn="r"/>
                      <a:r>
                        <a:rPr sz="1100" b="1">
                          <a:solidFill>
                            <a:srgbClr val="FFFFFF"/>
                          </a:solidFill>
                          <a:latin typeface="Calibri"/>
                        </a:rPr>
                        <a:t>Change</a:t>
                      </a:r>
                    </a:p>
                  </a:txBody>
                  <a:tcPr>
                    <a:solidFill>
                      <a:srgbClr val="1F3F66"/>
                    </a:solidFill>
                  </a:tcPr>
                </a:tc>
              </a:tr>
              <a:tr h="329184">
                <a:tc>
                  <a:txBody>
                    <a:bodyPr wrap="square" anchor="ctr" lIns="54864" rIns="54864" tIns="36576" bIns="36576"/>
                    <a:lstStyle/>
                    <a:p>
                      <a:pPr algn="l"/>
                      <a:r>
                        <a:rPr sz="1050" b="1">
                          <a:solidFill>
                            <a:srgbClr val="222222"/>
                          </a:solidFill>
                          <a:latin typeface="Calibri"/>
                        </a:rPr>
                        <a:t>Java (all modules)</a:t>
                      </a:r>
                    </a:p>
                  </a:txBody>
                  <a:tcPr>
                    <a:solidFill>
                      <a:srgbClr val="FFFFFF"/>
                    </a:solidFill>
                  </a:tcPr>
                </a:tc>
                <a:tc>
                  <a:txBody>
                    <a:bodyPr wrap="square" anchor="ctr" lIns="54864" rIns="54864" tIns="36576" bIns="36576"/>
                    <a:lstStyle/>
                    <a:p>
                      <a:pPr algn="r"/>
                      <a:r>
                        <a:rPr sz="1050" b="1">
                          <a:solidFill>
                            <a:srgbClr val="222222"/>
                          </a:solidFill>
                          <a:latin typeface="Calibri"/>
                        </a:rPr>
                        <a:t>490,107</a:t>
                      </a:r>
                    </a:p>
                  </a:txBody>
                  <a:tcPr>
                    <a:solidFill>
                      <a:srgbClr val="FFFFFF"/>
                    </a:solidFill>
                  </a:tcPr>
                </a:tc>
                <a:tc>
                  <a:txBody>
                    <a:bodyPr wrap="square" anchor="ctr" lIns="54864" rIns="54864" tIns="36576" bIns="36576"/>
                    <a:lstStyle/>
                    <a:p>
                      <a:pPr algn="r"/>
                      <a:r>
                        <a:rPr sz="1050" b="1">
                          <a:solidFill>
                            <a:srgbClr val="222222"/>
                          </a:solidFill>
                          <a:latin typeface="Calibri"/>
                        </a:rPr>
                        <a:t>495,694</a:t>
                      </a:r>
                    </a:p>
                  </a:txBody>
                  <a:tcPr>
                    <a:solidFill>
                      <a:srgbClr val="FFFFFF"/>
                    </a:solidFill>
                  </a:tcPr>
                </a:tc>
                <a:tc>
                  <a:txBody>
                    <a:bodyPr wrap="square" anchor="ctr" lIns="54864" rIns="54864" tIns="36576" bIns="36576"/>
                    <a:lstStyle/>
                    <a:p>
                      <a:pPr algn="r"/>
                      <a:r>
                        <a:rPr sz="1050" b="1">
                          <a:solidFill>
                            <a:srgbClr val="8A3F00"/>
                          </a:solidFill>
                          <a:latin typeface="Calibri"/>
                        </a:rPr>
                        <a:t>+5,587</a:t>
                      </a:r>
                    </a:p>
                  </a:txBody>
                  <a:tcPr>
                    <a:solidFill>
                      <a:srgbClr val="FFFFFF"/>
                    </a:solidFill>
                  </a:tcPr>
                </a:tc>
              </a:tr>
              <a:tr h="329184">
                <a:tc>
                  <a:txBody>
                    <a:bodyPr wrap="square" anchor="ctr" lIns="54864" rIns="54864" tIns="36576" bIns="36576"/>
                    <a:lstStyle/>
                    <a:p>
                      <a:pPr algn="l"/>
                      <a:r>
                        <a:rPr sz="1050" b="0">
                          <a:solidFill>
                            <a:srgbClr val="222222"/>
                          </a:solidFill>
                          <a:latin typeface="Calibri"/>
                        </a:rPr>
                        <a:t>XML/POM</a:t>
                      </a:r>
                    </a:p>
                  </a:txBody>
                  <a:tcPr>
                    <a:solidFill>
                      <a:srgbClr val="F4F7FB"/>
                    </a:solidFill>
                  </a:tcPr>
                </a:tc>
                <a:tc>
                  <a:txBody>
                    <a:bodyPr wrap="square" anchor="ctr" lIns="54864" rIns="54864" tIns="36576" bIns="36576"/>
                    <a:lstStyle/>
                    <a:p>
                      <a:pPr algn="r"/>
                      <a:r>
                        <a:rPr sz="1050" b="0">
                          <a:solidFill>
                            <a:srgbClr val="222222"/>
                          </a:solidFill>
                          <a:latin typeface="Calibri"/>
                        </a:rPr>
                        <a:t>23,034</a:t>
                      </a:r>
                    </a:p>
                  </a:txBody>
                  <a:tcPr>
                    <a:solidFill>
                      <a:srgbClr val="F4F7FB"/>
                    </a:solidFill>
                  </a:tcPr>
                </a:tc>
                <a:tc>
                  <a:txBody>
                    <a:bodyPr wrap="square" anchor="ctr" lIns="54864" rIns="54864" tIns="36576" bIns="36576"/>
                    <a:lstStyle/>
                    <a:p>
                      <a:pPr algn="r"/>
                      <a:r>
                        <a:rPr sz="1050" b="0">
                          <a:solidFill>
                            <a:srgbClr val="222222"/>
                          </a:solidFill>
                          <a:latin typeface="Calibri"/>
                        </a:rPr>
                        <a:t>23,113</a:t>
                      </a:r>
                    </a:p>
                  </a:txBody>
                  <a:tcPr>
                    <a:solidFill>
                      <a:srgbClr val="F4F7FB"/>
                    </a:solidFill>
                  </a:tcPr>
                </a:tc>
                <a:tc>
                  <a:txBody>
                    <a:bodyPr wrap="square" anchor="ctr" lIns="54864" rIns="54864" tIns="36576" bIns="36576"/>
                    <a:lstStyle/>
                    <a:p>
                      <a:pPr algn="r"/>
                      <a:r>
                        <a:rPr sz="1050" b="0">
                          <a:solidFill>
                            <a:srgbClr val="8A3F00"/>
                          </a:solidFill>
                          <a:latin typeface="Calibri"/>
                        </a:rPr>
                        <a:t>+79</a:t>
                      </a:r>
                    </a:p>
                  </a:txBody>
                  <a:tcPr>
                    <a:solidFill>
                      <a:srgbClr val="F4F7FB"/>
                    </a:solidFill>
                  </a:tcPr>
                </a:tc>
              </a:tr>
              <a:tr h="329184">
                <a:tc>
                  <a:txBody>
                    <a:bodyPr wrap="square" anchor="ctr" lIns="54864" rIns="54864" tIns="36576" bIns="36576"/>
                    <a:lstStyle/>
                    <a:p>
                      <a:pPr algn="l"/>
                      <a:r>
                        <a:rPr sz="1050" b="0">
                          <a:solidFill>
                            <a:srgbClr val="222222"/>
                          </a:solidFill>
                          <a:latin typeface="Calibri"/>
                        </a:rPr>
                        <a:t>Properties</a:t>
                      </a:r>
                    </a:p>
                  </a:txBody>
                  <a:tcPr>
                    <a:solidFill>
                      <a:srgbClr val="FFFFFF"/>
                    </a:solidFill>
                  </a:tcPr>
                </a:tc>
                <a:tc>
                  <a:txBody>
                    <a:bodyPr wrap="square" anchor="ctr" lIns="54864" rIns="54864" tIns="36576" bIns="36576"/>
                    <a:lstStyle/>
                    <a:p>
                      <a:pPr algn="r"/>
                      <a:r>
                        <a:rPr sz="1050" b="0">
                          <a:solidFill>
                            <a:srgbClr val="222222"/>
                          </a:solidFill>
                          <a:latin typeface="Calibri"/>
                        </a:rPr>
                        <a:t>31,933</a:t>
                      </a:r>
                    </a:p>
                  </a:txBody>
                  <a:tcPr>
                    <a:solidFill>
                      <a:srgbClr val="FFFFFF"/>
                    </a:solidFill>
                  </a:tcPr>
                </a:tc>
                <a:tc>
                  <a:txBody>
                    <a:bodyPr wrap="square" anchor="ctr" lIns="54864" rIns="54864" tIns="36576" bIns="36576"/>
                    <a:lstStyle/>
                    <a:p>
                      <a:pPr algn="r"/>
                      <a:r>
                        <a:rPr sz="1050" b="0">
                          <a:solidFill>
                            <a:srgbClr val="222222"/>
                          </a:solidFill>
                          <a:latin typeface="Calibri"/>
                        </a:rPr>
                        <a:t>31,937</a:t>
                      </a:r>
                    </a:p>
                  </a:txBody>
                  <a:tcPr>
                    <a:solidFill>
                      <a:srgbClr val="FFFFFF"/>
                    </a:solidFill>
                  </a:tcPr>
                </a:tc>
                <a:tc>
                  <a:txBody>
                    <a:bodyPr wrap="square" anchor="ctr" lIns="54864" rIns="54864" tIns="36576" bIns="36576"/>
                    <a:lstStyle/>
                    <a:p>
                      <a:pPr algn="r"/>
                      <a:r>
                        <a:rPr sz="1050" b="0">
                          <a:solidFill>
                            <a:srgbClr val="8A3F00"/>
                          </a:solidFill>
                          <a:latin typeface="Calibri"/>
                        </a:rPr>
                        <a:t>+4</a:t>
                      </a:r>
                    </a:p>
                  </a:txBody>
                  <a:tcPr>
                    <a:solidFill>
                      <a:srgbClr val="FFFFFF"/>
                    </a:solidFill>
                  </a:tcPr>
                </a:tc>
              </a:tr>
              <a:tr h="329184">
                <a:tc>
                  <a:txBody>
                    <a:bodyPr wrap="square" anchor="ctr" lIns="54864" rIns="54864" tIns="36576" bIns="36576"/>
                    <a:lstStyle/>
                    <a:p>
                      <a:pPr algn="l"/>
                      <a:r>
                        <a:rPr sz="1050" b="0">
                          <a:solidFill>
                            <a:srgbClr val="222222"/>
                          </a:solidFill>
                          <a:latin typeface="Calibri"/>
                        </a:rPr>
                        <a:t>Markdown</a:t>
                      </a:r>
                    </a:p>
                  </a:txBody>
                  <a:tcPr>
                    <a:solidFill>
                      <a:srgbClr val="F4F7FB"/>
                    </a:solidFill>
                  </a:tcPr>
                </a:tc>
                <a:tc>
                  <a:txBody>
                    <a:bodyPr wrap="square" anchor="ctr" lIns="54864" rIns="54864" tIns="36576" bIns="36576"/>
                    <a:lstStyle/>
                    <a:p>
                      <a:pPr algn="r"/>
                      <a:r>
                        <a:rPr sz="1050" b="0">
                          <a:solidFill>
                            <a:srgbClr val="222222"/>
                          </a:solidFill>
                          <a:latin typeface="Calibri"/>
                        </a:rPr>
                        <a:t>143</a:t>
                      </a:r>
                    </a:p>
                  </a:txBody>
                  <a:tcPr>
                    <a:solidFill>
                      <a:srgbClr val="F4F7FB"/>
                    </a:solidFill>
                  </a:tcPr>
                </a:tc>
                <a:tc>
                  <a:txBody>
                    <a:bodyPr wrap="square" anchor="ctr" lIns="54864" rIns="54864" tIns="36576" bIns="36576"/>
                    <a:lstStyle/>
                    <a:p>
                      <a:pPr algn="r"/>
                      <a:r>
                        <a:rPr sz="1050" b="0">
                          <a:solidFill>
                            <a:srgbClr val="222222"/>
                          </a:solidFill>
                          <a:latin typeface="Calibri"/>
                        </a:rPr>
                        <a:t>1,160</a:t>
                      </a:r>
                    </a:p>
                  </a:txBody>
                  <a:tcPr>
                    <a:solidFill>
                      <a:srgbClr val="F4F7FB"/>
                    </a:solidFill>
                  </a:tcPr>
                </a:tc>
                <a:tc>
                  <a:txBody>
                    <a:bodyPr wrap="square" anchor="ctr" lIns="54864" rIns="54864" tIns="36576" bIns="36576"/>
                    <a:lstStyle/>
                    <a:p>
                      <a:pPr algn="r"/>
                      <a:r>
                        <a:rPr sz="1050" b="0">
                          <a:solidFill>
                            <a:srgbClr val="8A3F00"/>
                          </a:solidFill>
                          <a:latin typeface="Calibri"/>
                        </a:rPr>
                        <a:t>+1,017</a:t>
                      </a:r>
                    </a:p>
                  </a:txBody>
                  <a:tcPr>
                    <a:solidFill>
                      <a:srgbClr val="F4F7FB"/>
                    </a:solidFill>
                  </a:tcPr>
                </a:tc>
              </a:tr>
              <a:tr h="329184">
                <a:tc>
                  <a:txBody>
                    <a:bodyPr wrap="square" anchor="ctr" lIns="54864" rIns="54864" tIns="36576" bIns="36576"/>
                    <a:lstStyle/>
                    <a:p>
                      <a:pPr algn="l"/>
                      <a:r>
                        <a:rPr sz="1050" b="0">
                          <a:solidFill>
                            <a:srgbClr val="222222"/>
                          </a:solidFill>
                          <a:latin typeface="Calibri"/>
                        </a:rPr>
                        <a:t>YAML</a:t>
                      </a:r>
                    </a:p>
                  </a:txBody>
                  <a:tcPr>
                    <a:solidFill>
                      <a:srgbClr val="FFFFFF"/>
                    </a:solidFill>
                  </a:tcPr>
                </a:tc>
                <a:tc>
                  <a:txBody>
                    <a:bodyPr wrap="square" anchor="ctr" lIns="54864" rIns="54864" tIns="36576" bIns="36576"/>
                    <a:lstStyle/>
                    <a:p>
                      <a:pPr algn="r"/>
                      <a:r>
                        <a:rPr sz="1050" b="0">
                          <a:solidFill>
                            <a:srgbClr val="222222"/>
                          </a:solidFill>
                          <a:latin typeface="Calibri"/>
                        </a:rPr>
                        <a:t>27</a:t>
                      </a:r>
                    </a:p>
                  </a:txBody>
                  <a:tcPr>
                    <a:solidFill>
                      <a:srgbClr val="FFFFFF"/>
                    </a:solidFill>
                  </a:tcPr>
                </a:tc>
                <a:tc>
                  <a:txBody>
                    <a:bodyPr wrap="square" anchor="ctr" lIns="54864" rIns="54864" tIns="36576" bIns="36576"/>
                    <a:lstStyle/>
                    <a:p>
                      <a:pPr algn="r"/>
                      <a:r>
                        <a:rPr sz="1050" b="0">
                          <a:solidFill>
                            <a:srgbClr val="222222"/>
                          </a:solidFill>
                          <a:latin typeface="Calibri"/>
                        </a:rPr>
                        <a:t>127</a:t>
                      </a:r>
                    </a:p>
                  </a:txBody>
                  <a:tcPr>
                    <a:solidFill>
                      <a:srgbClr val="FFFFFF"/>
                    </a:solidFill>
                  </a:tcPr>
                </a:tc>
                <a:tc>
                  <a:txBody>
                    <a:bodyPr wrap="square" anchor="ctr" lIns="54864" rIns="54864" tIns="36576" bIns="36576"/>
                    <a:lstStyle/>
                    <a:p>
                      <a:pPr algn="r"/>
                      <a:r>
                        <a:rPr sz="1050" b="0">
                          <a:solidFill>
                            <a:srgbClr val="8A3F00"/>
                          </a:solidFill>
                          <a:latin typeface="Calibri"/>
                        </a:rPr>
                        <a:t>+100</a:t>
                      </a:r>
                    </a:p>
                  </a:txBody>
                  <a:tcPr>
                    <a:solidFill>
                      <a:srgbClr val="FFFFFF"/>
                    </a:solidFill>
                  </a:tcPr>
                </a:tc>
              </a:tr>
              <a:tr h="329184">
                <a:tc>
                  <a:txBody>
                    <a:bodyPr wrap="square" anchor="ctr" lIns="54864" rIns="54864" tIns="36576" bIns="36576"/>
                    <a:lstStyle/>
                    <a:p>
                      <a:pPr algn="l"/>
                      <a:r>
                        <a:rPr sz="1050" b="0">
                          <a:solidFill>
                            <a:srgbClr val="222222"/>
                          </a:solidFill>
                          <a:latin typeface="Calibri"/>
                        </a:rPr>
                        <a:t>Shell</a:t>
                      </a:r>
                    </a:p>
                  </a:txBody>
                  <a:tcPr>
                    <a:solidFill>
                      <a:srgbClr val="F4F7FB"/>
                    </a:solidFill>
                  </a:tcPr>
                </a:tc>
                <a:tc>
                  <a:txBody>
                    <a:bodyPr wrap="square" anchor="ctr" lIns="54864" rIns="54864" tIns="36576" bIns="36576"/>
                    <a:lstStyle/>
                    <a:p>
                      <a:pPr algn="r"/>
                      <a:r>
                        <a:rPr sz="1050" b="0">
                          <a:solidFill>
                            <a:srgbClr val="222222"/>
                          </a:solidFill>
                          <a:latin typeface="Calibri"/>
                        </a:rPr>
                        <a:t>0</a:t>
                      </a:r>
                    </a:p>
                  </a:txBody>
                  <a:tcPr>
                    <a:solidFill>
                      <a:srgbClr val="F4F7FB"/>
                    </a:solidFill>
                  </a:tcPr>
                </a:tc>
                <a:tc>
                  <a:txBody>
                    <a:bodyPr wrap="square" anchor="ctr" lIns="54864" rIns="54864" tIns="36576" bIns="36576"/>
                    <a:lstStyle/>
                    <a:p>
                      <a:pPr algn="r"/>
                      <a:r>
                        <a:rPr sz="1050" b="0">
                          <a:solidFill>
                            <a:srgbClr val="222222"/>
                          </a:solidFill>
                          <a:latin typeface="Calibri"/>
                        </a:rPr>
                        <a:t>100</a:t>
                      </a:r>
                    </a:p>
                  </a:txBody>
                  <a:tcPr>
                    <a:solidFill>
                      <a:srgbClr val="F4F7FB"/>
                    </a:solidFill>
                  </a:tcPr>
                </a:tc>
                <a:tc>
                  <a:txBody>
                    <a:bodyPr wrap="square" anchor="ctr" lIns="54864" rIns="54864" tIns="36576" bIns="36576"/>
                    <a:lstStyle/>
                    <a:p>
                      <a:pPr algn="r"/>
                      <a:r>
                        <a:rPr sz="1050" b="0">
                          <a:solidFill>
                            <a:srgbClr val="8A3F00"/>
                          </a:solidFill>
                          <a:latin typeface="Calibri"/>
                        </a:rPr>
                        <a:t>+100</a:t>
                      </a:r>
                    </a:p>
                  </a:txBody>
                  <a:tcPr>
                    <a:solidFill>
                      <a:srgbClr val="F4F7FB"/>
                    </a:solidFill>
                  </a:tcPr>
                </a:tc>
              </a:tr>
              <a:tr h="329184">
                <a:tc>
                  <a:txBody>
                    <a:bodyPr wrap="square" anchor="ctr" lIns="54864" rIns="54864" tIns="36576" bIns="36576"/>
                    <a:lstStyle/>
                    <a:p>
                      <a:pPr algn="l"/>
                      <a:r>
                        <a:rPr sz="1050" b="0">
                          <a:solidFill>
                            <a:srgbClr val="222222"/>
                          </a:solidFill>
                          <a:latin typeface="Calibri"/>
                        </a:rPr>
                        <a:t>PowerShell</a:t>
                      </a:r>
                    </a:p>
                  </a:txBody>
                  <a:tcPr>
                    <a:solidFill>
                      <a:srgbClr val="FFFFFF"/>
                    </a:solidFill>
                  </a:tcPr>
                </a:tc>
                <a:tc>
                  <a:txBody>
                    <a:bodyPr wrap="square" anchor="ctr" lIns="54864" rIns="54864" tIns="36576" bIns="36576"/>
                    <a:lstStyle/>
                    <a:p>
                      <a:pPr algn="r"/>
                      <a:r>
                        <a:rPr sz="1050" b="0">
                          <a:solidFill>
                            <a:srgbClr val="222222"/>
                          </a:solidFill>
                          <a:latin typeface="Calibri"/>
                        </a:rPr>
                        <a:t>0</a:t>
                      </a:r>
                    </a:p>
                  </a:txBody>
                  <a:tcPr>
                    <a:solidFill>
                      <a:srgbClr val="FFFFFF"/>
                    </a:solidFill>
                  </a:tcPr>
                </a:tc>
                <a:tc>
                  <a:txBody>
                    <a:bodyPr wrap="square" anchor="ctr" lIns="54864" rIns="54864" tIns="36576" bIns="36576"/>
                    <a:lstStyle/>
                    <a:p>
                      <a:pPr algn="r"/>
                      <a:r>
                        <a:rPr sz="1050" b="0">
                          <a:solidFill>
                            <a:srgbClr val="222222"/>
                          </a:solidFill>
                          <a:latin typeface="Calibri"/>
                        </a:rPr>
                        <a:t>58</a:t>
                      </a:r>
                    </a:p>
                  </a:txBody>
                  <a:tcPr>
                    <a:solidFill>
                      <a:srgbClr val="FFFFFF"/>
                    </a:solidFill>
                  </a:tcPr>
                </a:tc>
                <a:tc>
                  <a:txBody>
                    <a:bodyPr wrap="square" anchor="ctr" lIns="54864" rIns="54864" tIns="36576" bIns="36576"/>
                    <a:lstStyle/>
                    <a:p>
                      <a:pPr algn="r"/>
                      <a:r>
                        <a:rPr sz="1050" b="0">
                          <a:solidFill>
                            <a:srgbClr val="8A3F00"/>
                          </a:solidFill>
                          <a:latin typeface="Calibri"/>
                        </a:rPr>
                        <a:t>+58</a:t>
                      </a:r>
                    </a:p>
                  </a:txBody>
                  <a:tcPr>
                    <a:solidFill>
                      <a:srgbClr val="FFFFFF"/>
                    </a:solidFill>
                  </a:tcPr>
                </a:tc>
              </a:tr>
              <a:tr h="329184">
                <a:tc>
                  <a:txBody>
                    <a:bodyPr wrap="square" anchor="ctr" lIns="54864" rIns="54864" tIns="36576" bIns="36576"/>
                    <a:lstStyle/>
                    <a:p>
                      <a:pPr algn="l"/>
                      <a:r>
                        <a:rPr sz="1050" b="0">
                          <a:solidFill>
                            <a:srgbClr val="222222"/>
                          </a:solidFill>
                          <a:latin typeface="Calibri"/>
                        </a:rPr>
                        <a:t>JSON</a:t>
                      </a:r>
                    </a:p>
                  </a:txBody>
                  <a:tcPr>
                    <a:solidFill>
                      <a:srgbClr val="F4F7FB"/>
                    </a:solidFill>
                  </a:tcPr>
                </a:tc>
                <a:tc>
                  <a:txBody>
                    <a:bodyPr wrap="square" anchor="ctr" lIns="54864" rIns="54864" tIns="36576" bIns="36576"/>
                    <a:lstStyle/>
                    <a:p>
                      <a:pPr algn="r"/>
                      <a:r>
                        <a:rPr sz="1050" b="0">
                          <a:solidFill>
                            <a:srgbClr val="222222"/>
                          </a:solidFill>
                          <a:latin typeface="Calibri"/>
                        </a:rPr>
                        <a:t>6,003</a:t>
                      </a:r>
                    </a:p>
                  </a:txBody>
                  <a:tcPr>
                    <a:solidFill>
                      <a:srgbClr val="F4F7FB"/>
                    </a:solidFill>
                  </a:tcPr>
                </a:tc>
                <a:tc>
                  <a:txBody>
                    <a:bodyPr wrap="square" anchor="ctr" lIns="54864" rIns="54864" tIns="36576" bIns="36576"/>
                    <a:lstStyle/>
                    <a:p>
                      <a:pPr algn="r"/>
                      <a:r>
                        <a:rPr sz="1050" b="0">
                          <a:solidFill>
                            <a:srgbClr val="222222"/>
                          </a:solidFill>
                          <a:latin typeface="Calibri"/>
                        </a:rPr>
                        <a:t>6,003</a:t>
                      </a:r>
                    </a:p>
                  </a:txBody>
                  <a:tcPr>
                    <a:solidFill>
                      <a:srgbClr val="F4F7FB"/>
                    </a:solidFill>
                  </a:tcPr>
                </a:tc>
                <a:tc>
                  <a:txBody>
                    <a:bodyPr wrap="square" anchor="ctr" lIns="54864" rIns="54864" tIns="36576" bIns="36576"/>
                    <a:lstStyle/>
                    <a:p>
                      <a:pPr algn="r"/>
                      <a:r>
                        <a:rPr sz="1050" b="0">
                          <a:solidFill>
                            <a:srgbClr val="222222"/>
                          </a:solidFill>
                          <a:latin typeface="Calibri"/>
                        </a:rPr>
                        <a:t>+0</a:t>
                      </a:r>
                    </a:p>
                  </a:txBody>
                  <a:tcPr>
                    <a:solidFill>
                      <a:srgbClr val="F4F7FB"/>
                    </a:solidFill>
                  </a:tcPr>
                </a:tc>
              </a:tr>
              <a:tr h="329184">
                <a:tc>
                  <a:txBody>
                    <a:bodyPr wrap="square" anchor="ctr" lIns="54864" rIns="54864" tIns="36576" bIns="36576"/>
                    <a:lstStyle/>
                    <a:p>
                      <a:pPr algn="l"/>
                      <a:r>
                        <a:rPr sz="1050" b="0">
                          <a:solidFill>
                            <a:srgbClr val="222222"/>
                          </a:solidFill>
                          <a:latin typeface="Calibri"/>
                        </a:rPr>
                        <a:t>JSONL</a:t>
                      </a:r>
                    </a:p>
                  </a:txBody>
                  <a:tcPr>
                    <a:solidFill>
                      <a:srgbClr val="FFFFFF"/>
                    </a:solidFill>
                  </a:tcPr>
                </a:tc>
                <a:tc>
                  <a:txBody>
                    <a:bodyPr wrap="square" anchor="ctr" lIns="54864" rIns="54864" tIns="36576" bIns="36576"/>
                    <a:lstStyle/>
                    <a:p>
                      <a:pPr algn="r"/>
                      <a:r>
                        <a:rPr sz="1050" b="0">
                          <a:solidFill>
                            <a:srgbClr val="222222"/>
                          </a:solidFill>
                          <a:latin typeface="Calibri"/>
                        </a:rPr>
                        <a:t>0</a:t>
                      </a:r>
                    </a:p>
                  </a:txBody>
                  <a:tcPr>
                    <a:solidFill>
                      <a:srgbClr val="FFFFFF"/>
                    </a:solidFill>
                  </a:tcPr>
                </a:tc>
                <a:tc>
                  <a:txBody>
                    <a:bodyPr wrap="square" anchor="ctr" lIns="54864" rIns="54864" tIns="36576" bIns="36576"/>
                    <a:lstStyle/>
                    <a:p>
                      <a:pPr algn="r"/>
                      <a:r>
                        <a:rPr sz="1050" b="0">
                          <a:solidFill>
                            <a:srgbClr val="222222"/>
                          </a:solidFill>
                          <a:latin typeface="Calibri"/>
                        </a:rPr>
                        <a:t>47</a:t>
                      </a:r>
                    </a:p>
                  </a:txBody>
                  <a:tcPr>
                    <a:solidFill>
                      <a:srgbClr val="FFFFFF"/>
                    </a:solidFill>
                  </a:tcPr>
                </a:tc>
                <a:tc>
                  <a:txBody>
                    <a:bodyPr wrap="square" anchor="ctr" lIns="54864" rIns="54864" tIns="36576" bIns="36576"/>
                    <a:lstStyle/>
                    <a:p>
                      <a:pPr algn="r"/>
                      <a:r>
                        <a:rPr sz="1050" b="0">
                          <a:solidFill>
                            <a:srgbClr val="8A3F00"/>
                          </a:solidFill>
                          <a:latin typeface="Calibri"/>
                        </a:rPr>
                        <a:t>+47</a:t>
                      </a:r>
                    </a:p>
                  </a:txBody>
                  <a:tcPr>
                    <a:solidFill>
                      <a:srgbClr val="FFFFFF"/>
                    </a:solidFill>
                  </a:tcPr>
                </a:tc>
              </a:tr>
              <a:tr h="329184">
                <a:tc>
                  <a:txBody>
                    <a:bodyPr wrap="square" anchor="ctr" lIns="54864" rIns="54864" tIns="36576" bIns="36576"/>
                    <a:lstStyle/>
                    <a:p>
                      <a:pPr algn="l"/>
                      <a:r>
                        <a:rPr sz="1050" b="0">
                          <a:solidFill>
                            <a:srgbClr val="222222"/>
                          </a:solidFill>
                          <a:latin typeface="Calibri"/>
                        </a:rPr>
                        <a:t>CSV</a:t>
                      </a:r>
                    </a:p>
                  </a:txBody>
                  <a:tcPr>
                    <a:solidFill>
                      <a:srgbClr val="F4F7FB"/>
                    </a:solidFill>
                  </a:tcPr>
                </a:tc>
                <a:tc>
                  <a:txBody>
                    <a:bodyPr wrap="square" anchor="ctr" lIns="54864" rIns="54864" tIns="36576" bIns="36576"/>
                    <a:lstStyle/>
                    <a:p>
                      <a:pPr algn="r"/>
                      <a:r>
                        <a:rPr sz="1050" b="0">
                          <a:solidFill>
                            <a:srgbClr val="222222"/>
                          </a:solidFill>
                          <a:latin typeface="Calibri"/>
                        </a:rPr>
                        <a:t>0</a:t>
                      </a:r>
                    </a:p>
                  </a:txBody>
                  <a:tcPr>
                    <a:solidFill>
                      <a:srgbClr val="F4F7FB"/>
                    </a:solidFill>
                  </a:tcPr>
                </a:tc>
                <a:tc>
                  <a:txBody>
                    <a:bodyPr wrap="square" anchor="ctr" lIns="54864" rIns="54864" tIns="36576" bIns="36576"/>
                    <a:lstStyle/>
                    <a:p>
                      <a:pPr algn="r"/>
                      <a:r>
                        <a:rPr sz="1050" b="0">
                          <a:solidFill>
                            <a:srgbClr val="222222"/>
                          </a:solidFill>
                          <a:latin typeface="Calibri"/>
                        </a:rPr>
                        <a:t>126</a:t>
                      </a:r>
                    </a:p>
                  </a:txBody>
                  <a:tcPr>
                    <a:solidFill>
                      <a:srgbClr val="F4F7FB"/>
                    </a:solidFill>
                  </a:tcPr>
                </a:tc>
                <a:tc>
                  <a:txBody>
                    <a:bodyPr wrap="square" anchor="ctr" lIns="54864" rIns="54864" tIns="36576" bIns="36576"/>
                    <a:lstStyle/>
                    <a:p>
                      <a:pPr algn="r"/>
                      <a:r>
                        <a:rPr sz="1050" b="0">
                          <a:solidFill>
                            <a:srgbClr val="8A3F00"/>
                          </a:solidFill>
                          <a:latin typeface="Calibri"/>
                        </a:rPr>
                        <a:t>+126</a:t>
                      </a:r>
                    </a:p>
                  </a:txBody>
                  <a:tcPr>
                    <a:solidFill>
                      <a:srgbClr val="F4F7FB"/>
                    </a:solidFill>
                  </a:tcPr>
                </a:tc>
              </a:tr>
            </a:tbl>
          </a:graphicData>
        </a:graphic>
      </p:graphicFrame>
      <p:sp>
        <p:nvSpPr>
          <p:cNvPr id="5" name="Rounded Rectangle 4"/>
          <p:cNvSpPr/>
          <p:nvPr/>
        </p:nvSpPr>
        <p:spPr>
          <a:xfrm>
            <a:off x="6903720" y="1188720"/>
            <a:ext cx="4846320" cy="9601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r>
              <a:rPr sz="2400" b="1">
                <a:solidFill>
                  <a:srgbClr val="8A3F00"/>
                </a:solidFill>
                <a:latin typeface="Calibri"/>
              </a:rPr>
              <a:t>5,364</a:t>
            </a:r>
          </a:p>
          <a:p>
            <a:pPr algn="l"/>
            <a:r>
              <a:rPr sz="1050" b="0">
                <a:solidFill>
                  <a:srgbClr val="222222"/>
                </a:solidFill>
                <a:latin typeface="Calibri"/>
              </a:rPr>
              <a:t>lines of Java in the new Prompter module (core/prompter, 47 files), including its tests</a:t>
            </a:r>
          </a:p>
        </p:txBody>
      </p:sp>
      <p:sp>
        <p:nvSpPr>
          <p:cNvPr id="6" name="Rounded Rectangle 5"/>
          <p:cNvSpPr/>
          <p:nvPr/>
        </p:nvSpPr>
        <p:spPr>
          <a:xfrm>
            <a:off x="6903720" y="2258568"/>
            <a:ext cx="4846320" cy="9601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r>
              <a:rPr sz="2400" b="1">
                <a:solidFill>
                  <a:srgbClr val="8A3F00"/>
                </a:solidFill>
                <a:latin typeface="Calibri"/>
              </a:rPr>
              <a:t>10</a:t>
            </a:r>
          </a:p>
          <a:p>
            <a:pPr algn="l"/>
            <a:r>
              <a:rPr sz="1050" b="0">
                <a:solidFill>
                  <a:srgbClr val="222222"/>
                </a:solidFill>
                <a:latin typeface="Calibri"/>
              </a:rPr>
              <a:t>of Alice's own Java files edited, +74 / -30 lines: Prompter slot, branding, reports, two small hooks; plus 179 lines of new StoryStage code inside core/ide</a:t>
            </a:r>
          </a:p>
        </p:txBody>
      </p:sp>
      <p:sp>
        <p:nvSpPr>
          <p:cNvPr id="7" name="Rounded Rectangle 6"/>
          <p:cNvSpPr/>
          <p:nvPr/>
        </p:nvSpPr>
        <p:spPr>
          <a:xfrm>
            <a:off x="6903720" y="3328415"/>
            <a:ext cx="4846320" cy="9601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r>
              <a:rPr sz="2400" b="1">
                <a:solidFill>
                  <a:srgbClr val="8A3F00"/>
                </a:solidFill>
                <a:latin typeface="Calibri"/>
              </a:rPr>
              <a:t>91</a:t>
            </a:r>
          </a:p>
          <a:p>
            <a:pPr algn="l"/>
            <a:r>
              <a:rPr sz="1050" b="0">
                <a:solidFill>
                  <a:srgbClr val="222222"/>
                </a:solidFill>
                <a:latin typeface="Calibri"/>
              </a:rPr>
              <a:t>files changed in all, +7,367 / -157 lines (code, build, CI, docs, tests)</a:t>
            </a:r>
          </a:p>
        </p:txBody>
      </p:sp>
      <p:sp>
        <p:nvSpPr>
          <p:cNvPr id="8" name="Rounded Rectangle 7"/>
          <p:cNvSpPr/>
          <p:nvPr/>
        </p:nvSpPr>
        <p:spPr>
          <a:xfrm>
            <a:off x="6903720" y="4398264"/>
            <a:ext cx="4846320" cy="9601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l"/>
            <a:r>
              <a:rPr sz="2400" b="1">
                <a:solidFill>
                  <a:srgbClr val="8A3F00"/>
                </a:solidFill>
                <a:latin typeface="Calibri"/>
              </a:rPr>
              <a:t>1.1%</a:t>
            </a:r>
          </a:p>
          <a:p>
            <a:pPr algn="l"/>
            <a:r>
              <a:rPr sz="1050" b="0">
                <a:solidFill>
                  <a:srgbClr val="222222"/>
                </a:solidFill>
                <a:latin typeface="Calibri"/>
              </a:rPr>
              <a:t>growth in Java: Alice's code is kept almost as it was</a:t>
            </a:r>
          </a:p>
        </p:txBody>
      </p:sp>
      <p:sp>
        <p:nvSpPr>
          <p:cNvPr id="9" name="TextBox 8"/>
          <p:cNvSpPr txBox="1"/>
          <p:nvPr/>
        </p:nvSpPr>
        <p:spPr>
          <a:xfrm>
            <a:off x="274320" y="6355080"/>
            <a:ext cx="11612880" cy="365760"/>
          </a:xfrm>
          <a:prstGeom prst="rect">
            <a:avLst/>
          </a:prstGeom>
          <a:noFill/>
        </p:spPr>
        <p:txBody>
          <a:bodyPr wrap="square" anchor="ctr" lIns="36576" rIns="36576" tIns="18288" bIns="18288">
            <a:spAutoFit/>
          </a:bodyPr>
          <a:lstStyle/>
          <a:p>
            <a:pPr algn="l"/>
            <a:r>
              <a:rPr sz="850" b="0">
                <a:solidFill>
                  <a:srgbClr val="5F5F5F"/>
                </a:solidFill>
                <a:latin typeface="Calibri"/>
              </a:rPr>
              <a:t>Lines are physical lines, including comments and blank lines. Binary and Git LFS files (models, textures, natives) are not counted.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StoryStage 2: system architecture</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A rewrite on web technology. One React + TypeScript app runs in Tauri on every device; the Prompter runs only in the apps.</a:t>
            </a:r>
          </a:p>
        </p:txBody>
      </p:sp>
      <p:sp>
        <p:nvSpPr>
          <p:cNvPr id="4" name="Rounded Rectangle 3"/>
          <p:cNvSpPr/>
          <p:nvPr/>
        </p:nvSpPr>
        <p:spPr>
          <a:xfrm>
            <a:off x="8732520" y="91440"/>
            <a:ext cx="292608" cy="182880"/>
          </a:xfrm>
          <a:prstGeom prst="roundRect">
            <a:avLst/>
          </a:prstGeom>
          <a:solidFill>
            <a:srgbClr val="FFF0A0"/>
          </a:solidFill>
          <a:ln w="12700">
            <a:solidFill>
              <a:srgbClr val="C9A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98280" y="73152"/>
            <a:ext cx="2926080" cy="228600"/>
          </a:xfrm>
          <a:prstGeom prst="rect">
            <a:avLst/>
          </a:prstGeom>
          <a:noFill/>
        </p:spPr>
        <p:txBody>
          <a:bodyPr wrap="square" anchor="t" lIns="0" rIns="0" tIns="0" bIns="0">
            <a:spAutoFit/>
          </a:bodyPr>
          <a:lstStyle/>
          <a:p>
            <a:pPr algn="l"/>
            <a:r>
              <a:rPr sz="900" b="0" i="0">
                <a:solidFill>
                  <a:srgbClr val="222222"/>
                </a:solidFill>
                <a:latin typeface="Calibri"/>
              </a:rPr>
              <a:t>Alice's models, converted (if CMU agrees)</a:t>
            </a:r>
          </a:p>
        </p:txBody>
      </p:sp>
      <p:sp>
        <p:nvSpPr>
          <p:cNvPr id="6" name="Rounded Rectangle 5"/>
          <p:cNvSpPr/>
          <p:nvPr/>
        </p:nvSpPr>
        <p:spPr>
          <a:xfrm>
            <a:off x="8732520" y="320040"/>
            <a:ext cx="292608" cy="182880"/>
          </a:xfrm>
          <a:prstGeom prst="roundRect">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301752"/>
            <a:ext cx="2926080" cy="228600"/>
          </a:xfrm>
          <a:prstGeom prst="rect">
            <a:avLst/>
          </a:prstGeom>
          <a:noFill/>
        </p:spPr>
        <p:txBody>
          <a:bodyPr wrap="square" anchor="t" lIns="0" rIns="0" tIns="0" bIns="0">
            <a:spAutoFit/>
          </a:bodyPr>
          <a:lstStyle/>
          <a:p>
            <a:pPr algn="l"/>
            <a:r>
              <a:rPr sz="900" b="0" i="0">
                <a:solidFill>
                  <a:srgbClr val="222222"/>
                </a:solidFill>
                <a:latin typeface="Calibri"/>
              </a:rPr>
              <a:t>New code that follows Alice's design</a:t>
            </a:r>
          </a:p>
        </p:txBody>
      </p:sp>
      <p:sp>
        <p:nvSpPr>
          <p:cNvPr id="8" name="Rounded Rectangle 7"/>
          <p:cNvSpPr/>
          <p:nvPr/>
        </p:nvSpPr>
        <p:spPr>
          <a:xfrm>
            <a:off x="8732520" y="548640"/>
            <a:ext cx="292608" cy="182880"/>
          </a:xfrm>
          <a:prstGeom prst="roundRect">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530352"/>
            <a:ext cx="2926080" cy="228600"/>
          </a:xfrm>
          <a:prstGeom prst="rect">
            <a:avLst/>
          </a:prstGeom>
          <a:noFill/>
        </p:spPr>
        <p:txBody>
          <a:bodyPr wrap="square" anchor="t" lIns="0" rIns="0" tIns="0" bIns="0">
            <a:spAutoFit/>
          </a:bodyPr>
          <a:lstStyle/>
          <a:p>
            <a:pPr algn="l"/>
            <a:r>
              <a:rPr sz="900" b="0" i="0">
                <a:solidFill>
                  <a:srgbClr val="222222"/>
                </a:solidFill>
                <a:latin typeface="Calibri"/>
              </a:rPr>
              <a:t>StoryStage 1 design, rebuilt</a:t>
            </a:r>
          </a:p>
        </p:txBody>
      </p:sp>
      <p:sp>
        <p:nvSpPr>
          <p:cNvPr id="10" name="Rounded Rectangle 9"/>
          <p:cNvSpPr/>
          <p:nvPr/>
        </p:nvSpPr>
        <p:spPr>
          <a:xfrm>
            <a:off x="8732520" y="777240"/>
            <a:ext cx="292608" cy="182880"/>
          </a:xfrm>
          <a:prstGeom prst="roundRect">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758952"/>
            <a:ext cx="2926080" cy="228600"/>
          </a:xfrm>
          <a:prstGeom prst="rect">
            <a:avLst/>
          </a:prstGeom>
          <a:noFill/>
        </p:spPr>
        <p:txBody>
          <a:bodyPr wrap="square" anchor="t" lIns="0" rIns="0" tIns="0" bIns="0">
            <a:spAutoFit/>
          </a:bodyPr>
          <a:lstStyle/>
          <a:p>
            <a:pPr algn="l"/>
            <a:r>
              <a:rPr sz="900" b="0" i="0">
                <a:solidFill>
                  <a:srgbClr val="222222"/>
                </a:solidFill>
                <a:latin typeface="Calibri"/>
              </a:rPr>
              <a:t>New in StoryStage 2</a:t>
            </a:r>
          </a:p>
        </p:txBody>
      </p:sp>
      <p:sp>
        <p:nvSpPr>
          <p:cNvPr id="12" name="Rectangle 11"/>
          <p:cNvSpPr/>
          <p:nvPr/>
        </p:nvSpPr>
        <p:spPr>
          <a:xfrm>
            <a:off x="274320" y="1051560"/>
            <a:ext cx="11640312" cy="51206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078992"/>
            <a:ext cx="1143000" cy="457200"/>
          </a:xfrm>
          <a:prstGeom prst="rect">
            <a:avLst/>
          </a:prstGeom>
          <a:noFill/>
        </p:spPr>
        <p:txBody>
          <a:bodyPr wrap="square" anchor="ctr" lIns="0" rIns="0" tIns="0" bIns="0">
            <a:spAutoFit/>
          </a:bodyPr>
          <a:lstStyle/>
          <a:p>
            <a:pPr algn="l"/>
            <a:r>
              <a:rPr sz="950" b="1" i="0">
                <a:solidFill>
                  <a:srgbClr val="5F5F5F"/>
                </a:solidFill>
                <a:latin typeface="Calibri"/>
              </a:rPr>
              <a:t>Delivery</a:t>
            </a:r>
          </a:p>
        </p:txBody>
      </p:sp>
      <p:sp>
        <p:nvSpPr>
          <p:cNvPr id="14" name="Rectangle 13"/>
          <p:cNvSpPr/>
          <p:nvPr/>
        </p:nvSpPr>
        <p:spPr>
          <a:xfrm>
            <a:off x="274320" y="1600200"/>
            <a:ext cx="11640312" cy="566928"/>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627632"/>
            <a:ext cx="1143000" cy="512064"/>
          </a:xfrm>
          <a:prstGeom prst="rect">
            <a:avLst/>
          </a:prstGeom>
          <a:noFill/>
        </p:spPr>
        <p:txBody>
          <a:bodyPr wrap="square" anchor="ctr" lIns="0" rIns="0" tIns="0" bIns="0">
            <a:spAutoFit/>
          </a:bodyPr>
          <a:lstStyle/>
          <a:p>
            <a:pPr algn="l"/>
            <a:r>
              <a:rPr sz="950" b="1" i="0">
                <a:solidFill>
                  <a:srgbClr val="5F5F5F"/>
                </a:solidFill>
                <a:latin typeface="Calibri"/>
              </a:rPr>
              <a:t>Native layer</a:t>
            </a:r>
          </a:p>
          <a:p>
            <a:pPr algn="l"/>
            <a:r>
              <a:rPr sz="950" b="1" i="0">
                <a:solidFill>
                  <a:srgbClr val="5F5F5F"/>
                </a:solidFill>
                <a:latin typeface="Calibri"/>
              </a:rPr>
              <a:t>(Rust, Tauri)</a:t>
            </a:r>
          </a:p>
        </p:txBody>
      </p:sp>
      <p:sp>
        <p:nvSpPr>
          <p:cNvPr id="16" name="Rectangle 15"/>
          <p:cNvSpPr/>
          <p:nvPr/>
        </p:nvSpPr>
        <p:spPr>
          <a:xfrm>
            <a:off x="274320" y="2203704"/>
            <a:ext cx="11640312" cy="566928"/>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231136"/>
            <a:ext cx="1143000" cy="512064"/>
          </a:xfrm>
          <a:prstGeom prst="rect">
            <a:avLst/>
          </a:prstGeom>
          <a:noFill/>
        </p:spPr>
        <p:txBody>
          <a:bodyPr wrap="square" anchor="ctr" lIns="0" rIns="0" tIns="0" bIns="0">
            <a:spAutoFit/>
          </a:bodyPr>
          <a:lstStyle/>
          <a:p>
            <a:pPr algn="l"/>
            <a:r>
              <a:rPr sz="950" b="1" i="0">
                <a:solidFill>
                  <a:srgbClr val="5F5F5F"/>
                </a:solidFill>
                <a:latin typeface="Calibri"/>
              </a:rPr>
              <a:t>App screens</a:t>
            </a:r>
          </a:p>
          <a:p>
            <a:pPr algn="l"/>
            <a:r>
              <a:rPr sz="950" b="1" i="0">
                <a:solidFill>
                  <a:srgbClr val="5F5F5F"/>
                </a:solidFill>
                <a:latin typeface="Calibri"/>
              </a:rPr>
              <a:t>(React + TS)</a:t>
            </a:r>
          </a:p>
        </p:txBody>
      </p:sp>
      <p:sp>
        <p:nvSpPr>
          <p:cNvPr id="18" name="Rectangle 17"/>
          <p:cNvSpPr/>
          <p:nvPr/>
        </p:nvSpPr>
        <p:spPr>
          <a:xfrm>
            <a:off x="274320" y="2807208"/>
            <a:ext cx="11640312" cy="51206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2834640"/>
            <a:ext cx="1143000" cy="457200"/>
          </a:xfrm>
          <a:prstGeom prst="rect">
            <a:avLst/>
          </a:prstGeom>
          <a:noFill/>
        </p:spPr>
        <p:txBody>
          <a:bodyPr wrap="square" anchor="ctr" lIns="0" rIns="0" tIns="0" bIns="0">
            <a:spAutoFit/>
          </a:bodyPr>
          <a:lstStyle/>
          <a:p>
            <a:pPr algn="l"/>
            <a:r>
              <a:rPr sz="950" b="1" i="0">
                <a:solidFill>
                  <a:srgbClr val="5F5F5F"/>
                </a:solidFill>
                <a:latin typeface="Calibri"/>
              </a:rPr>
              <a:t>Editors</a:t>
            </a:r>
          </a:p>
        </p:txBody>
      </p:sp>
      <p:sp>
        <p:nvSpPr>
          <p:cNvPr id="20" name="Rectangle 19"/>
          <p:cNvSpPr/>
          <p:nvPr/>
        </p:nvSpPr>
        <p:spPr>
          <a:xfrm>
            <a:off x="274320" y="3355848"/>
            <a:ext cx="11640312" cy="60350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383280"/>
            <a:ext cx="1143000" cy="548640"/>
          </a:xfrm>
          <a:prstGeom prst="rect">
            <a:avLst/>
          </a:prstGeom>
          <a:noFill/>
        </p:spPr>
        <p:txBody>
          <a:bodyPr wrap="square" anchor="ctr" lIns="0" rIns="0" tIns="0" bIns="0">
            <a:spAutoFit/>
          </a:bodyPr>
          <a:lstStyle/>
          <a:p>
            <a:pPr algn="l"/>
            <a:r>
              <a:rPr sz="950" b="1" i="0">
                <a:solidFill>
                  <a:srgbClr val="5F5F5F"/>
                </a:solidFill>
                <a:latin typeface="Calibri"/>
              </a:rPr>
              <a:t>Language and</a:t>
            </a:r>
          </a:p>
          <a:p>
            <a:pPr algn="l"/>
            <a:r>
              <a:rPr sz="950" b="1" i="0">
                <a:solidFill>
                  <a:srgbClr val="5F5F5F"/>
                </a:solidFill>
                <a:latin typeface="Calibri"/>
              </a:rPr>
              <a:t>projects</a:t>
            </a:r>
          </a:p>
        </p:txBody>
      </p:sp>
      <p:sp>
        <p:nvSpPr>
          <p:cNvPr id="22" name="Rectangle 21"/>
          <p:cNvSpPr/>
          <p:nvPr/>
        </p:nvSpPr>
        <p:spPr>
          <a:xfrm>
            <a:off x="274320" y="3995928"/>
            <a:ext cx="11640312" cy="60350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4023360"/>
            <a:ext cx="1143000" cy="548640"/>
          </a:xfrm>
          <a:prstGeom prst="rect">
            <a:avLst/>
          </a:prstGeom>
          <a:noFill/>
        </p:spPr>
        <p:txBody>
          <a:bodyPr wrap="square" anchor="ctr" lIns="0" rIns="0" tIns="0" bIns="0">
            <a:spAutoFit/>
          </a:bodyPr>
          <a:lstStyle/>
          <a:p>
            <a:pPr algn="l"/>
            <a:r>
              <a:rPr sz="950" b="1" i="0">
                <a:solidFill>
                  <a:srgbClr val="5F5F5F"/>
                </a:solidFill>
                <a:latin typeface="Calibri"/>
              </a:rPr>
              <a:t>3D and media</a:t>
            </a:r>
          </a:p>
        </p:txBody>
      </p:sp>
      <p:sp>
        <p:nvSpPr>
          <p:cNvPr id="24" name="Rectangle 23"/>
          <p:cNvSpPr/>
          <p:nvPr/>
        </p:nvSpPr>
        <p:spPr>
          <a:xfrm>
            <a:off x="274320" y="4636008"/>
            <a:ext cx="11640312" cy="566928"/>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4663440"/>
            <a:ext cx="1143000" cy="512064"/>
          </a:xfrm>
          <a:prstGeom prst="rect">
            <a:avLst/>
          </a:prstGeom>
          <a:noFill/>
        </p:spPr>
        <p:txBody>
          <a:bodyPr wrap="square" anchor="ctr" lIns="0" rIns="0" tIns="0" bIns="0">
            <a:spAutoFit/>
          </a:bodyPr>
          <a:lstStyle/>
          <a:p>
            <a:pPr algn="l"/>
            <a:r>
              <a:rPr sz="950" b="1" i="0">
                <a:solidFill>
                  <a:srgbClr val="5F5F5F"/>
                </a:solidFill>
                <a:latin typeface="Calibri"/>
              </a:rPr>
              <a:t>Speech and</a:t>
            </a:r>
          </a:p>
          <a:p>
            <a:pPr algn="l"/>
            <a:r>
              <a:rPr sz="950" b="1" i="0">
                <a:solidFill>
                  <a:srgbClr val="5F5F5F"/>
                </a:solidFill>
                <a:latin typeface="Calibri"/>
              </a:rPr>
              <a:t>Prompter</a:t>
            </a:r>
          </a:p>
        </p:txBody>
      </p:sp>
      <p:sp>
        <p:nvSpPr>
          <p:cNvPr id="26" name="Rectangle 25"/>
          <p:cNvSpPr/>
          <p:nvPr/>
        </p:nvSpPr>
        <p:spPr>
          <a:xfrm>
            <a:off x="274320" y="5239512"/>
            <a:ext cx="11640312" cy="4572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5266944"/>
            <a:ext cx="1143000" cy="402336"/>
          </a:xfrm>
          <a:prstGeom prst="rect">
            <a:avLst/>
          </a:prstGeom>
          <a:noFill/>
        </p:spPr>
        <p:txBody>
          <a:bodyPr wrap="square" anchor="ctr" lIns="0" rIns="0" tIns="0" bIns="0">
            <a:spAutoFit/>
          </a:bodyPr>
          <a:lstStyle/>
          <a:p>
            <a:pPr algn="l"/>
            <a:r>
              <a:rPr sz="950" b="1" i="0">
                <a:solidFill>
                  <a:srgbClr val="5F5F5F"/>
                </a:solidFill>
                <a:latin typeface="Calibri"/>
              </a:rPr>
              <a:t>Quality</a:t>
            </a:r>
          </a:p>
        </p:txBody>
      </p:sp>
      <p:sp>
        <p:nvSpPr>
          <p:cNvPr id="28" name="Rounded Rectangle 27"/>
          <p:cNvSpPr/>
          <p:nvPr/>
        </p:nvSpPr>
        <p:spPr>
          <a:xfrm>
            <a:off x="1463040" y="1088136"/>
            <a:ext cx="252602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Tauri desktop app</a:t>
            </a:r>
          </a:p>
          <a:p>
            <a:pPr algn="ctr"/>
            <a:r>
              <a:rPr sz="800" b="0">
                <a:solidFill>
                  <a:srgbClr val="222222"/>
                </a:solidFill>
                <a:latin typeface="Calibri"/>
              </a:rPr>
              <a:t>Windows · macOS</a:t>
            </a:r>
          </a:p>
        </p:txBody>
      </p:sp>
      <p:sp>
        <p:nvSpPr>
          <p:cNvPr id="29" name="Rounded Rectangle 28"/>
          <p:cNvSpPr/>
          <p:nvPr/>
        </p:nvSpPr>
        <p:spPr>
          <a:xfrm>
            <a:off x="4080510" y="1088136"/>
            <a:ext cx="252602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Tauri iOS app</a:t>
            </a:r>
          </a:p>
          <a:p>
            <a:pPr algn="ctr"/>
            <a:r>
              <a:rPr sz="800" b="0">
                <a:solidFill>
                  <a:srgbClr val="222222"/>
                </a:solidFill>
                <a:latin typeface="Calibri"/>
              </a:rPr>
              <a:t>iPad, through school device management</a:t>
            </a:r>
          </a:p>
        </p:txBody>
      </p:sp>
      <p:sp>
        <p:nvSpPr>
          <p:cNvPr id="30" name="Rounded Rectangle 29"/>
          <p:cNvSpPr/>
          <p:nvPr/>
        </p:nvSpPr>
        <p:spPr>
          <a:xfrm>
            <a:off x="6697980" y="1088136"/>
            <a:ext cx="252602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Tauri Android app</a:t>
            </a:r>
          </a:p>
          <a:p>
            <a:pPr algn="ctr"/>
            <a:r>
              <a:rPr sz="800" b="0">
                <a:solidFill>
                  <a:srgbClr val="222222"/>
                </a:solidFill>
                <a:latin typeface="Calibri"/>
              </a:rPr>
              <a:t>Chromebooks where Android apps are allowed</a:t>
            </a:r>
          </a:p>
        </p:txBody>
      </p:sp>
      <p:sp>
        <p:nvSpPr>
          <p:cNvPr id="31" name="Rounded Rectangle 30"/>
          <p:cNvSpPr/>
          <p:nvPr/>
        </p:nvSpPr>
        <p:spPr>
          <a:xfrm>
            <a:off x="9315450" y="1088136"/>
            <a:ext cx="252602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Browser version</a:t>
            </a:r>
          </a:p>
          <a:p>
            <a:pPr algn="ctr"/>
            <a:r>
              <a:rPr sz="800" b="0">
                <a:solidFill>
                  <a:srgbClr val="222222"/>
                </a:solidFill>
                <a:latin typeface="Calibri"/>
              </a:rPr>
              <a:t>any device · Prompter switched off</a:t>
            </a:r>
          </a:p>
        </p:txBody>
      </p:sp>
      <p:sp>
        <p:nvSpPr>
          <p:cNvPr id="32" name="Rounded Rectangle 31"/>
          <p:cNvSpPr/>
          <p:nvPr/>
        </p:nvSpPr>
        <p:spPr>
          <a:xfrm>
            <a:off x="1463040" y="1636776"/>
            <a:ext cx="2646317"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Key store</a:t>
            </a:r>
          </a:p>
          <a:p>
            <a:pPr algn="ctr"/>
            <a:r>
              <a:rPr sz="800" b="0">
                <a:solidFill>
                  <a:srgbClr val="222222"/>
                </a:solidFill>
                <a:latin typeface="Calibri"/>
              </a:rPr>
              <a:t>Credential Manager · Keychain · Android Keystore</a:t>
            </a:r>
          </a:p>
        </p:txBody>
      </p:sp>
      <p:sp>
        <p:nvSpPr>
          <p:cNvPr id="33" name="Rounded Rectangle 32"/>
          <p:cNvSpPr/>
          <p:nvPr/>
        </p:nvSpPr>
        <p:spPr>
          <a:xfrm>
            <a:off x="4200797" y="1636776"/>
            <a:ext cx="2886891"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Claude transport and policy check</a:t>
            </a:r>
          </a:p>
          <a:p>
            <a:pPr algn="ctr"/>
            <a:r>
              <a:rPr sz="800" b="0">
                <a:solidFill>
                  <a:srgbClr val="222222"/>
                </a:solidFill>
                <a:latin typeface="Calibri"/>
              </a:rPr>
              <a:t>allowlist and caps before the key is added; web code never sees it</a:t>
            </a:r>
          </a:p>
        </p:txBody>
      </p:sp>
      <p:sp>
        <p:nvSpPr>
          <p:cNvPr id="34" name="Rounded Rectangle 33"/>
          <p:cNvSpPr/>
          <p:nvPr/>
        </p:nvSpPr>
        <p:spPr>
          <a:xfrm>
            <a:off x="7179128" y="1636776"/>
            <a:ext cx="2405742"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Policy and school lock</a:t>
            </a:r>
          </a:p>
          <a:p>
            <a:pPr algn="ctr"/>
            <a:r>
              <a:rPr sz="800" b="0">
                <a:solidFill>
                  <a:srgbClr val="222222"/>
                </a:solidFill>
                <a:latin typeface="Calibri"/>
              </a:rPr>
              <a:t>policy file · managed app configuration</a:t>
            </a:r>
          </a:p>
        </p:txBody>
      </p:sp>
      <p:sp>
        <p:nvSpPr>
          <p:cNvPr id="35" name="Rounded Rectangle 34"/>
          <p:cNvSpPr/>
          <p:nvPr/>
        </p:nvSpPr>
        <p:spPr>
          <a:xfrm>
            <a:off x="9676311" y="1636776"/>
            <a:ext cx="2165168" cy="493776"/>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Files</a:t>
            </a:r>
          </a:p>
          <a:p>
            <a:pPr algn="ctr"/>
            <a:r>
              <a:rPr sz="800" b="0">
                <a:solidFill>
                  <a:srgbClr val="222222"/>
                </a:solidFill>
                <a:latin typeface="Calibri"/>
              </a:rPr>
              <a:t>local save · Drive / OneDrive (optional)</a:t>
            </a:r>
          </a:p>
        </p:txBody>
      </p:sp>
      <p:sp>
        <p:nvSpPr>
          <p:cNvPr id="36" name="Rounded Rectangle 35"/>
          <p:cNvSpPr/>
          <p:nvPr/>
        </p:nvSpPr>
        <p:spPr>
          <a:xfrm>
            <a:off x="1463040" y="2240280"/>
            <a:ext cx="2526029" cy="493776"/>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Storyboard</a:t>
            </a:r>
          </a:p>
          <a:p>
            <a:pPr algn="ctr"/>
            <a:r>
              <a:rPr sz="800" b="0">
                <a:solidFill>
                  <a:srgbClr val="222222"/>
                </a:solidFill>
                <a:latin typeface="Calibri"/>
              </a:rPr>
              <a:t>logline · synopsis · script · scene cards · sketch canvas</a:t>
            </a:r>
          </a:p>
        </p:txBody>
      </p:sp>
      <p:sp>
        <p:nvSpPr>
          <p:cNvPr id="37" name="Rounded Rectangle 36"/>
          <p:cNvSpPr/>
          <p:nvPr/>
        </p:nvSpPr>
        <p:spPr>
          <a:xfrm>
            <a:off x="4080510" y="2240280"/>
            <a:ext cx="2526029" cy="493776"/>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Production stage</a:t>
            </a:r>
          </a:p>
          <a:p>
            <a:pPr algn="ctr"/>
            <a:r>
              <a:rPr sz="800" b="0">
                <a:solidFill>
                  <a:srgbClr val="222222"/>
                </a:solidFill>
                <a:latin typeface="Calibri"/>
              </a:rPr>
              <a:t>scene view + Code editor · Rehearse</a:t>
            </a:r>
          </a:p>
        </p:txBody>
      </p:sp>
      <p:sp>
        <p:nvSpPr>
          <p:cNvPr id="38" name="Rounded Rectangle 37"/>
          <p:cNvSpPr/>
          <p:nvPr/>
        </p:nvSpPr>
        <p:spPr>
          <a:xfrm>
            <a:off x="6697980" y="2240280"/>
            <a:ext cx="2526029" cy="493776"/>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Screening room</a:t>
            </a:r>
          </a:p>
          <a:p>
            <a:pPr algn="ctr"/>
            <a:r>
              <a:rPr sz="800" b="0">
                <a:solidFill>
                  <a:srgbClr val="222222"/>
                </a:solidFill>
                <a:latin typeface="Calibri"/>
              </a:rPr>
              <a:t>rough cut · compare · Export for distribution</a:t>
            </a:r>
          </a:p>
        </p:txBody>
      </p:sp>
      <p:sp>
        <p:nvSpPr>
          <p:cNvPr id="39" name="Rounded Rectangle 38"/>
          <p:cNvSpPr/>
          <p:nvPr/>
        </p:nvSpPr>
        <p:spPr>
          <a:xfrm>
            <a:off x="9315450" y="2240280"/>
            <a:ext cx="2526029"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Prompter panel</a:t>
            </a:r>
          </a:p>
          <a:p>
            <a:pPr algn="ctr"/>
            <a:r>
              <a:rPr sz="800" b="0">
                <a:solidFill>
                  <a:srgbClr val="222222"/>
                </a:solidFill>
                <a:latin typeface="Calibri"/>
              </a:rPr>
              <a:t>modes · story coach · undo this request</a:t>
            </a:r>
          </a:p>
        </p:txBody>
      </p:sp>
      <p:sp>
        <p:nvSpPr>
          <p:cNvPr id="40" name="Rounded Rectangle 39"/>
          <p:cNvSpPr/>
          <p:nvPr/>
        </p:nvSpPr>
        <p:spPr>
          <a:xfrm>
            <a:off x="1463040" y="2843784"/>
            <a:ext cx="259079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Blocks (option B)</a:t>
            </a:r>
          </a:p>
          <a:p>
            <a:pPr algn="ctr"/>
            <a:r>
              <a:rPr sz="800" b="0">
                <a:solidFill>
                  <a:srgbClr val="222222"/>
                </a:solidFill>
                <a:latin typeface="Calibri"/>
              </a:rPr>
              <a:t>Blockly, made to look and behave like Alice tiles</a:t>
            </a:r>
          </a:p>
        </p:txBody>
      </p:sp>
      <p:sp>
        <p:nvSpPr>
          <p:cNvPr id="41" name="Rounded Rectangle 40"/>
          <p:cNvSpPr/>
          <p:nvPr/>
        </p:nvSpPr>
        <p:spPr>
          <a:xfrm>
            <a:off x="4145280" y="2843784"/>
            <a:ext cx="2590799" cy="438912"/>
          </a:xfrm>
          <a:prstGeom prst="roundRect">
            <a:avLst>
              <a:gd name="adj" fmla="val 8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Tiles (option C)</a:t>
            </a:r>
          </a:p>
          <a:p>
            <a:pPr algn="ctr"/>
            <a:r>
              <a:rPr sz="800" b="0">
                <a:solidFill>
                  <a:srgbClr val="222222"/>
                </a:solidFill>
                <a:latin typeface="Calibri"/>
              </a:rPr>
              <a:t>Alice's tile editor, rebuilt in React</a:t>
            </a:r>
          </a:p>
        </p:txBody>
      </p:sp>
      <p:sp>
        <p:nvSpPr>
          <p:cNvPr id="42" name="Rounded Rectangle 41"/>
          <p:cNvSpPr/>
          <p:nvPr/>
        </p:nvSpPr>
        <p:spPr>
          <a:xfrm>
            <a:off x="6827520" y="2843784"/>
            <a:ext cx="2331720"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Text view</a:t>
            </a:r>
          </a:p>
          <a:p>
            <a:pPr algn="ctr"/>
            <a:r>
              <a:rPr sz="800" b="0">
                <a:solidFill>
                  <a:srgbClr val="222222"/>
                </a:solidFill>
                <a:latin typeface="Calibri"/>
              </a:rPr>
              <a:t>read-only, Python- or Java-like</a:t>
            </a:r>
          </a:p>
        </p:txBody>
      </p:sp>
      <p:sp>
        <p:nvSpPr>
          <p:cNvPr id="43" name="Rounded Rectangle 42"/>
          <p:cNvSpPr/>
          <p:nvPr/>
        </p:nvSpPr>
        <p:spPr>
          <a:xfrm>
            <a:off x="9250680" y="2843784"/>
            <a:ext cx="2590799" cy="43891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2D sketch library</a:t>
            </a:r>
          </a:p>
          <a:p>
            <a:pPr algn="ctr"/>
            <a:r>
              <a:rPr sz="800" b="0">
                <a:solidFill>
                  <a:srgbClr val="222222"/>
                </a:solidFill>
                <a:latin typeface="Calibri"/>
              </a:rPr>
              <a:t>generated 1:1 from the 3D models</a:t>
            </a:r>
          </a:p>
        </p:txBody>
      </p:sp>
      <p:sp>
        <p:nvSpPr>
          <p:cNvPr id="44" name="Rounded Rectangle 43"/>
          <p:cNvSpPr/>
          <p:nvPr/>
        </p:nvSpPr>
        <p:spPr>
          <a:xfrm>
            <a:off x="1463040" y="3392424"/>
            <a:ext cx="2138630" cy="53035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Typed AST (JSON)</a:t>
            </a:r>
          </a:p>
          <a:p>
            <a:pPr algn="ctr"/>
            <a:r>
              <a:rPr sz="800" b="0">
                <a:solidFill>
                  <a:srgbClr val="222222"/>
                </a:solidFill>
                <a:latin typeface="Calibri"/>
              </a:rPr>
              <a:t>stable node ids · edit operations · undo</a:t>
            </a:r>
          </a:p>
        </p:txBody>
      </p:sp>
      <p:sp>
        <p:nvSpPr>
          <p:cNvPr id="45" name="Rounded Rectangle 44"/>
          <p:cNvSpPr/>
          <p:nvPr/>
        </p:nvSpPr>
        <p:spPr>
          <a:xfrm>
            <a:off x="3693110" y="3392424"/>
            <a:ext cx="2138630" cy="530352"/>
          </a:xfrm>
          <a:prstGeom prst="roundRect">
            <a:avLst>
              <a:gd name="adj" fmla="val 8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Story API</a:t>
            </a:r>
          </a:p>
          <a:p>
            <a:pPr algn="ctr"/>
            <a:r>
              <a:rPr sz="800" b="0">
                <a:solidFill>
                  <a:srgbClr val="222222"/>
                </a:solidFill>
                <a:latin typeface="Calibri"/>
              </a:rPr>
              <a:t>Alice's names: move · turn · say · moveTo · joints</a:t>
            </a:r>
          </a:p>
        </p:txBody>
      </p:sp>
      <p:sp>
        <p:nvSpPr>
          <p:cNvPr id="46" name="Rounded Rectangle 45"/>
          <p:cNvSpPr/>
          <p:nvPr/>
        </p:nvSpPr>
        <p:spPr>
          <a:xfrm>
            <a:off x="5923181" y="3392424"/>
            <a:ext cx="2138630" cy="530352"/>
          </a:xfrm>
          <a:prstGeom prst="roundRect">
            <a:avLst>
              <a:gd name="adj" fmla="val 8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Runtime (Web Worker)</a:t>
            </a:r>
          </a:p>
          <a:p>
            <a:pPr algn="ctr"/>
            <a:r>
              <a:rPr sz="800" b="0">
                <a:solidFill>
                  <a:srgbClr val="222222"/>
                </a:solidFill>
                <a:latin typeface="Calibri"/>
              </a:rPr>
              <a:t>Alice's rules: do in order · do together · events</a:t>
            </a:r>
          </a:p>
        </p:txBody>
      </p:sp>
      <p:sp>
        <p:nvSpPr>
          <p:cNvPr id="47" name="Rounded Rectangle 46"/>
          <p:cNvSpPr/>
          <p:nvPr/>
        </p:nvSpPr>
        <p:spPr>
          <a:xfrm>
            <a:off x="8153252" y="3392424"/>
            <a:ext cx="1944209" cy="53035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.storystage file</a:t>
            </a:r>
          </a:p>
          <a:p>
            <a:pPr algn="ctr"/>
            <a:r>
              <a:rPr sz="800" b="0">
                <a:solidFill>
                  <a:srgbClr val="222222"/>
                </a:solidFill>
                <a:latin typeface="Calibri"/>
              </a:rPr>
              <a:t>scenes · running order · storyboard</a:t>
            </a:r>
          </a:p>
        </p:txBody>
      </p:sp>
      <p:sp>
        <p:nvSpPr>
          <p:cNvPr id="48" name="Rounded Rectangle 47"/>
          <p:cNvSpPr/>
          <p:nvPr/>
        </p:nvSpPr>
        <p:spPr>
          <a:xfrm>
            <a:off x="10188901" y="3392424"/>
            <a:ext cx="1652578" cy="530352"/>
          </a:xfrm>
          <a:prstGeom prst="roundRect">
            <a:avLst>
              <a:gd name="adj" fmla="val 8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.a3p importer</a:t>
            </a:r>
          </a:p>
          <a:p>
            <a:pPr algn="ctr"/>
            <a:r>
              <a:rPr sz="800" b="0">
                <a:solidFill>
                  <a:srgbClr val="222222"/>
                </a:solidFill>
                <a:latin typeface="Calibri"/>
              </a:rPr>
              <a:t>reads Alice world files</a:t>
            </a:r>
          </a:p>
        </p:txBody>
      </p:sp>
      <p:sp>
        <p:nvSpPr>
          <p:cNvPr id="49" name="Rounded Rectangle 48"/>
          <p:cNvSpPr/>
          <p:nvPr/>
        </p:nvSpPr>
        <p:spPr>
          <a:xfrm>
            <a:off x="1463040" y="4032504"/>
            <a:ext cx="2296390" cy="53035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Babylon.js stage</a:t>
            </a:r>
          </a:p>
          <a:p>
            <a:pPr algn="ctr"/>
            <a:r>
              <a:rPr sz="800" b="0">
                <a:solidFill>
                  <a:srgbClr val="222222"/>
                </a:solidFill>
                <a:latin typeface="Calibri"/>
              </a:rPr>
              <a:t>WebGL2 / WebGPU · offscreen render</a:t>
            </a:r>
          </a:p>
        </p:txBody>
      </p:sp>
      <p:sp>
        <p:nvSpPr>
          <p:cNvPr id="50" name="Rounded Rectangle 49"/>
          <p:cNvSpPr/>
          <p:nvPr/>
        </p:nvSpPr>
        <p:spPr>
          <a:xfrm>
            <a:off x="3850870" y="4032504"/>
            <a:ext cx="3100127" cy="53035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Backstage (glTF models)</a:t>
            </a:r>
          </a:p>
          <a:p>
            <a:pPr algn="ctr"/>
            <a:r>
              <a:rPr sz="800" b="0">
                <a:solidFill>
                  <a:srgbClr val="222222"/>
                </a:solidFill>
                <a:latin typeface="Calibri"/>
              </a:rPr>
              <a:t>Cast · Props · Set · Backdrops</a:t>
            </a:r>
          </a:p>
        </p:txBody>
      </p:sp>
      <p:sp>
        <p:nvSpPr>
          <p:cNvPr id="51" name="Rounded Rectangle 50"/>
          <p:cNvSpPr/>
          <p:nvPr/>
        </p:nvSpPr>
        <p:spPr>
          <a:xfrm>
            <a:off x="7042438" y="4032504"/>
            <a:ext cx="2296390" cy="530352"/>
          </a:xfrm>
          <a:prstGeom prst="roundRect">
            <a:avLst>
              <a:gd name="adj" fmla="val 8000"/>
            </a:avLst>
          </a:prstGeom>
          <a:solidFill>
            <a:srgbClr val="FFF0A0"/>
          </a:solidFill>
          <a:ln w="12700">
            <a:solidFill>
              <a:srgbClr val="C9A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5A4600"/>
                </a:solidFill>
                <a:latin typeface="Calibri"/>
              </a:rPr>
              <a:t>Alice's own models</a:t>
            </a:r>
          </a:p>
          <a:p>
            <a:pPr algn="ctr"/>
            <a:r>
              <a:rPr sz="800" b="0">
                <a:solidFill>
                  <a:srgbClr val="222222"/>
                </a:solidFill>
                <a:latin typeface="Calibri"/>
              </a:rPr>
              <a:t>converted offline · no Sims 2 models</a:t>
            </a:r>
          </a:p>
        </p:txBody>
      </p:sp>
      <p:sp>
        <p:nvSpPr>
          <p:cNvPr id="52" name="Rounded Rectangle 51"/>
          <p:cNvSpPr/>
          <p:nvPr/>
        </p:nvSpPr>
        <p:spPr>
          <a:xfrm>
            <a:off x="9430269" y="4032504"/>
            <a:ext cx="2411210" cy="530352"/>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Export</a:t>
            </a:r>
          </a:p>
          <a:p>
            <a:pPr algn="ctr"/>
            <a:r>
              <a:rPr sz="800" b="0">
                <a:solidFill>
                  <a:srgbClr val="222222"/>
                </a:solidFill>
                <a:latin typeface="Calibri"/>
              </a:rPr>
              <a:t>WebCodecs + Mediabunny → MP4 · captions</a:t>
            </a:r>
          </a:p>
        </p:txBody>
      </p:sp>
      <p:sp>
        <p:nvSpPr>
          <p:cNvPr id="53" name="Rounded Rectangle 52"/>
          <p:cNvSpPr/>
          <p:nvPr/>
        </p:nvSpPr>
        <p:spPr>
          <a:xfrm>
            <a:off x="1463040" y="4672584"/>
            <a:ext cx="3089563"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Speech in</a:t>
            </a:r>
          </a:p>
          <a:p>
            <a:pPr algn="ctr"/>
            <a:r>
              <a:rPr sz="800" b="0">
                <a:solidFill>
                  <a:srgbClr val="222222"/>
                </a:solidFill>
                <a:latin typeface="Calibri"/>
              </a:rPr>
              <a:t>whisper.cpp in WebAssembly, on the device</a:t>
            </a:r>
          </a:p>
        </p:txBody>
      </p:sp>
      <p:sp>
        <p:nvSpPr>
          <p:cNvPr id="54" name="Rounded Rectangle 53"/>
          <p:cNvSpPr/>
          <p:nvPr/>
        </p:nvSpPr>
        <p:spPr>
          <a:xfrm>
            <a:off x="4644043" y="4672584"/>
            <a:ext cx="3089563"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Speech out</a:t>
            </a:r>
          </a:p>
          <a:p>
            <a:pPr algn="ctr"/>
            <a:r>
              <a:rPr sz="800" b="0">
                <a:solidFill>
                  <a:srgbClr val="222222"/>
                </a:solidFill>
                <a:latin typeface="Calibri"/>
              </a:rPr>
              <a:t>local system voices · captions always</a:t>
            </a:r>
          </a:p>
        </p:txBody>
      </p:sp>
      <p:sp>
        <p:nvSpPr>
          <p:cNvPr id="55" name="Rounded Rectangle 54"/>
          <p:cNvSpPr/>
          <p:nvPr/>
        </p:nvSpPr>
        <p:spPr>
          <a:xfrm>
            <a:off x="7825047" y="4672584"/>
            <a:ext cx="4016432" cy="493776"/>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Prompter tools and context</a:t>
            </a:r>
          </a:p>
          <a:p>
            <a:pPr algn="ctr"/>
            <a:r>
              <a:rPr sz="800" b="0">
                <a:solidFill>
                  <a:srgbClr val="222222"/>
                </a:solidFill>
                <a:latin typeface="Calibri"/>
              </a:rPr>
              <a:t>strict tools over the AST · catalogs · storyboard tools</a:t>
            </a:r>
          </a:p>
        </p:txBody>
      </p:sp>
      <p:sp>
        <p:nvSpPr>
          <p:cNvPr id="56" name="Rounded Rectangle 55"/>
          <p:cNvSpPr/>
          <p:nvPr/>
        </p:nvSpPr>
        <p:spPr>
          <a:xfrm>
            <a:off x="1463040" y="5276088"/>
            <a:ext cx="5143500" cy="384048"/>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164C40"/>
                </a:solidFill>
                <a:latin typeface="Calibri"/>
              </a:rPr>
              <a:t>Automated tests</a:t>
            </a:r>
          </a:p>
          <a:p>
            <a:pPr algn="ctr"/>
            <a:r>
              <a:rPr sz="800" b="0">
                <a:solidFill>
                  <a:srgbClr val="222222"/>
                </a:solidFill>
                <a:latin typeface="Calibri"/>
              </a:rPr>
              <a:t>Vitest · Playwright · fake Claude server</a:t>
            </a:r>
          </a:p>
        </p:txBody>
      </p:sp>
      <p:sp>
        <p:nvSpPr>
          <p:cNvPr id="57" name="Rounded Rectangle 56"/>
          <p:cNvSpPr/>
          <p:nvPr/>
        </p:nvSpPr>
        <p:spPr>
          <a:xfrm>
            <a:off x="6697979" y="5276088"/>
            <a:ext cx="5143500" cy="384048"/>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8A3F00"/>
                </a:solidFill>
                <a:latin typeface="Calibri"/>
              </a:rPr>
              <a:t>Evaluation set and self-test</a:t>
            </a:r>
          </a:p>
          <a:p>
            <a:pPr algn="ctr"/>
            <a:r>
              <a:rPr sz="800" b="0">
                <a:solidFill>
                  <a:srgbClr val="222222"/>
                </a:solidFill>
                <a:latin typeface="Calibri"/>
              </a:rPr>
              <a:t>47 requests, extended · built-in self-test</a:t>
            </a:r>
          </a:p>
        </p:txBody>
      </p:sp>
      <p:sp>
        <p:nvSpPr>
          <p:cNvPr id="58" name="TextBox 57"/>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No Alice code ships in StoryStage 2. Solid yellow is the only Alice material: Alice's own models, converted to glTF by an offline tool, shipped only if CMU confirms the licence. Dashed yellow outlines mark new TypeScript that follows Alice's design (block names, how programs run, its file format). The Sims 2 models stay out unless EA gives written permission. Requests go only to the Anthropic API, from the app's native layer, with the user's or school's own key.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What StoryStage 2 keeps from Alice</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Alice contributes its models, its words, its rules for how programs run and the design of its tile editor. None of its 490,107 lines of Java ship.</a:t>
            </a:r>
          </a:p>
        </p:txBody>
      </p:sp>
      <p:sp>
        <p:nvSpPr>
          <p:cNvPr id="4" name="Rounded Rectangle 3"/>
          <p:cNvSpPr/>
          <p:nvPr/>
        </p:nvSpPr>
        <p:spPr>
          <a:xfrm>
            <a:off x="8732520" y="182880"/>
            <a:ext cx="292608" cy="182880"/>
          </a:xfrm>
          <a:prstGeom prst="roundRect">
            <a:avLst/>
          </a:prstGeom>
          <a:solidFill>
            <a:srgbClr val="FFF0A0"/>
          </a:solidFill>
          <a:ln w="12700">
            <a:solidFill>
              <a:srgbClr val="C9A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98280" y="164592"/>
            <a:ext cx="2926080" cy="228600"/>
          </a:xfrm>
          <a:prstGeom prst="rect">
            <a:avLst/>
          </a:prstGeom>
          <a:noFill/>
        </p:spPr>
        <p:txBody>
          <a:bodyPr wrap="square" anchor="t" lIns="0" rIns="0" tIns="0" bIns="0">
            <a:spAutoFit/>
          </a:bodyPr>
          <a:lstStyle/>
          <a:p>
            <a:pPr algn="l"/>
            <a:r>
              <a:rPr sz="900" b="0" i="0">
                <a:solidFill>
                  <a:srgbClr val="222222"/>
                </a:solidFill>
                <a:latin typeface="Calibri"/>
              </a:rPr>
              <a:t>Alice's own material (models)</a:t>
            </a:r>
          </a:p>
        </p:txBody>
      </p:sp>
      <p:sp>
        <p:nvSpPr>
          <p:cNvPr id="6" name="Rounded Rectangle 5"/>
          <p:cNvSpPr/>
          <p:nvPr/>
        </p:nvSpPr>
        <p:spPr>
          <a:xfrm>
            <a:off x="8732520" y="429768"/>
            <a:ext cx="292608" cy="182880"/>
          </a:xfrm>
          <a:prstGeom prst="roundRect">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411480"/>
            <a:ext cx="2926080" cy="228600"/>
          </a:xfrm>
          <a:prstGeom prst="rect">
            <a:avLst/>
          </a:prstGeom>
          <a:noFill/>
        </p:spPr>
        <p:txBody>
          <a:bodyPr wrap="square" anchor="t" lIns="0" rIns="0" tIns="0" bIns="0">
            <a:spAutoFit/>
          </a:bodyPr>
          <a:lstStyle/>
          <a:p>
            <a:pPr algn="l"/>
            <a:r>
              <a:rPr sz="900" b="0" i="0">
                <a:solidFill>
                  <a:srgbClr val="222222"/>
                </a:solidFill>
                <a:latin typeface="Calibri"/>
              </a:rPr>
              <a:t>Alice's design, in new code</a:t>
            </a:r>
          </a:p>
        </p:txBody>
      </p:sp>
      <p:sp>
        <p:nvSpPr>
          <p:cNvPr id="8" name="Rounded Rectangle 7"/>
          <p:cNvSpPr/>
          <p:nvPr/>
        </p:nvSpPr>
        <p:spPr>
          <a:xfrm>
            <a:off x="8732520" y="676656"/>
            <a:ext cx="292608" cy="182880"/>
          </a:xfrm>
          <a:prstGeom prst="roundRect">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658368"/>
            <a:ext cx="2926080" cy="228600"/>
          </a:xfrm>
          <a:prstGeom prst="rect">
            <a:avLst/>
          </a:prstGeom>
          <a:noFill/>
        </p:spPr>
        <p:txBody>
          <a:bodyPr wrap="square" anchor="t" lIns="0" rIns="0" tIns="0" bIns="0">
            <a:spAutoFit/>
          </a:bodyPr>
          <a:lstStyle/>
          <a:p>
            <a:pPr algn="l"/>
            <a:r>
              <a:rPr sz="900" b="0" i="0">
                <a:solidFill>
                  <a:srgbClr val="222222"/>
                </a:solidFill>
                <a:latin typeface="Calibri"/>
              </a:rPr>
              <a:t>Left behind</a:t>
            </a:r>
          </a:p>
        </p:txBody>
      </p:sp>
      <p:sp>
        <p:nvSpPr>
          <p:cNvPr id="10" name="TextBox 9"/>
          <p:cNvSpPr txBox="1"/>
          <p:nvPr/>
        </p:nvSpPr>
        <p:spPr>
          <a:xfrm>
            <a:off x="457200" y="1097280"/>
            <a:ext cx="5486400" cy="320040"/>
          </a:xfrm>
          <a:prstGeom prst="rect">
            <a:avLst/>
          </a:prstGeom>
          <a:noFill/>
        </p:spPr>
        <p:txBody>
          <a:bodyPr wrap="square" anchor="t" lIns="0" rIns="0" tIns="0" bIns="0">
            <a:spAutoFit/>
          </a:bodyPr>
          <a:lstStyle/>
          <a:p>
            <a:pPr algn="l"/>
            <a:r>
              <a:rPr sz="1600" b="1" i="0">
                <a:solidFill>
                  <a:srgbClr val="5A4600"/>
                </a:solidFill>
                <a:latin typeface="Calibri"/>
              </a:rPr>
              <a:t>Kept</a:t>
            </a:r>
          </a:p>
        </p:txBody>
      </p:sp>
      <p:sp>
        <p:nvSpPr>
          <p:cNvPr id="11" name="TextBox 10"/>
          <p:cNvSpPr txBox="1"/>
          <p:nvPr/>
        </p:nvSpPr>
        <p:spPr>
          <a:xfrm>
            <a:off x="6355080" y="1097280"/>
            <a:ext cx="5394960" cy="320040"/>
          </a:xfrm>
          <a:prstGeom prst="rect">
            <a:avLst/>
          </a:prstGeom>
          <a:noFill/>
        </p:spPr>
        <p:txBody>
          <a:bodyPr wrap="square" anchor="t" lIns="0" rIns="0" tIns="0" bIns="0">
            <a:spAutoFit/>
          </a:bodyPr>
          <a:lstStyle/>
          <a:p>
            <a:pPr algn="l"/>
            <a:r>
              <a:rPr sz="1600" b="1" i="0">
                <a:solidFill>
                  <a:srgbClr val="4A4A4A"/>
                </a:solidFill>
                <a:latin typeface="Calibri"/>
              </a:rPr>
              <a:t>Left behind</a:t>
            </a:r>
          </a:p>
        </p:txBody>
      </p:sp>
      <p:sp>
        <p:nvSpPr>
          <p:cNvPr id="12" name="Rounded Rectangle 11"/>
          <p:cNvSpPr/>
          <p:nvPr/>
        </p:nvSpPr>
        <p:spPr>
          <a:xfrm>
            <a:off x="457200" y="1508760"/>
            <a:ext cx="5486400" cy="868680"/>
          </a:xfrm>
          <a:prstGeom prst="roundRect">
            <a:avLst>
              <a:gd name="adj" fmla="val 6000"/>
            </a:avLst>
          </a:prstGeom>
          <a:solidFill>
            <a:srgbClr val="FFF0A0"/>
          </a:solidFill>
          <a:ln w="15875">
            <a:solidFill>
              <a:srgbClr val="C9A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5A4600"/>
                </a:solidFill>
                <a:latin typeface="Calibri"/>
              </a:rPr>
              <a:t>Models (the only Alice material)</a:t>
            </a:r>
          </a:p>
          <a:p>
            <a:pPr algn="l"/>
            <a:r>
              <a:rPr sz="950" b="0">
                <a:solidFill>
                  <a:srgbClr val="222222"/>
                </a:solidFill>
                <a:latin typeface="Calibri"/>
              </a:rPr>
              <a:t>About 340 of Alice's own gallery models, converted to glTF with their named joints by an offline tool that reuses StoryStage 1's loader. Shipped only if CMU confirms the licence: Alice's EULA (clause 5) describes the gallery as EA-contributed, for non-commercial use.</a:t>
            </a:r>
          </a:p>
        </p:txBody>
      </p:sp>
      <p:sp>
        <p:nvSpPr>
          <p:cNvPr id="13" name="Rounded Rectangle 12"/>
          <p:cNvSpPr/>
          <p:nvPr/>
        </p:nvSpPr>
        <p:spPr>
          <a:xfrm>
            <a:off x="457200" y="2459736"/>
            <a:ext cx="5486400" cy="868680"/>
          </a:xfrm>
          <a:prstGeom prst="roundRect">
            <a:avLst>
              <a:gd name="adj" fmla="val 6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164C40"/>
                </a:solidFill>
                <a:latin typeface="Calibri"/>
              </a:rPr>
              <a:t>Vocabulary (new code)</a:t>
            </a:r>
          </a:p>
          <a:p>
            <a:pPr algn="l"/>
            <a:r>
              <a:rPr sz="950" b="0">
                <a:solidFill>
                  <a:srgbClr val="222222"/>
                </a:solidFill>
                <a:latin typeface="Calibri"/>
              </a:rPr>
              <a:t>The names learners and teachers know: move, turn, roll, say, think, moveTo, turnToFace; details such as duration, style and 'as seen by'; joint names such as head and mouth. Taken from Alice's prime-time block catalogue.</a:t>
            </a:r>
          </a:p>
        </p:txBody>
      </p:sp>
      <p:sp>
        <p:nvSpPr>
          <p:cNvPr id="14" name="Rounded Rectangle 13"/>
          <p:cNvSpPr/>
          <p:nvPr/>
        </p:nvSpPr>
        <p:spPr>
          <a:xfrm>
            <a:off x="457200" y="3410712"/>
            <a:ext cx="5486400" cy="868680"/>
          </a:xfrm>
          <a:prstGeom prst="roundRect">
            <a:avLst>
              <a:gd name="adj" fmla="val 6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164C40"/>
                </a:solidFill>
                <a:latin typeface="Calibri"/>
              </a:rPr>
              <a:t>Semantics (new code)</a:t>
            </a:r>
          </a:p>
          <a:p>
            <a:pPr algn="l"/>
            <a:r>
              <a:rPr sz="950" b="0">
                <a:solidFill>
                  <a:srgbClr val="222222"/>
                </a:solidFill>
                <a:latin typeface="Calibri"/>
              </a:rPr>
              <a:t>How programs run: do in order, do together, count, while, for each, if, and the event kinds (scene start, click, key, timer, proximity, collision). Reimplemented in a Web Worker.</a:t>
            </a:r>
          </a:p>
        </p:txBody>
      </p:sp>
      <p:sp>
        <p:nvSpPr>
          <p:cNvPr id="15" name="Rounded Rectangle 14"/>
          <p:cNvSpPr/>
          <p:nvPr/>
        </p:nvSpPr>
        <p:spPr>
          <a:xfrm>
            <a:off x="457200" y="4361688"/>
            <a:ext cx="5486400" cy="868680"/>
          </a:xfrm>
          <a:prstGeom prst="roundRect">
            <a:avLst>
              <a:gd name="adj" fmla="val 6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164C40"/>
                </a:solidFill>
                <a:latin typeface="Calibri"/>
              </a:rPr>
              <a:t>Alice files (new code)</a:t>
            </a:r>
          </a:p>
          <a:p>
            <a:pPr algn="l"/>
            <a:r>
              <a:rPr sz="950" b="0">
                <a:solidFill>
                  <a:srgbClr val="222222"/>
                </a:solidFill>
                <a:latin typeface="Calibri"/>
              </a:rPr>
              <a:t>An importer opens Alice .a3p worlds as one-scene productions, so Alice's lessons and starter projects still have a way in.</a:t>
            </a:r>
          </a:p>
        </p:txBody>
      </p:sp>
      <p:sp>
        <p:nvSpPr>
          <p:cNvPr id="16" name="Rounded Rectangle 15"/>
          <p:cNvSpPr/>
          <p:nvPr/>
        </p:nvSpPr>
        <p:spPr>
          <a:xfrm>
            <a:off x="457200" y="5312664"/>
            <a:ext cx="5486400" cy="868680"/>
          </a:xfrm>
          <a:prstGeom prst="roundRect">
            <a:avLst>
              <a:gd name="adj" fmla="val 6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164C40"/>
                </a:solidFill>
                <a:latin typeface="Calibri"/>
              </a:rPr>
              <a:t>Editor design (new code)</a:t>
            </a:r>
          </a:p>
          <a:p>
            <a:pPr algn="l"/>
            <a:r>
              <a:rPr sz="950" b="0">
                <a:solidFill>
                  <a:srgbClr val="222222"/>
                </a:solidFill>
                <a:latin typeface="Calibri"/>
              </a:rPr>
              <a:t>How Alice's tiles behave: text-like rows, arguments asked for on drop, 'add detail', no broken code, one method per tab, Alice or Java wording. Rebuilt in both code editors.</a:t>
            </a:r>
          </a:p>
        </p:txBody>
      </p:sp>
      <p:sp>
        <p:nvSpPr>
          <p:cNvPr id="17" name="Rounded Rectangle 16"/>
          <p:cNvSpPr/>
          <p:nvPr/>
        </p:nvSpPr>
        <p:spPr>
          <a:xfrm>
            <a:off x="6355080" y="1508760"/>
            <a:ext cx="5394960" cy="868680"/>
          </a:xfrm>
          <a:prstGeom prst="roundRect">
            <a:avLst>
              <a:gd name="adj" fmla="val 6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4A4A4A"/>
                </a:solidFill>
                <a:latin typeface="Calibri"/>
              </a:rPr>
              <a:t>All of the Java code</a:t>
            </a:r>
          </a:p>
          <a:p>
            <a:pPr algn="l"/>
            <a:r>
              <a:rPr sz="950" b="0">
                <a:solidFill>
                  <a:srgbClr val="222222"/>
                </a:solidFill>
                <a:latin typeface="Calibri"/>
              </a:rPr>
              <a:t>The IDE (including the tile editor code), the croquet UI framework, Swing and FlatLaf, the virtual machine, the scene graph and the JOGL / OpenGL renderer.</a:t>
            </a:r>
          </a:p>
        </p:txBody>
      </p:sp>
      <p:sp>
        <p:nvSpPr>
          <p:cNvPr id="18" name="Rounded Rectangle 17"/>
          <p:cNvSpPr/>
          <p:nvPr/>
        </p:nvSpPr>
        <p:spPr>
          <a:xfrm>
            <a:off x="6355080" y="2459736"/>
            <a:ext cx="5394960" cy="868680"/>
          </a:xfrm>
          <a:prstGeom prst="roundRect">
            <a:avLst>
              <a:gd name="adj" fmla="val 6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4A4A4A"/>
                </a:solidFill>
                <a:latin typeface="Calibri"/>
              </a:rPr>
              <a:t>The Sims 2 art</a:t>
            </a:r>
          </a:p>
          <a:p>
            <a:pPr algn="l"/>
            <a:r>
              <a:rPr sz="950" b="0">
                <a:solidFill>
                  <a:srgbClr val="222222"/>
                </a:solidFill>
                <a:latin typeface="Calibri"/>
              </a:rPr>
              <a:t>EA's licence allows use only unmodified and with programs written with Alice 3.0, so it stays out unless EA gives written permission.</a:t>
            </a:r>
          </a:p>
        </p:txBody>
      </p:sp>
      <p:sp>
        <p:nvSpPr>
          <p:cNvPr id="19" name="Rounded Rectangle 18"/>
          <p:cNvSpPr/>
          <p:nvPr/>
        </p:nvSpPr>
        <p:spPr>
          <a:xfrm>
            <a:off x="6355080" y="3410712"/>
            <a:ext cx="5394960" cy="868680"/>
          </a:xfrm>
          <a:prstGeom prst="roundRect">
            <a:avLst>
              <a:gd name="adj" fmla="val 6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4A4A4A"/>
                </a:solidFill>
                <a:latin typeface="Calibri"/>
              </a:rPr>
              <a:t>Tweedle and COLLADA</a:t>
            </a:r>
          </a:p>
          <a:p>
            <a:pPr algn="l"/>
            <a:r>
              <a:rPr sz="950" b="0">
                <a:solidFill>
                  <a:srgbClr val="222222"/>
                </a:solidFill>
                <a:latin typeface="Calibri"/>
              </a:rPr>
              <a:t>Alice's text language and its COLLADA import path. glTF and a JSON AST replace them.</a:t>
            </a:r>
          </a:p>
        </p:txBody>
      </p:sp>
      <p:sp>
        <p:nvSpPr>
          <p:cNvPr id="20" name="Rounded Rectangle 19"/>
          <p:cNvSpPr/>
          <p:nvPr/>
        </p:nvSpPr>
        <p:spPr>
          <a:xfrm>
            <a:off x="6355080" y="4361688"/>
            <a:ext cx="5394960" cy="868680"/>
          </a:xfrm>
          <a:prstGeom prst="roundRect">
            <a:avLst>
              <a:gd name="adj" fmla="val 6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r>
              <a:rPr sz="1200" b="1">
                <a:solidFill>
                  <a:srgbClr val="4A4A4A"/>
                </a:solidFill>
                <a:latin typeface="Calibri"/>
              </a:rPr>
              <a:t>Installers and plug-ins</a:t>
            </a:r>
          </a:p>
          <a:p>
            <a:pPr algn="l"/>
            <a:r>
              <a:rPr sz="950" b="0">
                <a:solidFill>
                  <a:srgbClr val="222222"/>
                </a:solidFill>
                <a:latin typeface="Calibri"/>
              </a:rPr>
              <a:t>install4j installers and the NetBeans plug-in. Tauri builds replace them.</a:t>
            </a:r>
          </a:p>
        </p:txBody>
      </p:sp>
      <p:sp>
        <p:nvSpPr>
          <p:cNvPr id="21" name="TextBox 20"/>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The CMU copyright notice and acknowledgement travel with the converted models. "StoryStage" carries no Alice name, as the Alice EULA requires.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Where the Prompter runs and where the key lives</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One app on every device keeps the API key in the secure store; the browser version has no key and no Prompter.</a:t>
            </a:r>
          </a:p>
        </p:txBody>
      </p:sp>
      <p:sp>
        <p:nvSpPr>
          <p:cNvPr id="4" name="Rounded Rectangle 3"/>
          <p:cNvSpPr/>
          <p:nvPr/>
        </p:nvSpPr>
        <p:spPr>
          <a:xfrm>
            <a:off x="8732520" y="182880"/>
            <a:ext cx="292608" cy="182880"/>
          </a:xfrm>
          <a:prstGeom prst="roundRect">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98280" y="164592"/>
            <a:ext cx="2926080" cy="228600"/>
          </a:xfrm>
          <a:prstGeom prst="rect">
            <a:avLst/>
          </a:prstGeom>
          <a:noFill/>
        </p:spPr>
        <p:txBody>
          <a:bodyPr wrap="square" anchor="t" lIns="0" rIns="0" tIns="0" bIns="0">
            <a:spAutoFit/>
          </a:bodyPr>
          <a:lstStyle/>
          <a:p>
            <a:pPr algn="l"/>
            <a:r>
              <a:rPr sz="900" b="0" i="0">
                <a:solidFill>
                  <a:srgbClr val="222222"/>
                </a:solidFill>
                <a:latin typeface="Calibri"/>
              </a:rPr>
              <a:t>App or browser version</a:t>
            </a:r>
          </a:p>
        </p:txBody>
      </p:sp>
      <p:sp>
        <p:nvSpPr>
          <p:cNvPr id="6" name="Rounded Rectangle 5"/>
          <p:cNvSpPr/>
          <p:nvPr/>
        </p:nvSpPr>
        <p:spPr>
          <a:xfrm>
            <a:off x="8732520" y="429768"/>
            <a:ext cx="292608" cy="182880"/>
          </a:xfrm>
          <a:prstGeom prst="roundRect">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411480"/>
            <a:ext cx="2926080" cy="228600"/>
          </a:xfrm>
          <a:prstGeom prst="rect">
            <a:avLst/>
          </a:prstGeom>
          <a:noFill/>
        </p:spPr>
        <p:txBody>
          <a:bodyPr wrap="square" anchor="t" lIns="0" rIns="0" tIns="0" bIns="0">
            <a:spAutoFit/>
          </a:bodyPr>
          <a:lstStyle/>
          <a:p>
            <a:pPr algn="l"/>
            <a:r>
              <a:rPr sz="900" b="0" i="0">
                <a:solidFill>
                  <a:srgbClr val="222222"/>
                </a:solidFill>
                <a:latin typeface="Calibri"/>
              </a:rPr>
              <a:t>Key store (design from StoryStage 1)</a:t>
            </a:r>
          </a:p>
        </p:txBody>
      </p:sp>
      <p:sp>
        <p:nvSpPr>
          <p:cNvPr id="8" name="Rounded Rectangle 7"/>
          <p:cNvSpPr/>
          <p:nvPr/>
        </p:nvSpPr>
        <p:spPr>
          <a:xfrm>
            <a:off x="8732520" y="676656"/>
            <a:ext cx="292608" cy="182880"/>
          </a:xfrm>
          <a:prstGeom prst="roundRect">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658368"/>
            <a:ext cx="2926080" cy="228600"/>
          </a:xfrm>
          <a:prstGeom prst="rect">
            <a:avLst/>
          </a:prstGeom>
          <a:noFill/>
        </p:spPr>
        <p:txBody>
          <a:bodyPr wrap="square" anchor="t" lIns="0" rIns="0" tIns="0" bIns="0">
            <a:spAutoFit/>
          </a:bodyPr>
          <a:lstStyle/>
          <a:p>
            <a:pPr algn="l"/>
            <a:r>
              <a:rPr sz="900" b="0" i="0">
                <a:solidFill>
                  <a:srgbClr val="222222"/>
                </a:solidFill>
                <a:latin typeface="Calibri"/>
              </a:rPr>
              <a:t>No key, no Prompter</a:t>
            </a:r>
          </a:p>
        </p:txBody>
      </p:sp>
      <p:sp>
        <p:nvSpPr>
          <p:cNvPr id="10" name="Rounded Rectangle 9"/>
          <p:cNvSpPr/>
          <p:nvPr/>
        </p:nvSpPr>
        <p:spPr>
          <a:xfrm>
            <a:off x="457200" y="1371600"/>
            <a:ext cx="2679192" cy="86868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164C40"/>
                </a:solidFill>
                <a:latin typeface="Calibri"/>
              </a:rPr>
              <a:t>Windows and Mac</a:t>
            </a:r>
          </a:p>
          <a:p>
            <a:pPr algn="ctr"/>
            <a:r>
              <a:rPr sz="1000" b="0">
                <a:solidFill>
                  <a:srgbClr val="222222"/>
                </a:solidFill>
                <a:latin typeface="Calibri"/>
              </a:rPr>
              <a:t>Tauri desktop app</a:t>
            </a:r>
          </a:p>
        </p:txBody>
      </p:sp>
      <p:sp>
        <p:nvSpPr>
          <p:cNvPr id="11" name="Rounded Rectangle 10"/>
          <p:cNvSpPr/>
          <p:nvPr/>
        </p:nvSpPr>
        <p:spPr>
          <a:xfrm>
            <a:off x="457200" y="2788920"/>
            <a:ext cx="2679192" cy="7315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8A3F00"/>
                </a:solidFill>
                <a:latin typeface="Calibri"/>
              </a:rPr>
              <a:t>Key</a:t>
            </a:r>
          </a:p>
          <a:p>
            <a:pPr algn="ctr"/>
            <a:r>
              <a:rPr sz="950" b="0">
                <a:solidFill>
                  <a:srgbClr val="222222"/>
                </a:solidFill>
                <a:latin typeface="Calibri"/>
              </a:rPr>
              <a:t>Credential Manager · Keychain</a:t>
            </a:r>
          </a:p>
        </p:txBody>
      </p:sp>
      <p:cxnSp>
        <p:nvCxnSpPr>
          <p:cNvPr id="12" name="Connector 11"/>
          <p:cNvCxnSpPr/>
          <p:nvPr/>
        </p:nvCxnSpPr>
        <p:spPr>
          <a:xfrm>
            <a:off x="1796796" y="2240280"/>
            <a:ext cx="0" cy="548640"/>
          </a:xfrm>
          <a:prstGeom prst="line">
            <a:avLst/>
          </a:prstGeom>
          <a:ln w="15875">
            <a:solidFill>
              <a:srgbClr val="2E7D6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96796" y="3520440"/>
            <a:ext cx="0" cy="1234440"/>
          </a:xfrm>
          <a:prstGeom prst="line">
            <a:avLst/>
          </a:prstGeom>
          <a:ln w="22225">
            <a:solidFill>
              <a:srgbClr val="D96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19272" y="1371600"/>
            <a:ext cx="2679192" cy="86868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164C40"/>
                </a:solidFill>
                <a:latin typeface="Calibri"/>
              </a:rPr>
              <a:t>iPad</a:t>
            </a:r>
          </a:p>
          <a:p>
            <a:pPr algn="ctr"/>
            <a:r>
              <a:rPr sz="1000" b="0">
                <a:solidFill>
                  <a:srgbClr val="222222"/>
                </a:solidFill>
                <a:latin typeface="Calibri"/>
              </a:rPr>
              <a:t>Tauri iOS app</a:t>
            </a:r>
          </a:p>
        </p:txBody>
      </p:sp>
      <p:sp>
        <p:nvSpPr>
          <p:cNvPr id="15" name="Rounded Rectangle 14"/>
          <p:cNvSpPr/>
          <p:nvPr/>
        </p:nvSpPr>
        <p:spPr>
          <a:xfrm>
            <a:off x="3319272" y="2788920"/>
            <a:ext cx="2679192" cy="7315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8A3F00"/>
                </a:solidFill>
                <a:latin typeface="Calibri"/>
              </a:rPr>
              <a:t>Key</a:t>
            </a:r>
          </a:p>
          <a:p>
            <a:pPr algn="ctr"/>
            <a:r>
              <a:rPr sz="950" b="0">
                <a:solidFill>
                  <a:srgbClr val="222222"/>
                </a:solidFill>
                <a:latin typeface="Calibri"/>
              </a:rPr>
              <a:t>iPad Keychain</a:t>
            </a:r>
          </a:p>
        </p:txBody>
      </p:sp>
      <p:cxnSp>
        <p:nvCxnSpPr>
          <p:cNvPr id="16" name="Connector 15"/>
          <p:cNvCxnSpPr/>
          <p:nvPr/>
        </p:nvCxnSpPr>
        <p:spPr>
          <a:xfrm>
            <a:off x="4658868" y="2240280"/>
            <a:ext cx="0" cy="548640"/>
          </a:xfrm>
          <a:prstGeom prst="line">
            <a:avLst/>
          </a:prstGeom>
          <a:ln w="15875">
            <a:solidFill>
              <a:srgbClr val="2E7D6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58868" y="3520440"/>
            <a:ext cx="0" cy="1234440"/>
          </a:xfrm>
          <a:prstGeom prst="line">
            <a:avLst/>
          </a:prstGeom>
          <a:ln w="22225">
            <a:solidFill>
              <a:srgbClr val="D96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81344" y="1371600"/>
            <a:ext cx="2679192" cy="86868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164C40"/>
                </a:solidFill>
                <a:latin typeface="Calibri"/>
              </a:rPr>
              <a:t>Chromebook</a:t>
            </a:r>
          </a:p>
          <a:p>
            <a:pPr algn="ctr"/>
            <a:r>
              <a:rPr sz="1000" b="0">
                <a:solidFill>
                  <a:srgbClr val="222222"/>
                </a:solidFill>
                <a:latin typeface="Calibri"/>
              </a:rPr>
              <a:t>Tauri Android app</a:t>
            </a:r>
          </a:p>
        </p:txBody>
      </p:sp>
      <p:sp>
        <p:nvSpPr>
          <p:cNvPr id="19" name="Rounded Rectangle 18"/>
          <p:cNvSpPr/>
          <p:nvPr/>
        </p:nvSpPr>
        <p:spPr>
          <a:xfrm>
            <a:off x="6181344" y="2788920"/>
            <a:ext cx="2679192" cy="7315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8A3F00"/>
                </a:solidFill>
                <a:latin typeface="Calibri"/>
              </a:rPr>
              <a:t>Key</a:t>
            </a:r>
          </a:p>
          <a:p>
            <a:pPr algn="ctr"/>
            <a:r>
              <a:rPr sz="950" b="0">
                <a:solidFill>
                  <a:srgbClr val="222222"/>
                </a:solidFill>
                <a:latin typeface="Calibri"/>
              </a:rPr>
              <a:t>Android Keystore</a:t>
            </a:r>
          </a:p>
        </p:txBody>
      </p:sp>
      <p:cxnSp>
        <p:nvCxnSpPr>
          <p:cNvPr id="20" name="Connector 19"/>
          <p:cNvCxnSpPr/>
          <p:nvPr/>
        </p:nvCxnSpPr>
        <p:spPr>
          <a:xfrm>
            <a:off x="7520940" y="2240280"/>
            <a:ext cx="0" cy="548640"/>
          </a:xfrm>
          <a:prstGeom prst="line">
            <a:avLst/>
          </a:prstGeom>
          <a:ln w="15875">
            <a:solidFill>
              <a:srgbClr val="2E7D6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20940" y="3520440"/>
            <a:ext cx="0" cy="1234440"/>
          </a:xfrm>
          <a:prstGeom prst="line">
            <a:avLst/>
          </a:prstGeom>
          <a:ln w="22225">
            <a:solidFill>
              <a:srgbClr val="D96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043416" y="1371600"/>
            <a:ext cx="2679192" cy="86868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164C40"/>
                </a:solidFill>
                <a:latin typeface="Calibri"/>
              </a:rPr>
              <a:t>Any device</a:t>
            </a:r>
          </a:p>
          <a:p>
            <a:pPr algn="ctr"/>
            <a:r>
              <a:rPr sz="1000" b="0">
                <a:solidFill>
                  <a:srgbClr val="222222"/>
                </a:solidFill>
                <a:latin typeface="Calibri"/>
              </a:rPr>
              <a:t>Browser version</a:t>
            </a:r>
          </a:p>
        </p:txBody>
      </p:sp>
      <p:sp>
        <p:nvSpPr>
          <p:cNvPr id="23" name="Rounded Rectangle 22"/>
          <p:cNvSpPr/>
          <p:nvPr/>
        </p:nvSpPr>
        <p:spPr>
          <a:xfrm>
            <a:off x="9043416" y="2788920"/>
            <a:ext cx="2679192" cy="731520"/>
          </a:xfrm>
          <a:prstGeom prst="roundRect">
            <a:avLst>
              <a:gd name="adj" fmla="val 8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4A4A4A"/>
                </a:solidFill>
                <a:latin typeface="Calibri"/>
              </a:rPr>
              <a:t>Prompter off</a:t>
            </a:r>
          </a:p>
          <a:p>
            <a:pPr algn="ctr"/>
            <a:r>
              <a:rPr sz="950" b="0">
                <a:solidFill>
                  <a:srgbClr val="222222"/>
                </a:solidFill>
                <a:latin typeface="Calibri"/>
              </a:rPr>
              <a:t>No key stored</a:t>
            </a:r>
          </a:p>
        </p:txBody>
      </p:sp>
      <p:cxnSp>
        <p:nvCxnSpPr>
          <p:cNvPr id="24" name="Connector 23"/>
          <p:cNvCxnSpPr/>
          <p:nvPr/>
        </p:nvCxnSpPr>
        <p:spPr>
          <a:xfrm>
            <a:off x="10383012" y="2240280"/>
            <a:ext cx="0" cy="548640"/>
          </a:xfrm>
          <a:prstGeom prst="line">
            <a:avLst/>
          </a:prstGeom>
          <a:ln w="15875">
            <a:solidFill>
              <a:srgbClr val="9A9A9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57200" y="4754880"/>
            <a:ext cx="8403336" cy="73152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1F3F66"/>
                </a:solidFill>
                <a:latin typeface="Calibri"/>
              </a:rPr>
              <a:t>Anthropic Messages API (HTTPS)</a:t>
            </a:r>
          </a:p>
          <a:p>
            <a:pPr algn="ctr"/>
            <a:r>
              <a:rPr sz="1000" b="0">
                <a:solidFill>
                  <a:srgbClr val="222222"/>
                </a:solidFill>
                <a:latin typeface="Calibri"/>
              </a:rPr>
              <a:t>Sent from each app's native layer, after an allowlist and caps check, under the user's or school's own account. Web code never sees the key.</a:t>
            </a:r>
          </a:p>
        </p:txBody>
      </p:sp>
      <p:sp>
        <p:nvSpPr>
          <p:cNvPr id="26" name="Rounded Rectangle 25"/>
          <p:cNvSpPr/>
          <p:nvPr/>
        </p:nvSpPr>
        <p:spPr>
          <a:xfrm>
            <a:off x="9043416" y="4754880"/>
            <a:ext cx="2679192" cy="731520"/>
          </a:xfrm>
          <a:prstGeom prst="roundRect">
            <a:avLst>
              <a:gd name="adj" fmla="val 8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4A4A4A"/>
                </a:solidFill>
                <a:latin typeface="Calibri"/>
              </a:rPr>
              <a:t>No network calls</a:t>
            </a:r>
          </a:p>
          <a:p>
            <a:pPr algn="ctr"/>
            <a:r>
              <a:rPr sz="900" b="0">
                <a:solidFill>
                  <a:srgbClr val="222222"/>
                </a:solidFill>
                <a:latin typeface="Calibri"/>
              </a:rPr>
              <a:t>storyboard, build, code and screen all work offline</a:t>
            </a:r>
          </a:p>
        </p:txBody>
      </p:sp>
      <p:sp>
        <p:nvSpPr>
          <p:cNvPr id="27" name="TextBox 26"/>
          <p:cNvSpPr txBox="1"/>
          <p:nvPr/>
        </p:nvSpPr>
        <p:spPr>
          <a:xfrm>
            <a:off x="457200" y="5669280"/>
            <a:ext cx="11247120" cy="548640"/>
          </a:xfrm>
          <a:prstGeom prst="rect">
            <a:avLst/>
          </a:prstGeom>
          <a:noFill/>
        </p:spPr>
        <p:txBody>
          <a:bodyPr wrap="square" anchor="t" lIns="0" rIns="0" tIns="0" bIns="0">
            <a:spAutoFit/>
          </a:bodyPr>
          <a:lstStyle/>
          <a:p>
            <a:pPr algn="l"/>
            <a:r>
              <a:rPr sz="1000" b="0" i="0">
                <a:solidFill>
                  <a:srgbClr val="5F5F5F"/>
                </a:solidFill>
                <a:latin typeface="Calibri"/>
              </a:rPr>
              <a:t>Never in a settings file: any program running as the same user could read it.</a:t>
            </a:r>
          </a:p>
          <a:p>
            <a:pPr algn="l"/>
            <a:r>
              <a:rPr sz="1000" b="0" i="0">
                <a:solidFill>
                  <a:srgbClr val="5F5F5F"/>
                </a:solidFill>
                <a:latin typeface="Calibri"/>
              </a:rPr>
              <a:t>Schools lock the Prompter off, or to Explain only, and set caps, through policy. Linux is not in the first release. How the Prompter reaches a whole class is decided at M1 (WP24.3).</a:t>
            </a:r>
          </a:p>
        </p:txBody>
      </p:sp>
      <p:sp>
        <p:nvSpPr>
          <p:cNvPr id="28" name="TextBox 27"/>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StoryStage runs no servers. The browser version is static files on storystage.org.uk.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StoryStage 2 workplan at a glance</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Thirteen milestones and 26 work packages. Milestones are gates, not phases: work starts as soon as its dependencies allow (slide 9).</a:t>
            </a:r>
          </a:p>
        </p:txBody>
      </p:sp>
      <p:sp>
        <p:nvSpPr>
          <p:cNvPr id="4" name="Rounded Rectangle 3"/>
          <p:cNvSpPr/>
          <p:nvPr/>
        </p:nvSpPr>
        <p:spPr>
          <a:xfrm>
            <a:off x="457200" y="109728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M0  Foundations</a:t>
            </a:r>
          </a:p>
          <a:p>
            <a:pPr algn="l"/>
            <a:r>
              <a:rPr sz="950" b="0">
                <a:solidFill>
                  <a:srgbClr val="222222"/>
                </a:solidFill>
                <a:latin typeface="Calibri"/>
              </a:rPr>
              <a:t>WP0 · repo, CI, specs, interface contracts</a:t>
            </a:r>
          </a:p>
          <a:p>
            <a:pPr algn="l"/>
            <a:r>
              <a:rPr sz="900" b="0">
                <a:solidFill>
                  <a:srgbClr val="164C40"/>
                </a:solidFill>
                <a:latin typeface="Calibri"/>
              </a:rPr>
              <a:t>Gate: CI blocks a failing pull request</a:t>
            </a:r>
          </a:p>
        </p:txBody>
      </p:sp>
      <p:sp>
        <p:nvSpPr>
          <p:cNvPr id="5" name="Rounded Rectangle 4"/>
          <p:cNvSpPr/>
          <p:nvPr/>
        </p:nvSpPr>
        <p:spPr>
          <a:xfrm>
            <a:off x="2734056" y="109728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M1  Spikes</a:t>
            </a:r>
          </a:p>
          <a:p>
            <a:pPr algn="l"/>
            <a:r>
              <a:rPr sz="950" b="0">
                <a:solidFill>
                  <a:srgbClr val="222222"/>
                </a:solidFill>
                <a:latin typeface="Calibri"/>
              </a:rPr>
              <a:t>WP1 · 3D, voice, runtime, blocks, key, Android, MP4, AR</a:t>
            </a:r>
          </a:p>
          <a:p>
            <a:pPr algn="l"/>
            <a:r>
              <a:rPr sz="900" b="0">
                <a:solidFill>
                  <a:srgbClr val="164C40"/>
                </a:solidFill>
                <a:latin typeface="Calibri"/>
              </a:rPr>
              <a:t>Gate: go/no-go per spike</a:t>
            </a:r>
          </a:p>
        </p:txBody>
      </p:sp>
      <p:sp>
        <p:nvSpPr>
          <p:cNvPr id="6" name="Rounded Rectangle 5"/>
          <p:cNvSpPr/>
          <p:nvPr/>
        </p:nvSpPr>
        <p:spPr>
          <a:xfrm>
            <a:off x="5010912" y="109728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M2  One scene, coded</a:t>
            </a:r>
          </a:p>
          <a:p>
            <a:pPr algn="l"/>
            <a:r>
              <a:rPr sz="950" b="0">
                <a:solidFill>
                  <a:srgbClr val="222222"/>
                </a:solidFill>
                <a:latin typeface="Calibri"/>
              </a:rPr>
              <a:t>WP2–7c · AST, Backstage, Story API, stage, runtime, both code editors</a:t>
            </a:r>
          </a:p>
          <a:p>
            <a:pPr algn="l"/>
            <a:r>
              <a:rPr sz="900" b="0">
                <a:solidFill>
                  <a:srgbClr val="164C40"/>
                </a:solidFill>
                <a:latin typeface="Calibri"/>
              </a:rPr>
              <a:t>Gate: build, code and rehearse a scene</a:t>
            </a:r>
          </a:p>
        </p:txBody>
      </p:sp>
      <p:sp>
        <p:nvSpPr>
          <p:cNvPr id="7" name="Rounded Rectangle 6"/>
          <p:cNvSpPr/>
          <p:nvPr/>
        </p:nvSpPr>
        <p:spPr>
          <a:xfrm>
            <a:off x="7287768" y="109728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M3  Productions</a:t>
            </a:r>
          </a:p>
          <a:p>
            <a:pPr algn="l"/>
            <a:r>
              <a:rPr sz="950" b="0">
                <a:solidFill>
                  <a:srgbClr val="222222"/>
                </a:solidFill>
                <a:latin typeface="Calibri"/>
              </a:rPr>
              <a:t>WP8, 9, 11 · .storystage, scenes, .a3p import, rough cut</a:t>
            </a:r>
          </a:p>
          <a:p>
            <a:pPr algn="l"/>
            <a:r>
              <a:rPr sz="900" b="0">
                <a:solidFill>
                  <a:srgbClr val="164C40"/>
                </a:solidFill>
                <a:latin typeface="Calibri"/>
              </a:rPr>
              <a:t>Gate: scenes play in order</a:t>
            </a:r>
          </a:p>
        </p:txBody>
      </p:sp>
      <p:sp>
        <p:nvSpPr>
          <p:cNvPr id="8" name="Rounded Rectangle 7"/>
          <p:cNvSpPr/>
          <p:nvPr/>
        </p:nvSpPr>
        <p:spPr>
          <a:xfrm>
            <a:off x="9564624" y="109728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M4  Storyboard</a:t>
            </a:r>
          </a:p>
          <a:p>
            <a:pPr algn="l"/>
            <a:r>
              <a:rPr sz="950" b="0">
                <a:solidFill>
                  <a:srgbClr val="222222"/>
                </a:solidFill>
                <a:latin typeface="Calibri"/>
              </a:rPr>
              <a:t>WP10, 12 · script, sketches, shot types, links, design</a:t>
            </a:r>
          </a:p>
          <a:p>
            <a:pPr algn="l"/>
            <a:r>
              <a:rPr sz="900" b="0">
                <a:solidFill>
                  <a:srgbClr val="164C40"/>
                </a:solidFill>
                <a:latin typeface="Calibri"/>
              </a:rPr>
              <a:t>Gate: plan first, then place the cast</a:t>
            </a:r>
          </a:p>
        </p:txBody>
      </p:sp>
      <p:sp>
        <p:nvSpPr>
          <p:cNvPr id="9" name="Rounded Rectangle 8"/>
          <p:cNvSpPr/>
          <p:nvPr/>
        </p:nvSpPr>
        <p:spPr>
          <a:xfrm>
            <a:off x="457200" y="219456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M5  Prompter and speech</a:t>
            </a:r>
          </a:p>
          <a:p>
            <a:pPr algn="l"/>
            <a:r>
              <a:rPr sz="950" b="0">
                <a:solidFill>
                  <a:srgbClr val="222222"/>
                </a:solidFill>
                <a:latin typeface="Calibri"/>
              </a:rPr>
              <a:t>WP13–14 · port, story coach, voice</a:t>
            </a:r>
          </a:p>
          <a:p>
            <a:pPr algn="l"/>
            <a:r>
              <a:rPr sz="900" b="0">
                <a:solidFill>
                  <a:srgbClr val="164C40"/>
                </a:solidFill>
                <a:latin typeface="Calibri"/>
              </a:rPr>
              <a:t>Gate: live run scores 75% or more</a:t>
            </a:r>
          </a:p>
        </p:txBody>
      </p:sp>
      <p:sp>
        <p:nvSpPr>
          <p:cNvPr id="10" name="Rounded Rectangle 9"/>
          <p:cNvSpPr/>
          <p:nvPr/>
        </p:nvSpPr>
        <p:spPr>
          <a:xfrm>
            <a:off x="2734056" y="219456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M6  Distribution</a:t>
            </a:r>
          </a:p>
          <a:p>
            <a:pPr algn="l"/>
            <a:r>
              <a:rPr sz="950" b="0">
                <a:solidFill>
                  <a:srgbClr val="222222"/>
                </a:solidFill>
                <a:latin typeface="Calibri"/>
              </a:rPr>
              <a:t>WP11, 15, 18 · MP4, signed apps, browser version</a:t>
            </a:r>
          </a:p>
          <a:p>
            <a:pPr algn="l"/>
            <a:r>
              <a:rPr sz="900" b="0">
                <a:solidFill>
                  <a:srgbClr val="164C40"/>
                </a:solidFill>
                <a:latin typeface="Calibri"/>
              </a:rPr>
              <a:t>Gate: installs on every device</a:t>
            </a:r>
          </a:p>
        </p:txBody>
      </p:sp>
      <p:sp>
        <p:nvSpPr>
          <p:cNvPr id="11" name="Rounded Rectangle 10"/>
          <p:cNvSpPr/>
          <p:nvPr/>
        </p:nvSpPr>
        <p:spPr>
          <a:xfrm>
            <a:off x="5010912" y="219456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M7  Pilot ready</a:t>
            </a:r>
          </a:p>
          <a:p>
            <a:pPr algn="l"/>
            <a:r>
              <a:rPr sz="950" b="0">
                <a:solidFill>
                  <a:srgbClr val="222222"/>
                </a:solidFill>
                <a:latin typeface="Calibri"/>
              </a:rPr>
              <a:t>WP16, 17, 19, 24 · curriculum, DPIA, class set-up</a:t>
            </a:r>
          </a:p>
          <a:p>
            <a:pPr algn="l"/>
            <a:r>
              <a:rPr sz="900" b="0">
                <a:solidFill>
                  <a:srgbClr val="164C40"/>
                </a:solidFill>
                <a:latin typeface="Calibri"/>
              </a:rPr>
              <a:t>Gate: a class can be set up; schools recruited</a:t>
            </a:r>
          </a:p>
        </p:txBody>
      </p:sp>
      <p:sp>
        <p:nvSpPr>
          <p:cNvPr id="12" name="Rounded Rectangle 11"/>
          <p:cNvSpPr/>
          <p:nvPr/>
        </p:nvSpPr>
        <p:spPr>
          <a:xfrm>
            <a:off x="7287768" y="2194560"/>
            <a:ext cx="2167128" cy="1005840"/>
          </a:xfrm>
          <a:prstGeom prst="roundRect">
            <a:avLst>
              <a:gd name="adj" fmla="val 6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164C40"/>
                </a:solidFill>
                <a:latin typeface="Calibri"/>
              </a:rPr>
              <a:t>M12  Pilot complete</a:t>
            </a:r>
          </a:p>
          <a:p>
            <a:pPr algn="l"/>
            <a:r>
              <a:rPr sz="950" b="0">
                <a:solidFill>
                  <a:srgbClr val="222222"/>
                </a:solidFill>
                <a:latin typeface="Calibri"/>
              </a:rPr>
              <a:t>WP19.7–19.8 · pilot and editor study</a:t>
            </a:r>
          </a:p>
          <a:p>
            <a:pPr algn="l"/>
            <a:r>
              <a:rPr sz="900" b="0">
                <a:solidFill>
                  <a:srgbClr val="164C40"/>
                </a:solidFill>
                <a:latin typeface="Calibri"/>
              </a:rPr>
              <a:t>Gate: feedback triaged; editor chosen</a:t>
            </a:r>
          </a:p>
        </p:txBody>
      </p:sp>
      <p:sp>
        <p:nvSpPr>
          <p:cNvPr id="13" name="Rounded Rectangle 12"/>
          <p:cNvSpPr/>
          <p:nvPr/>
        </p:nvSpPr>
        <p:spPr>
          <a:xfrm>
            <a:off x="9564624" y="2194560"/>
            <a:ext cx="2167128" cy="1005840"/>
          </a:xfrm>
          <a:prstGeom prst="roundRect">
            <a:avLst>
              <a:gd name="adj" fmla="val 6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8A3F00"/>
                </a:solidFill>
                <a:latin typeface="Calibri"/>
              </a:rPr>
              <a:t>M8  Pathway</a:t>
            </a:r>
          </a:p>
          <a:p>
            <a:pPr algn="l"/>
            <a:r>
              <a:rPr sz="950" b="0">
                <a:solidFill>
                  <a:srgbClr val="222222"/>
                </a:solidFill>
                <a:latin typeface="Calibri"/>
              </a:rPr>
              <a:t>WP20 · export to Unreal, Unity, Godot; guide</a:t>
            </a:r>
          </a:p>
          <a:p>
            <a:pPr algn="l"/>
            <a:r>
              <a:rPr sz="900" b="0">
                <a:solidFill>
                  <a:srgbClr val="8A3F00"/>
                </a:solidFill>
                <a:latin typeface="Calibri"/>
              </a:rPr>
              <a:t>Gate: a production opens in Unreal and Unity</a:t>
            </a:r>
          </a:p>
        </p:txBody>
      </p:sp>
      <p:sp>
        <p:nvSpPr>
          <p:cNvPr id="14" name="Rounded Rectangle 13"/>
          <p:cNvSpPr/>
          <p:nvPr/>
        </p:nvSpPr>
        <p:spPr>
          <a:xfrm>
            <a:off x="457200" y="3291839"/>
            <a:ext cx="2167128" cy="1005840"/>
          </a:xfrm>
          <a:prstGeom prst="roundRect">
            <a:avLst>
              <a:gd name="adj" fmla="val 6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8A3F00"/>
                </a:solidFill>
                <a:latin typeface="Calibri"/>
              </a:rPr>
              <a:t>M9  AR design mode</a:t>
            </a:r>
          </a:p>
          <a:p>
            <a:pPr algn="l"/>
            <a:r>
              <a:rPr sz="950" b="0">
                <a:solidFill>
                  <a:srgbClr val="222222"/>
                </a:solidFill>
                <a:latin typeface="Calibri"/>
              </a:rPr>
              <a:t>WP21 · Android WebXR, iPad ARKit, safeguards</a:t>
            </a:r>
          </a:p>
          <a:p>
            <a:pPr algn="l"/>
            <a:r>
              <a:rPr sz="900" b="0">
                <a:solidFill>
                  <a:srgbClr val="8A3F00"/>
                </a:solidFill>
                <a:latin typeface="Calibri"/>
              </a:rPr>
              <a:t>Gate: a scene rehearsed on a real table</a:t>
            </a:r>
          </a:p>
        </p:txBody>
      </p:sp>
      <p:sp>
        <p:nvSpPr>
          <p:cNvPr id="15" name="Rounded Rectangle 14"/>
          <p:cNvSpPr/>
          <p:nvPr/>
        </p:nvSpPr>
        <p:spPr>
          <a:xfrm>
            <a:off x="2734056" y="3291839"/>
            <a:ext cx="2167128" cy="1005840"/>
          </a:xfrm>
          <a:prstGeom prst="roundRect">
            <a:avLst>
              <a:gd name="adj" fmla="val 6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8A3F00"/>
                </a:solidFill>
                <a:latin typeface="Calibri"/>
              </a:rPr>
              <a:t>M10  AR for audiences</a:t>
            </a:r>
          </a:p>
          <a:p>
            <a:pPr algn="l"/>
            <a:r>
              <a:rPr sz="950" b="0">
                <a:solidFill>
                  <a:srgbClr val="222222"/>
                </a:solidFill>
                <a:latin typeface="Calibri"/>
              </a:rPr>
              <a:t>WP22 · AR player, AR pack (GLB, USDZ), mixed-reality film</a:t>
            </a:r>
          </a:p>
          <a:p>
            <a:pPr algn="l"/>
            <a:r>
              <a:rPr sz="900" b="0">
                <a:solidFill>
                  <a:srgbClr val="8A3F00"/>
                </a:solidFill>
                <a:latin typeface="Calibri"/>
              </a:rPr>
              <a:t>Gate: an AR pack opens on Android and iPad</a:t>
            </a:r>
          </a:p>
        </p:txBody>
      </p:sp>
      <p:sp>
        <p:nvSpPr>
          <p:cNvPr id="16" name="Rounded Rectangle 15"/>
          <p:cNvSpPr/>
          <p:nvPr/>
        </p:nvSpPr>
        <p:spPr>
          <a:xfrm>
            <a:off x="5010912" y="3291839"/>
            <a:ext cx="2167128" cy="1005840"/>
          </a:xfrm>
          <a:prstGeom prst="roundRect">
            <a:avLst>
              <a:gd name="adj" fmla="val 6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150" b="1">
                <a:solidFill>
                  <a:srgbClr val="8A3F00"/>
                </a:solidFill>
                <a:latin typeface="Calibri"/>
              </a:rPr>
              <a:t>M11  Projection mapping</a:t>
            </a:r>
          </a:p>
          <a:p>
            <a:pPr algn="l"/>
            <a:r>
              <a:rPr sz="950" b="0">
                <a:solidFill>
                  <a:srgbClr val="222222"/>
                </a:solidFill>
                <a:latin typeface="Calibri"/>
              </a:rPr>
              <a:t>WP23 · Projection stage, classroom projection, Export to Pixera</a:t>
            </a:r>
          </a:p>
          <a:p>
            <a:pPr algn="l"/>
            <a:r>
              <a:rPr sz="900" b="0">
                <a:solidFill>
                  <a:srgbClr val="8A3F00"/>
                </a:solidFill>
                <a:latin typeface="Calibri"/>
              </a:rPr>
              <a:t>Gate: a working Pixera timeline</a:t>
            </a:r>
          </a:p>
        </p:txBody>
      </p:sp>
      <p:sp>
        <p:nvSpPr>
          <p:cNvPr id="17" name="Rounded Rectangle 16"/>
          <p:cNvSpPr/>
          <p:nvPr/>
        </p:nvSpPr>
        <p:spPr>
          <a:xfrm>
            <a:off x="457200" y="4754880"/>
            <a:ext cx="557784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F3F66"/>
                </a:solidFill>
                <a:latin typeface="Calibri"/>
              </a:rPr>
              <a:t>Runs alongside: WP16 UK curriculum mapping</a:t>
            </a:r>
          </a:p>
          <a:p>
            <a:pPr algn="ctr"/>
            <a:r>
              <a:rPr sz="1000" b="0">
                <a:solidFill>
                  <a:srgbClr val="222222"/>
                </a:solidFill>
                <a:latin typeface="Calibri"/>
              </a:rPr>
              <a:t>England, Scotland, Wales and Northern Ireland</a:t>
            </a:r>
          </a:p>
        </p:txBody>
      </p:sp>
      <p:sp>
        <p:nvSpPr>
          <p:cNvPr id="18" name="Rounded Rectangle 17"/>
          <p:cNvSpPr/>
          <p:nvPr/>
        </p:nvSpPr>
        <p:spPr>
          <a:xfrm>
            <a:off x="6172200" y="4754880"/>
            <a:ext cx="5532120" cy="64008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F3F66"/>
                </a:solidFill>
                <a:latin typeface="Calibri"/>
              </a:rPr>
              <a:t>Runs alongside: WP17 legal and licences</a:t>
            </a:r>
          </a:p>
          <a:p>
            <a:pPr algn="ctr"/>
            <a:r>
              <a:rPr sz="1000" b="0">
                <a:solidFill>
                  <a:srgbClr val="222222"/>
                </a:solidFill>
                <a:latin typeface="Calibri"/>
              </a:rPr>
              <a:t>first: ask CMU about Alice's models, and EA about the Sims</a:t>
            </a:r>
          </a:p>
        </p:txBody>
      </p:sp>
      <p:sp>
        <p:nvSpPr>
          <p:cNvPr id="19" name="TextBox 18"/>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Teal: first release and pilot (M0–M7, M12). Orange: held until after the release candidate; release 1.1. Roadmap: AR trails, headsets, voice-over, older-learner concepts (release 1.2 and 2). Full detail: StoryStage2-workplan.md, written for Claude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Beyond the first release: a pathway to industry tools</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StoryStage 2 teaches, in simple blocks, the ideas learners meet next in Unreal and Unity, and adds an AR design mode.</a:t>
            </a:r>
          </a:p>
        </p:txBody>
      </p:sp>
      <p:sp>
        <p:nvSpPr>
          <p:cNvPr id="4" name="Rounded Rectangle 3"/>
          <p:cNvSpPr/>
          <p:nvPr/>
        </p:nvSpPr>
        <p:spPr>
          <a:xfrm>
            <a:off x="457200" y="1188720"/>
            <a:ext cx="2606040" cy="77724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1  StoryStage blocks</a:t>
            </a:r>
          </a:p>
          <a:p>
            <a:pPr algn="ctr"/>
            <a:r>
              <a:rPr sz="950" b="0">
                <a:solidFill>
                  <a:srgbClr val="222222"/>
                </a:solidFill>
                <a:latin typeface="Calibri"/>
              </a:rPr>
              <a:t>storyboard, cast, code, screen</a:t>
            </a:r>
          </a:p>
        </p:txBody>
      </p:sp>
      <p:cxnSp>
        <p:nvCxnSpPr>
          <p:cNvPr id="5" name="Connector 4"/>
          <p:cNvCxnSpPr/>
          <p:nvPr/>
        </p:nvCxnSpPr>
        <p:spPr>
          <a:xfrm>
            <a:off x="3090672" y="1577340"/>
            <a:ext cx="246888"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364992" y="1188720"/>
            <a:ext cx="2606040" cy="77724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2  Text view</a:t>
            </a:r>
          </a:p>
          <a:p>
            <a:pPr algn="ctr"/>
            <a:r>
              <a:rPr sz="950" b="0">
                <a:solidFill>
                  <a:srgbClr val="222222"/>
                </a:solidFill>
                <a:latin typeface="Calibri"/>
              </a:rPr>
              <a:t>"under the hood" names: walk to → navigation mesh</a:t>
            </a:r>
          </a:p>
        </p:txBody>
      </p:sp>
      <p:cxnSp>
        <p:nvCxnSpPr>
          <p:cNvPr id="7" name="Connector 6"/>
          <p:cNvCxnSpPr/>
          <p:nvPr/>
        </p:nvCxnSpPr>
        <p:spPr>
          <a:xfrm>
            <a:off x="5998464" y="1577340"/>
            <a:ext cx="246888"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72784" y="1188720"/>
            <a:ext cx="2606040" cy="77724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3  Export</a:t>
            </a:r>
          </a:p>
          <a:p>
            <a:pPr algn="ctr"/>
            <a:r>
              <a:rPr sz="950" b="0">
                <a:solidFill>
                  <a:srgbClr val="222222"/>
                </a:solidFill>
                <a:latin typeface="Calibri"/>
              </a:rPr>
              <a:t>glTF models + scene and timing description</a:t>
            </a:r>
          </a:p>
        </p:txBody>
      </p:sp>
      <p:cxnSp>
        <p:nvCxnSpPr>
          <p:cNvPr id="9" name="Connector 8"/>
          <p:cNvCxnSpPr/>
          <p:nvPr/>
        </p:nvCxnSpPr>
        <p:spPr>
          <a:xfrm>
            <a:off x="8906256" y="1577340"/>
            <a:ext cx="246888"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80576" y="1188720"/>
            <a:ext cx="2606040" cy="77724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F3F66"/>
                </a:solidFill>
                <a:latin typeface="Calibri"/>
              </a:rPr>
              <a:t>4  Industry tools</a:t>
            </a:r>
          </a:p>
          <a:p>
            <a:pPr algn="ctr"/>
            <a:r>
              <a:rPr sz="950" b="0">
                <a:solidFill>
                  <a:srgbClr val="222222"/>
                </a:solidFill>
                <a:latin typeface="Calibri"/>
              </a:rPr>
              <a:t>Unreal Blueprints and C++ · Unity C# · Godot</a:t>
            </a:r>
          </a:p>
        </p:txBody>
      </p:sp>
      <p:sp>
        <p:nvSpPr>
          <p:cNvPr id="11" name="Rounded Rectangle 10"/>
          <p:cNvSpPr/>
          <p:nvPr/>
        </p:nvSpPr>
        <p:spPr>
          <a:xfrm>
            <a:off x="457200" y="2286000"/>
            <a:ext cx="3611880" cy="3063240"/>
          </a:xfrm>
          <a:prstGeom prst="roundRect">
            <a:avLst>
              <a:gd name="adj" fmla="val 4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164C40"/>
                </a:solidFill>
                <a:latin typeface="Calibri"/>
              </a:rPr>
              <a:t>Learning from Unreal and Unity</a:t>
            </a:r>
          </a:p>
          <a:p>
            <a:pPr algn="l"/>
            <a:r>
              <a:rPr sz="1200" b="0">
                <a:solidFill>
                  <a:srgbClr val="222222"/>
                </a:solidFill>
                <a:latin typeface="Calibri"/>
              </a:rPr>
              <a:t>• Retargeting (Unity Mecanim): one animation library for every humanoid, through VRM bone names</a:t>
            </a:r>
          </a:p>
          <a:p>
            <a:pPr algn="l"/>
            <a:r>
              <a:rPr sz="1200" b="0">
                <a:solidFill>
                  <a:srgbClr val="222222"/>
                </a:solidFill>
                <a:latin typeface="Calibri"/>
              </a:rPr>
              <a:t>• Smart cameras (Unity Cinemachine): shot types such as close-up, follow, over-the-shoulder</a:t>
            </a:r>
          </a:p>
          <a:p>
            <a:pPr algn="l"/>
            <a:r>
              <a:rPr sz="1200" b="0">
                <a:solidFill>
                  <a:srgbClr val="222222"/>
                </a:solidFill>
                <a:latin typeface="Calibri"/>
              </a:rPr>
              <a:t>• Navigation mesh (both engines use Recast): walk to goes round obstacles</a:t>
            </a:r>
          </a:p>
          <a:p>
            <a:pPr algn="l"/>
            <a:r>
              <a:rPr sz="1200" b="0">
                <a:solidFill>
                  <a:srgbClr val="222222"/>
                </a:solidFill>
                <a:latin typeface="Calibri"/>
              </a:rPr>
              <a:t>• Montages and Animator: play animation, gestures, automatic walk and run</a:t>
            </a:r>
          </a:p>
          <a:p>
            <a:pPr algn="l"/>
            <a:r>
              <a:rPr sz="1200" b="0">
                <a:solidFill>
                  <a:srgbClr val="222222"/>
                </a:solidFill>
                <a:latin typeface="Calibri"/>
              </a:rPr>
              <a:t>• Control Rig and Animation Rigging: look at, reach for, touch</a:t>
            </a:r>
          </a:p>
          <a:p>
            <a:pPr algn="l"/>
            <a:r>
              <a:rPr sz="1200" b="0">
                <a:solidFill>
                  <a:srgbClr val="222222"/>
                </a:solidFill>
                <a:latin typeface="Calibri"/>
              </a:rPr>
              <a:t>• Sequencer and Timeline: the Screening room timeline</a:t>
            </a:r>
          </a:p>
        </p:txBody>
      </p:sp>
      <p:sp>
        <p:nvSpPr>
          <p:cNvPr id="12" name="Rounded Rectangle 11"/>
          <p:cNvSpPr/>
          <p:nvPr/>
        </p:nvSpPr>
        <p:spPr>
          <a:xfrm>
            <a:off x="4270248" y="2286000"/>
            <a:ext cx="3611880" cy="3063240"/>
          </a:xfrm>
          <a:prstGeom prst="roundRect">
            <a:avLst>
              <a:gd name="adj" fmla="val 4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8A3F00"/>
                </a:solidFill>
                <a:latin typeface="Calibri"/>
              </a:rPr>
              <a:t>WP20  Pathway</a:t>
            </a:r>
          </a:p>
          <a:p>
            <a:pPr algn="l"/>
            <a:r>
              <a:rPr sz="1200" b="0">
                <a:solidFill>
                  <a:srgbClr val="222222"/>
                </a:solidFill>
                <a:latin typeface="Calibri"/>
              </a:rPr>
              <a:t>• "Under the hood" names in the text view and teacher notes</a:t>
            </a:r>
          </a:p>
          <a:p>
            <a:pPr algn="l"/>
            <a:r>
              <a:rPr sz="1200" b="0">
                <a:solidFill>
                  <a:srgbClr val="222222"/>
                </a:solidFill>
                <a:latin typeface="Calibri"/>
              </a:rPr>
              <a:t>• Export to Unreal: level and Sequencer from glTF and a scene description</a:t>
            </a:r>
          </a:p>
          <a:p>
            <a:pPr algn="l"/>
            <a:r>
              <a:rPr sz="1200" b="0">
                <a:solidFill>
                  <a:srgbClr val="222222"/>
                </a:solidFill>
                <a:latin typeface="Calibri"/>
              </a:rPr>
              <a:t>• Export to Unity (glTFast) and Godot (MIT): no lock-in to one company</a:t>
            </a:r>
          </a:p>
          <a:p>
            <a:pPr algn="l"/>
            <a:r>
              <a:rPr sz="1200" b="0">
                <a:solidFill>
                  <a:srgbClr val="222222"/>
                </a:solidFill>
                <a:latin typeface="Calibri"/>
              </a:rPr>
              <a:t>• Pathway guide, matched to the curriculum and to UK games and screen careers</a:t>
            </a:r>
          </a:p>
          <a:p>
            <a:pPr algn="l"/>
            <a:r>
              <a:rPr sz="1200" b="0">
                <a:solidFill>
                  <a:srgbClr val="222222"/>
                </a:solidFill>
                <a:latin typeface="Calibri"/>
              </a:rPr>
              <a:t>• MetaHuman trial: one simplified character, adopted only if it runs at 30 fps</a:t>
            </a:r>
          </a:p>
        </p:txBody>
      </p:sp>
      <p:sp>
        <p:nvSpPr>
          <p:cNvPr id="13" name="Rounded Rectangle 12"/>
          <p:cNvSpPr/>
          <p:nvPr/>
        </p:nvSpPr>
        <p:spPr>
          <a:xfrm>
            <a:off x="8083296" y="2286000"/>
            <a:ext cx="3611880" cy="3063240"/>
          </a:xfrm>
          <a:prstGeom prst="roundRect">
            <a:avLst>
              <a:gd name="adj" fmla="val 4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8A3F00"/>
                </a:solidFill>
                <a:latin typeface="Calibri"/>
              </a:rPr>
              <a:t>WP21  AR design mode</a:t>
            </a:r>
          </a:p>
          <a:p>
            <a:pPr algn="l"/>
            <a:r>
              <a:rPr sz="1200" b="0">
                <a:solidFill>
                  <a:srgbClr val="222222"/>
                </a:solidFill>
                <a:latin typeface="Calibri"/>
              </a:rPr>
              <a:t>• Place your set on a real table, toy-size to life-size, and walk round it</a:t>
            </a:r>
          </a:p>
          <a:p>
            <a:pPr algn="l"/>
            <a:r>
              <a:rPr sz="1200" b="0">
                <a:solidFill>
                  <a:srgbClr val="222222"/>
                </a:solidFill>
                <a:latin typeface="Calibri"/>
              </a:rPr>
              <a:t>• Android: WebXR in Chrome and the Android app (Babylon.js hit-test, planes, anchors)</a:t>
            </a:r>
          </a:p>
          <a:p>
            <a:pPr algn="l"/>
            <a:r>
              <a:rPr sz="1200" b="0">
                <a:solidFill>
                  <a:srgbClr val="222222"/>
                </a:solidFill>
                <a:latin typeface="Calibri"/>
              </a:rPr>
              <a:t>• iPad: native ARKit plugin in the iOS app; fallback "View in AR" (USDZ)</a:t>
            </a:r>
          </a:p>
          <a:p>
            <a:pPr algn="l"/>
            <a:r>
              <a:rPr sz="1200" b="0">
                <a:solidFill>
                  <a:srgbClr val="222222"/>
                </a:solidFill>
                <a:latin typeface="Calibri"/>
              </a:rPr>
              <a:t>• Chromebooks and desktops: hidden, with a short explanation</a:t>
            </a:r>
          </a:p>
          <a:p>
            <a:pPr algn="l"/>
            <a:r>
              <a:rPr sz="1200" b="0">
                <a:solidFill>
                  <a:srgbClr val="222222"/>
                </a:solidFill>
                <a:latin typeface="Calibri"/>
              </a:rPr>
              <a:t>• Safeguards: camera images stay on the device; recording off by default; schools can switch AR off</a:t>
            </a:r>
          </a:p>
        </p:txBody>
      </p:sp>
      <p:sp>
        <p:nvSpPr>
          <p:cNvPr id="14" name="TextBox 13"/>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Detail: StoryStage2-crosswalk.md (Alice, Looking Glass, VRM, H-Anim, BML, X3D, Unreal and Unity compared) and StoryStage2-workplan.md (WP4.5–4.10, WP20, WP21).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 name="Rectangle 98"/>
          <p:cNvSpPr/>
          <p:nvPr/>
        </p:nvSpPr>
        <p:spPr>
          <a:xfrm>
            <a:off x="274320" y="5932627"/>
            <a:ext cx="11612880" cy="181051"/>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74320" y="5226710"/>
            <a:ext cx="11612880" cy="34381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74320" y="4195267"/>
            <a:ext cx="11612880" cy="506577"/>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4320" y="3814876"/>
            <a:ext cx="11612880" cy="181051"/>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4320" y="3271723"/>
            <a:ext cx="11612880" cy="181051"/>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2565806"/>
            <a:ext cx="11612880" cy="34381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022652"/>
            <a:ext cx="11612880" cy="34381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316736"/>
            <a:ext cx="11612880" cy="343814"/>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Doing the most work in parallel</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Each work package starts as soon as its own dependencies are done. Week 0 is 19 Oct 2026; durations are estimates.</a:t>
            </a:r>
          </a:p>
        </p:txBody>
      </p:sp>
      <p:cxnSp>
        <p:nvCxnSpPr>
          <p:cNvPr id="4" name="Connector 3"/>
          <p:cNvCxnSpPr/>
          <p:nvPr/>
        </p:nvCxnSpPr>
        <p:spPr>
          <a:xfrm>
            <a:off x="2234184"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959864"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Nov</a:t>
            </a:r>
          </a:p>
        </p:txBody>
      </p:sp>
      <p:cxnSp>
        <p:nvCxnSpPr>
          <p:cNvPr id="6" name="Connector 5"/>
          <p:cNvCxnSpPr/>
          <p:nvPr/>
        </p:nvCxnSpPr>
        <p:spPr>
          <a:xfrm>
            <a:off x="3697223"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22904"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Dec</a:t>
            </a:r>
          </a:p>
        </p:txBody>
      </p:sp>
      <p:cxnSp>
        <p:nvCxnSpPr>
          <p:cNvPr id="8" name="Connector 7"/>
          <p:cNvCxnSpPr/>
          <p:nvPr/>
        </p:nvCxnSpPr>
        <p:spPr>
          <a:xfrm>
            <a:off x="5209032"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934712"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Jan 2027</a:t>
            </a:r>
          </a:p>
        </p:txBody>
      </p:sp>
      <p:cxnSp>
        <p:nvCxnSpPr>
          <p:cNvPr id="10" name="Connector 9"/>
          <p:cNvCxnSpPr/>
          <p:nvPr/>
        </p:nvCxnSpPr>
        <p:spPr>
          <a:xfrm>
            <a:off x="6720840"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46520"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Feb</a:t>
            </a:r>
          </a:p>
        </p:txBody>
      </p:sp>
      <p:cxnSp>
        <p:nvCxnSpPr>
          <p:cNvPr id="12" name="Connector 11"/>
          <p:cNvCxnSpPr/>
          <p:nvPr/>
        </p:nvCxnSpPr>
        <p:spPr>
          <a:xfrm>
            <a:off x="8086344"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12024"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Mar</a:t>
            </a:r>
          </a:p>
        </p:txBody>
      </p:sp>
      <p:cxnSp>
        <p:nvCxnSpPr>
          <p:cNvPr id="14" name="Connector 13"/>
          <p:cNvCxnSpPr/>
          <p:nvPr/>
        </p:nvCxnSpPr>
        <p:spPr>
          <a:xfrm>
            <a:off x="9598151"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323831"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Apr</a:t>
            </a:r>
          </a:p>
        </p:txBody>
      </p:sp>
      <p:cxnSp>
        <p:nvCxnSpPr>
          <p:cNvPr id="16" name="Connector 15"/>
          <p:cNvCxnSpPr/>
          <p:nvPr/>
        </p:nvCxnSpPr>
        <p:spPr>
          <a:xfrm>
            <a:off x="11061192" y="1280160"/>
            <a:ext cx="0" cy="4851806"/>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786871" y="1078992"/>
            <a:ext cx="548640" cy="182880"/>
          </a:xfrm>
          <a:prstGeom prst="rect">
            <a:avLst/>
          </a:prstGeom>
          <a:noFill/>
        </p:spPr>
        <p:txBody>
          <a:bodyPr wrap="square" anchor="t" lIns="0" rIns="0" tIns="0" bIns="0">
            <a:spAutoFit/>
          </a:bodyPr>
          <a:lstStyle/>
          <a:p>
            <a:pPr algn="ctr"/>
            <a:r>
              <a:rPr sz="800" b="0" i="0">
                <a:solidFill>
                  <a:srgbClr val="5F5F5F"/>
                </a:solidFill>
                <a:latin typeface="Calibri"/>
              </a:rPr>
              <a:t>May</a:t>
            </a:r>
          </a:p>
        </p:txBody>
      </p:sp>
      <p:sp>
        <p:nvSpPr>
          <p:cNvPr id="19" name="TextBox 18"/>
          <p:cNvSpPr txBox="1"/>
          <p:nvPr/>
        </p:nvSpPr>
        <p:spPr>
          <a:xfrm>
            <a:off x="320040" y="1325880"/>
            <a:ext cx="1234440" cy="325526"/>
          </a:xfrm>
          <a:prstGeom prst="rect">
            <a:avLst/>
          </a:prstGeom>
          <a:noFill/>
        </p:spPr>
        <p:txBody>
          <a:bodyPr wrap="square" anchor="ctr" lIns="0" rIns="0" tIns="0" bIns="0">
            <a:spAutoFit/>
          </a:bodyPr>
          <a:lstStyle/>
          <a:p>
            <a:pPr algn="l"/>
            <a:r>
              <a:rPr sz="850" b="1" i="0">
                <a:solidFill>
                  <a:srgbClr val="5F5F5F"/>
                </a:solidFill>
                <a:latin typeface="Calibri"/>
              </a:rPr>
              <a:t>Foundations</a:t>
            </a:r>
          </a:p>
        </p:txBody>
      </p:sp>
      <p:sp>
        <p:nvSpPr>
          <p:cNvPr id="20" name="Rectangle 19"/>
          <p:cNvSpPr/>
          <p:nvPr/>
        </p:nvSpPr>
        <p:spPr>
          <a:xfrm>
            <a:off x="1600200" y="1339595"/>
            <a:ext cx="493775"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WP0</a:t>
            </a:r>
          </a:p>
        </p:txBody>
      </p:sp>
      <p:sp>
        <p:nvSpPr>
          <p:cNvPr id="21" name="Rectangle 20"/>
          <p:cNvSpPr/>
          <p:nvPr/>
        </p:nvSpPr>
        <p:spPr>
          <a:xfrm>
            <a:off x="2112264" y="1339595"/>
            <a:ext cx="49377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WP0s</a:t>
            </a:r>
          </a:p>
        </p:txBody>
      </p:sp>
      <p:sp>
        <p:nvSpPr>
          <p:cNvPr id="22" name="Rectangle 21"/>
          <p:cNvSpPr/>
          <p:nvPr/>
        </p:nvSpPr>
        <p:spPr>
          <a:xfrm>
            <a:off x="7232903" y="1339595"/>
            <a:ext cx="664463"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18b gates</a:t>
            </a:r>
          </a:p>
        </p:txBody>
      </p:sp>
      <p:sp>
        <p:nvSpPr>
          <p:cNvPr id="23" name="Rectangle 22"/>
          <p:cNvSpPr/>
          <p:nvPr/>
        </p:nvSpPr>
        <p:spPr>
          <a:xfrm>
            <a:off x="2112264" y="1502359"/>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WP18a</a:t>
            </a:r>
          </a:p>
        </p:txBody>
      </p:sp>
      <p:sp>
        <p:nvSpPr>
          <p:cNvPr id="24" name="TextBox 23"/>
          <p:cNvSpPr txBox="1"/>
          <p:nvPr/>
        </p:nvSpPr>
        <p:spPr>
          <a:xfrm>
            <a:off x="320040" y="1678838"/>
            <a:ext cx="1234440" cy="325526"/>
          </a:xfrm>
          <a:prstGeom prst="rect">
            <a:avLst/>
          </a:prstGeom>
          <a:noFill/>
        </p:spPr>
        <p:txBody>
          <a:bodyPr wrap="square" anchor="ctr" lIns="0" rIns="0" tIns="0" bIns="0">
            <a:spAutoFit/>
          </a:bodyPr>
          <a:lstStyle/>
          <a:p>
            <a:pPr algn="l"/>
            <a:r>
              <a:rPr sz="850" b="1" i="0">
                <a:solidFill>
                  <a:srgbClr val="5F5F5F"/>
                </a:solidFill>
                <a:latin typeface="Calibri"/>
              </a:rPr>
              <a:t>Spikes</a:t>
            </a:r>
          </a:p>
        </p:txBody>
      </p:sp>
      <p:sp>
        <p:nvSpPr>
          <p:cNvPr id="25" name="Rectangle 24"/>
          <p:cNvSpPr/>
          <p:nvPr/>
        </p:nvSpPr>
        <p:spPr>
          <a:xfrm>
            <a:off x="1600200" y="1692554"/>
            <a:ext cx="323087"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WP1.1</a:t>
            </a:r>
          </a:p>
        </p:txBody>
      </p:sp>
      <p:sp>
        <p:nvSpPr>
          <p:cNvPr id="26" name="Rectangle 25"/>
          <p:cNvSpPr/>
          <p:nvPr/>
        </p:nvSpPr>
        <p:spPr>
          <a:xfrm>
            <a:off x="2112264" y="1692554"/>
            <a:ext cx="1005839"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WP1 spikes</a:t>
            </a:r>
          </a:p>
        </p:txBody>
      </p:sp>
      <p:sp>
        <p:nvSpPr>
          <p:cNvPr id="27" name="Rectangle 26"/>
          <p:cNvSpPr/>
          <p:nvPr/>
        </p:nvSpPr>
        <p:spPr>
          <a:xfrm>
            <a:off x="1600200" y="1855317"/>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WP1g</a:t>
            </a:r>
          </a:p>
        </p:txBody>
      </p:sp>
      <p:sp>
        <p:nvSpPr>
          <p:cNvPr id="29" name="TextBox 28"/>
          <p:cNvSpPr txBox="1"/>
          <p:nvPr/>
        </p:nvSpPr>
        <p:spPr>
          <a:xfrm>
            <a:off x="320040" y="2031796"/>
            <a:ext cx="1234440" cy="325526"/>
          </a:xfrm>
          <a:prstGeom prst="rect">
            <a:avLst/>
          </a:prstGeom>
          <a:noFill/>
        </p:spPr>
        <p:txBody>
          <a:bodyPr wrap="square" anchor="ctr" lIns="0" rIns="0" tIns="0" bIns="0">
            <a:spAutoFit/>
          </a:bodyPr>
          <a:lstStyle/>
          <a:p>
            <a:pPr algn="l"/>
            <a:r>
              <a:rPr sz="850" b="1" i="0">
                <a:solidFill>
                  <a:srgbClr val="5F5F5F"/>
                </a:solidFill>
                <a:latin typeface="Calibri"/>
              </a:rPr>
              <a:t>Language</a:t>
            </a:r>
          </a:p>
        </p:txBody>
      </p:sp>
      <p:sp>
        <p:nvSpPr>
          <p:cNvPr id="30" name="Rectangle 29"/>
          <p:cNvSpPr/>
          <p:nvPr/>
        </p:nvSpPr>
        <p:spPr>
          <a:xfrm>
            <a:off x="2112264" y="2045512"/>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WP2 AST</a:t>
            </a:r>
          </a:p>
        </p:txBody>
      </p:sp>
      <p:sp>
        <p:nvSpPr>
          <p:cNvPr id="31" name="Rectangle 30"/>
          <p:cNvSpPr/>
          <p:nvPr/>
        </p:nvSpPr>
        <p:spPr>
          <a:xfrm>
            <a:off x="3136391" y="2045512"/>
            <a:ext cx="134721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WP6 runtime</a:t>
            </a:r>
          </a:p>
        </p:txBody>
      </p:sp>
      <p:sp>
        <p:nvSpPr>
          <p:cNvPr id="32" name="Rectangle 31"/>
          <p:cNvSpPr/>
          <p:nvPr/>
        </p:nvSpPr>
        <p:spPr>
          <a:xfrm>
            <a:off x="2112264" y="2208276"/>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4a API spec</a:t>
            </a:r>
          </a:p>
        </p:txBody>
      </p:sp>
      <p:sp>
        <p:nvSpPr>
          <p:cNvPr id="33" name="Rectangle 32"/>
          <p:cNvSpPr/>
          <p:nvPr/>
        </p:nvSpPr>
        <p:spPr>
          <a:xfrm>
            <a:off x="2795016" y="2208276"/>
            <a:ext cx="323087"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4d</a:t>
            </a:r>
          </a:p>
        </p:txBody>
      </p:sp>
      <p:sp>
        <p:nvSpPr>
          <p:cNvPr id="34" name="Rectangle 33"/>
          <p:cNvSpPr/>
          <p:nvPr/>
        </p:nvSpPr>
        <p:spPr>
          <a:xfrm>
            <a:off x="4160520" y="2208276"/>
            <a:ext cx="1005839"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4b API blocks</a:t>
            </a:r>
          </a:p>
        </p:txBody>
      </p:sp>
      <p:sp>
        <p:nvSpPr>
          <p:cNvPr id="35" name="TextBox 34"/>
          <p:cNvSpPr txBox="1"/>
          <p:nvPr/>
        </p:nvSpPr>
        <p:spPr>
          <a:xfrm>
            <a:off x="320040" y="2384755"/>
            <a:ext cx="1234440" cy="162763"/>
          </a:xfrm>
          <a:prstGeom prst="rect">
            <a:avLst/>
          </a:prstGeom>
          <a:noFill/>
        </p:spPr>
        <p:txBody>
          <a:bodyPr wrap="square" anchor="ctr" lIns="0" rIns="0" tIns="0" bIns="0">
            <a:spAutoFit/>
          </a:bodyPr>
          <a:lstStyle/>
          <a:p>
            <a:pPr algn="l"/>
            <a:r>
              <a:rPr sz="850" b="1" i="0">
                <a:solidFill>
                  <a:srgbClr val="5F5F5F"/>
                </a:solidFill>
                <a:latin typeface="Calibri"/>
              </a:rPr>
              <a:t>Stage</a:t>
            </a:r>
          </a:p>
        </p:txBody>
      </p:sp>
      <p:sp>
        <p:nvSpPr>
          <p:cNvPr id="36" name="Rectangle 35"/>
          <p:cNvSpPr/>
          <p:nvPr/>
        </p:nvSpPr>
        <p:spPr>
          <a:xfrm>
            <a:off x="3136391" y="2398471"/>
            <a:ext cx="1005839"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5a stage core</a:t>
            </a:r>
          </a:p>
        </p:txBody>
      </p:sp>
      <p:sp>
        <p:nvSpPr>
          <p:cNvPr id="37" name="Rectangle 36"/>
          <p:cNvSpPr/>
          <p:nvPr/>
        </p:nvSpPr>
        <p:spPr>
          <a:xfrm>
            <a:off x="4160520" y="2398471"/>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5b extras</a:t>
            </a:r>
          </a:p>
        </p:txBody>
      </p:sp>
      <p:sp>
        <p:nvSpPr>
          <p:cNvPr id="38" name="Rectangle 37"/>
          <p:cNvSpPr/>
          <p:nvPr/>
        </p:nvSpPr>
        <p:spPr>
          <a:xfrm>
            <a:off x="5184648" y="2398471"/>
            <a:ext cx="134721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4c character actions</a:t>
            </a:r>
          </a:p>
        </p:txBody>
      </p:sp>
      <p:sp>
        <p:nvSpPr>
          <p:cNvPr id="40" name="TextBox 39"/>
          <p:cNvSpPr txBox="1"/>
          <p:nvPr/>
        </p:nvSpPr>
        <p:spPr>
          <a:xfrm>
            <a:off x="320040" y="2574950"/>
            <a:ext cx="1234440" cy="325526"/>
          </a:xfrm>
          <a:prstGeom prst="rect">
            <a:avLst/>
          </a:prstGeom>
          <a:noFill/>
        </p:spPr>
        <p:txBody>
          <a:bodyPr wrap="square" anchor="ctr" lIns="0" rIns="0" tIns="0" bIns="0">
            <a:spAutoFit/>
          </a:bodyPr>
          <a:lstStyle/>
          <a:p>
            <a:pPr algn="l"/>
            <a:r>
              <a:rPr sz="850" b="1" i="0">
                <a:solidFill>
                  <a:srgbClr val="5F5F5F"/>
                </a:solidFill>
                <a:latin typeface="Calibri"/>
              </a:rPr>
              <a:t>Backstage</a:t>
            </a:r>
          </a:p>
        </p:txBody>
      </p:sp>
      <p:sp>
        <p:nvSpPr>
          <p:cNvPr id="41" name="Rectangle 40"/>
          <p:cNvSpPr/>
          <p:nvPr/>
        </p:nvSpPr>
        <p:spPr>
          <a:xfrm>
            <a:off x="1600200" y="2588666"/>
            <a:ext cx="49377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WP3a</a:t>
            </a:r>
          </a:p>
        </p:txBody>
      </p:sp>
      <p:sp>
        <p:nvSpPr>
          <p:cNvPr id="42" name="Rectangle 41"/>
          <p:cNvSpPr/>
          <p:nvPr/>
        </p:nvSpPr>
        <p:spPr>
          <a:xfrm>
            <a:off x="2112264" y="2588666"/>
            <a:ext cx="134721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3b model pipelines</a:t>
            </a:r>
          </a:p>
        </p:txBody>
      </p:sp>
      <p:sp>
        <p:nvSpPr>
          <p:cNvPr id="43" name="Rectangle 42"/>
          <p:cNvSpPr/>
          <p:nvPr/>
        </p:nvSpPr>
        <p:spPr>
          <a:xfrm>
            <a:off x="3477768" y="2588666"/>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3c budgets</a:t>
            </a:r>
          </a:p>
        </p:txBody>
      </p:sp>
      <p:sp>
        <p:nvSpPr>
          <p:cNvPr id="44" name="Rectangle 43"/>
          <p:cNvSpPr/>
          <p:nvPr/>
        </p:nvSpPr>
        <p:spPr>
          <a:xfrm>
            <a:off x="5526024" y="2588666"/>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3i import, sketches</a:t>
            </a:r>
          </a:p>
        </p:txBody>
      </p:sp>
      <p:sp>
        <p:nvSpPr>
          <p:cNvPr id="45" name="Rectangle 44"/>
          <p:cNvSpPr/>
          <p:nvPr/>
        </p:nvSpPr>
        <p:spPr>
          <a:xfrm>
            <a:off x="2112264" y="2751429"/>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10s sketches</a:t>
            </a:r>
          </a:p>
        </p:txBody>
      </p:sp>
      <p:sp>
        <p:nvSpPr>
          <p:cNvPr id="46" name="Rectangle 45"/>
          <p:cNvSpPr/>
          <p:nvPr/>
        </p:nvSpPr>
        <p:spPr>
          <a:xfrm>
            <a:off x="3307079" y="2751429"/>
            <a:ext cx="3395471"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3d storybook cast (commissioned)</a:t>
            </a:r>
          </a:p>
        </p:txBody>
      </p:sp>
      <p:sp>
        <p:nvSpPr>
          <p:cNvPr id="47" name="TextBox 46"/>
          <p:cNvSpPr txBox="1"/>
          <p:nvPr/>
        </p:nvSpPr>
        <p:spPr>
          <a:xfrm>
            <a:off x="320040" y="2927908"/>
            <a:ext cx="1234440" cy="325526"/>
          </a:xfrm>
          <a:prstGeom prst="rect">
            <a:avLst/>
          </a:prstGeom>
          <a:noFill/>
        </p:spPr>
        <p:txBody>
          <a:bodyPr wrap="square" anchor="ctr" lIns="0" rIns="0" tIns="0" bIns="0">
            <a:spAutoFit/>
          </a:bodyPr>
          <a:lstStyle/>
          <a:p>
            <a:pPr algn="l"/>
            <a:r>
              <a:rPr sz="850" b="1" i="0">
                <a:solidFill>
                  <a:srgbClr val="5F5F5F"/>
                </a:solidFill>
                <a:latin typeface="Calibri"/>
              </a:rPr>
              <a:t>Interface</a:t>
            </a:r>
          </a:p>
        </p:txBody>
      </p:sp>
      <p:sp>
        <p:nvSpPr>
          <p:cNvPr id="48" name="Rectangle 47"/>
          <p:cNvSpPr/>
          <p:nvPr/>
        </p:nvSpPr>
        <p:spPr>
          <a:xfrm>
            <a:off x="1600200" y="2941624"/>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12a mock-ups</a:t>
            </a:r>
          </a:p>
        </p:txBody>
      </p:sp>
      <p:sp>
        <p:nvSpPr>
          <p:cNvPr id="49" name="Rectangle 48"/>
          <p:cNvSpPr/>
          <p:nvPr/>
        </p:nvSpPr>
        <p:spPr>
          <a:xfrm>
            <a:off x="2282952" y="2941624"/>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12b design system</a:t>
            </a:r>
          </a:p>
        </p:txBody>
      </p:sp>
      <p:sp>
        <p:nvSpPr>
          <p:cNvPr id="50" name="Rectangle 49"/>
          <p:cNvSpPr/>
          <p:nvPr/>
        </p:nvSpPr>
        <p:spPr>
          <a:xfrm>
            <a:off x="3648456" y="2941624"/>
            <a:ext cx="134721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10a Storyboard</a:t>
            </a:r>
          </a:p>
        </p:txBody>
      </p:sp>
      <p:sp>
        <p:nvSpPr>
          <p:cNvPr id="51" name="Rectangle 50"/>
          <p:cNvSpPr/>
          <p:nvPr/>
        </p:nvSpPr>
        <p:spPr>
          <a:xfrm>
            <a:off x="5184648" y="2941624"/>
            <a:ext cx="1347215"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WP7 Production stage</a:t>
            </a:r>
          </a:p>
        </p:txBody>
      </p:sp>
      <p:sp>
        <p:nvSpPr>
          <p:cNvPr id="52" name="Rectangle 51"/>
          <p:cNvSpPr/>
          <p:nvPr/>
        </p:nvSpPr>
        <p:spPr>
          <a:xfrm>
            <a:off x="6550152" y="2941624"/>
            <a:ext cx="664463"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10b links</a:t>
            </a:r>
          </a:p>
        </p:txBody>
      </p:sp>
      <p:sp>
        <p:nvSpPr>
          <p:cNvPr id="53" name="Rectangle 52"/>
          <p:cNvSpPr/>
          <p:nvPr/>
        </p:nvSpPr>
        <p:spPr>
          <a:xfrm>
            <a:off x="6550152" y="3104388"/>
            <a:ext cx="49377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WP10c</a:t>
            </a:r>
          </a:p>
        </p:txBody>
      </p:sp>
      <p:sp>
        <p:nvSpPr>
          <p:cNvPr id="55" name="TextBox 54"/>
          <p:cNvSpPr txBox="1"/>
          <p:nvPr/>
        </p:nvSpPr>
        <p:spPr>
          <a:xfrm>
            <a:off x="320040" y="3280867"/>
            <a:ext cx="1234440" cy="162763"/>
          </a:xfrm>
          <a:prstGeom prst="rect">
            <a:avLst/>
          </a:prstGeom>
          <a:noFill/>
        </p:spPr>
        <p:txBody>
          <a:bodyPr wrap="square" anchor="ctr" lIns="0" rIns="0" tIns="0" bIns="0">
            <a:spAutoFit/>
          </a:bodyPr>
          <a:lstStyle/>
          <a:p>
            <a:pPr algn="l"/>
            <a:r>
              <a:rPr sz="850" b="1" i="0">
                <a:solidFill>
                  <a:srgbClr val="5F5F5F"/>
                </a:solidFill>
                <a:latin typeface="Calibri"/>
              </a:rPr>
              <a:t>Tile editor</a:t>
            </a:r>
          </a:p>
        </p:txBody>
      </p:sp>
      <p:sp>
        <p:nvSpPr>
          <p:cNvPr id="56" name="Rectangle 55"/>
          <p:cNvSpPr/>
          <p:nvPr/>
        </p:nvSpPr>
        <p:spPr>
          <a:xfrm>
            <a:off x="3307079" y="3294583"/>
            <a:ext cx="2371344"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7c tile editor (option C)</a:t>
            </a:r>
          </a:p>
        </p:txBody>
      </p:sp>
      <p:sp>
        <p:nvSpPr>
          <p:cNvPr id="57" name="Rectangle 56"/>
          <p:cNvSpPr/>
          <p:nvPr/>
        </p:nvSpPr>
        <p:spPr>
          <a:xfrm>
            <a:off x="6550152" y="3294583"/>
            <a:ext cx="49377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WP7t</a:t>
            </a:r>
          </a:p>
        </p:txBody>
      </p:sp>
      <p:sp>
        <p:nvSpPr>
          <p:cNvPr id="58" name="TextBox 57"/>
          <p:cNvSpPr txBox="1"/>
          <p:nvPr/>
        </p:nvSpPr>
        <p:spPr>
          <a:xfrm>
            <a:off x="320040" y="3471062"/>
            <a:ext cx="1234440" cy="325526"/>
          </a:xfrm>
          <a:prstGeom prst="rect">
            <a:avLst/>
          </a:prstGeom>
          <a:noFill/>
        </p:spPr>
        <p:txBody>
          <a:bodyPr wrap="square" anchor="ctr" lIns="0" rIns="0" tIns="0" bIns="0">
            <a:spAutoFit/>
          </a:bodyPr>
          <a:lstStyle/>
          <a:p>
            <a:pPr algn="l"/>
            <a:r>
              <a:rPr sz="850" b="1" i="0">
                <a:solidFill>
                  <a:srgbClr val="5F5F5F"/>
                </a:solidFill>
                <a:latin typeface="Calibri"/>
              </a:rPr>
              <a:t>Productions</a:t>
            </a:r>
          </a:p>
        </p:txBody>
      </p:sp>
      <p:sp>
        <p:nvSpPr>
          <p:cNvPr id="59" name="Rectangle 58"/>
          <p:cNvSpPr/>
          <p:nvPr/>
        </p:nvSpPr>
        <p:spPr>
          <a:xfrm>
            <a:off x="2624328" y="3484778"/>
            <a:ext cx="323087"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9a</a:t>
            </a:r>
          </a:p>
        </p:txBody>
      </p:sp>
      <p:sp>
        <p:nvSpPr>
          <p:cNvPr id="60" name="Rectangle 59"/>
          <p:cNvSpPr/>
          <p:nvPr/>
        </p:nvSpPr>
        <p:spPr>
          <a:xfrm>
            <a:off x="3136391" y="3484778"/>
            <a:ext cx="493775"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8f format</a:t>
            </a:r>
          </a:p>
        </p:txBody>
      </p:sp>
      <p:sp>
        <p:nvSpPr>
          <p:cNvPr id="61" name="Rectangle 60"/>
          <p:cNvSpPr/>
          <p:nvPr/>
        </p:nvSpPr>
        <p:spPr>
          <a:xfrm>
            <a:off x="4160520" y="3484778"/>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9b import</a:t>
            </a:r>
          </a:p>
        </p:txBody>
      </p:sp>
      <p:sp>
        <p:nvSpPr>
          <p:cNvPr id="62" name="Rectangle 61"/>
          <p:cNvSpPr/>
          <p:nvPr/>
        </p:nvSpPr>
        <p:spPr>
          <a:xfrm>
            <a:off x="4501896" y="3647541"/>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WP8 scenes, save</a:t>
            </a:r>
          </a:p>
        </p:txBody>
      </p:sp>
      <p:sp>
        <p:nvSpPr>
          <p:cNvPr id="64" name="TextBox 63"/>
          <p:cNvSpPr txBox="1"/>
          <p:nvPr/>
        </p:nvSpPr>
        <p:spPr>
          <a:xfrm>
            <a:off x="320040" y="3824020"/>
            <a:ext cx="1234440" cy="162763"/>
          </a:xfrm>
          <a:prstGeom prst="rect">
            <a:avLst/>
          </a:prstGeom>
          <a:noFill/>
        </p:spPr>
        <p:txBody>
          <a:bodyPr wrap="square" anchor="ctr" lIns="0" rIns="0" tIns="0" bIns="0">
            <a:spAutoFit/>
          </a:bodyPr>
          <a:lstStyle/>
          <a:p>
            <a:pPr algn="l"/>
            <a:r>
              <a:rPr sz="850" b="1" i="0">
                <a:solidFill>
                  <a:srgbClr val="5F5F5F"/>
                </a:solidFill>
                <a:latin typeface="Calibri"/>
              </a:rPr>
              <a:t>Screening room</a:t>
            </a:r>
          </a:p>
        </p:txBody>
      </p:sp>
      <p:sp>
        <p:nvSpPr>
          <p:cNvPr id="65" name="Rectangle 64"/>
          <p:cNvSpPr/>
          <p:nvPr/>
        </p:nvSpPr>
        <p:spPr>
          <a:xfrm>
            <a:off x="3136391" y="3837736"/>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11a encoder</a:t>
            </a:r>
          </a:p>
        </p:txBody>
      </p:sp>
      <p:sp>
        <p:nvSpPr>
          <p:cNvPr id="66" name="Rectangle 65"/>
          <p:cNvSpPr/>
          <p:nvPr/>
        </p:nvSpPr>
        <p:spPr>
          <a:xfrm>
            <a:off x="5526024" y="3837736"/>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11b Screening room</a:t>
            </a:r>
          </a:p>
        </p:txBody>
      </p:sp>
      <p:sp>
        <p:nvSpPr>
          <p:cNvPr id="67" name="Rectangle 66"/>
          <p:cNvSpPr/>
          <p:nvPr/>
        </p:nvSpPr>
        <p:spPr>
          <a:xfrm>
            <a:off x="7232903" y="3837736"/>
            <a:ext cx="664463"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WP11c</a:t>
            </a:r>
          </a:p>
        </p:txBody>
      </p:sp>
      <p:sp>
        <p:nvSpPr>
          <p:cNvPr id="68" name="TextBox 67"/>
          <p:cNvSpPr txBox="1"/>
          <p:nvPr/>
        </p:nvSpPr>
        <p:spPr>
          <a:xfrm>
            <a:off x="320040" y="4014216"/>
            <a:ext cx="1234440" cy="162763"/>
          </a:xfrm>
          <a:prstGeom prst="rect">
            <a:avLst/>
          </a:prstGeom>
          <a:noFill/>
        </p:spPr>
        <p:txBody>
          <a:bodyPr wrap="square" anchor="ctr" lIns="0" rIns="0" tIns="0" bIns="0">
            <a:spAutoFit/>
          </a:bodyPr>
          <a:lstStyle/>
          <a:p>
            <a:pPr algn="l"/>
            <a:r>
              <a:rPr sz="850" b="1" i="0">
                <a:solidFill>
                  <a:srgbClr val="5F5F5F"/>
                </a:solidFill>
                <a:latin typeface="Calibri"/>
              </a:rPr>
              <a:t>Prompter, speech</a:t>
            </a:r>
          </a:p>
        </p:txBody>
      </p:sp>
      <p:sp>
        <p:nvSpPr>
          <p:cNvPr id="69" name="Rectangle 68"/>
          <p:cNvSpPr/>
          <p:nvPr/>
        </p:nvSpPr>
        <p:spPr>
          <a:xfrm>
            <a:off x="2112264" y="4027932"/>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WP13a</a:t>
            </a:r>
          </a:p>
        </p:txBody>
      </p:sp>
      <p:sp>
        <p:nvSpPr>
          <p:cNvPr id="70" name="Rectangle 69"/>
          <p:cNvSpPr/>
          <p:nvPr/>
        </p:nvSpPr>
        <p:spPr>
          <a:xfrm>
            <a:off x="3136391" y="4027932"/>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14a speech</a:t>
            </a:r>
          </a:p>
        </p:txBody>
      </p:sp>
      <p:sp>
        <p:nvSpPr>
          <p:cNvPr id="71" name="Rectangle 70"/>
          <p:cNvSpPr/>
          <p:nvPr/>
        </p:nvSpPr>
        <p:spPr>
          <a:xfrm>
            <a:off x="4160520" y="4027932"/>
            <a:ext cx="151790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13b Prompter core</a:t>
            </a:r>
          </a:p>
        </p:txBody>
      </p:sp>
      <p:sp>
        <p:nvSpPr>
          <p:cNvPr id="72" name="Rectangle 71"/>
          <p:cNvSpPr/>
          <p:nvPr/>
        </p:nvSpPr>
        <p:spPr>
          <a:xfrm>
            <a:off x="5696712" y="4027932"/>
            <a:ext cx="323087"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14b</a:t>
            </a:r>
          </a:p>
        </p:txBody>
      </p:sp>
      <p:sp>
        <p:nvSpPr>
          <p:cNvPr id="73" name="Rectangle 72"/>
          <p:cNvSpPr/>
          <p:nvPr/>
        </p:nvSpPr>
        <p:spPr>
          <a:xfrm>
            <a:off x="6550152" y="4027932"/>
            <a:ext cx="664463"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13c coach</a:t>
            </a:r>
          </a:p>
        </p:txBody>
      </p:sp>
      <p:sp>
        <p:nvSpPr>
          <p:cNvPr id="75" name="TextBox 74"/>
          <p:cNvSpPr txBox="1"/>
          <p:nvPr/>
        </p:nvSpPr>
        <p:spPr>
          <a:xfrm>
            <a:off x="320040" y="4204411"/>
            <a:ext cx="1234440" cy="488289"/>
          </a:xfrm>
          <a:prstGeom prst="rect">
            <a:avLst/>
          </a:prstGeom>
          <a:noFill/>
        </p:spPr>
        <p:txBody>
          <a:bodyPr wrap="square" anchor="ctr" lIns="0" rIns="0" tIns="0" bIns="0">
            <a:spAutoFit/>
          </a:bodyPr>
          <a:lstStyle/>
          <a:p>
            <a:pPr algn="l"/>
            <a:r>
              <a:rPr sz="850" b="1" i="0">
                <a:solidFill>
                  <a:srgbClr val="5F5F5F"/>
                </a:solidFill>
                <a:latin typeface="Calibri"/>
              </a:rPr>
              <a:t>Apps</a:t>
            </a:r>
          </a:p>
        </p:txBody>
      </p:sp>
      <p:sp>
        <p:nvSpPr>
          <p:cNvPr id="76" name="Rectangle 75"/>
          <p:cNvSpPr/>
          <p:nvPr/>
        </p:nvSpPr>
        <p:spPr>
          <a:xfrm>
            <a:off x="2112264" y="4218127"/>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WP15a</a:t>
            </a:r>
          </a:p>
        </p:txBody>
      </p:sp>
      <p:sp>
        <p:nvSpPr>
          <p:cNvPr id="77" name="Rectangle 76"/>
          <p:cNvSpPr/>
          <p:nvPr/>
        </p:nvSpPr>
        <p:spPr>
          <a:xfrm>
            <a:off x="2795016" y="4218127"/>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15b signing, stores</a:t>
            </a:r>
          </a:p>
        </p:txBody>
      </p:sp>
      <p:sp>
        <p:nvSpPr>
          <p:cNvPr id="78" name="Rectangle 77"/>
          <p:cNvSpPr/>
          <p:nvPr/>
        </p:nvSpPr>
        <p:spPr>
          <a:xfrm>
            <a:off x="5696712" y="4218127"/>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24b class set-up</a:t>
            </a:r>
          </a:p>
        </p:txBody>
      </p:sp>
      <p:sp>
        <p:nvSpPr>
          <p:cNvPr id="79" name="Rectangle 78"/>
          <p:cNvSpPr/>
          <p:nvPr/>
        </p:nvSpPr>
        <p:spPr>
          <a:xfrm>
            <a:off x="3136391" y="4380890"/>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15k key</a:t>
            </a:r>
          </a:p>
        </p:txBody>
      </p:sp>
      <p:sp>
        <p:nvSpPr>
          <p:cNvPr id="80" name="Rectangle 79"/>
          <p:cNvSpPr/>
          <p:nvPr/>
        </p:nvSpPr>
        <p:spPr>
          <a:xfrm>
            <a:off x="3648456" y="4543653"/>
            <a:ext cx="664463"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WP24a</a:t>
            </a:r>
          </a:p>
        </p:txBody>
      </p:sp>
      <p:sp>
        <p:nvSpPr>
          <p:cNvPr id="81" name="TextBox 80"/>
          <p:cNvSpPr txBox="1"/>
          <p:nvPr/>
        </p:nvSpPr>
        <p:spPr>
          <a:xfrm>
            <a:off x="320040" y="4720132"/>
            <a:ext cx="1234440" cy="488289"/>
          </a:xfrm>
          <a:prstGeom prst="rect">
            <a:avLst/>
          </a:prstGeom>
          <a:noFill/>
        </p:spPr>
        <p:txBody>
          <a:bodyPr wrap="square" anchor="ctr" lIns="0" rIns="0" tIns="0" bIns="0">
            <a:spAutoFit/>
          </a:bodyPr>
          <a:lstStyle/>
          <a:p>
            <a:pPr algn="l"/>
            <a:r>
              <a:rPr sz="850" b="1" i="0">
                <a:solidFill>
                  <a:srgbClr val="5F5F5F"/>
                </a:solidFill>
                <a:latin typeface="Calibri"/>
              </a:rPr>
              <a:t>Curriculum, legal</a:t>
            </a:r>
          </a:p>
        </p:txBody>
      </p:sp>
      <p:sp>
        <p:nvSpPr>
          <p:cNvPr id="82" name="Rectangle 81"/>
          <p:cNvSpPr/>
          <p:nvPr/>
        </p:nvSpPr>
        <p:spPr>
          <a:xfrm>
            <a:off x="1600200" y="4733848"/>
            <a:ext cx="1688591"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16a curriculum mapping</a:t>
            </a:r>
          </a:p>
        </p:txBody>
      </p:sp>
      <p:sp>
        <p:nvSpPr>
          <p:cNvPr id="83" name="Rectangle 82"/>
          <p:cNvSpPr/>
          <p:nvPr/>
        </p:nvSpPr>
        <p:spPr>
          <a:xfrm>
            <a:off x="3307079" y="4733848"/>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16b templates</a:t>
            </a:r>
          </a:p>
        </p:txBody>
      </p:sp>
      <p:sp>
        <p:nvSpPr>
          <p:cNvPr id="84" name="Rectangle 83"/>
          <p:cNvSpPr/>
          <p:nvPr/>
        </p:nvSpPr>
        <p:spPr>
          <a:xfrm>
            <a:off x="5696712" y="4733848"/>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17b DPIA</a:t>
            </a:r>
          </a:p>
        </p:txBody>
      </p:sp>
      <p:sp>
        <p:nvSpPr>
          <p:cNvPr id="85" name="Rectangle 84"/>
          <p:cNvSpPr/>
          <p:nvPr/>
        </p:nvSpPr>
        <p:spPr>
          <a:xfrm>
            <a:off x="7915656" y="4733848"/>
            <a:ext cx="2029967" cy="135331"/>
          </a:xfrm>
          <a:prstGeom prst="rect">
            <a:avLst/>
          </a:prstGeom>
          <a:solidFill>
            <a:srgbClr val="FDE6CF"/>
          </a:solidFill>
          <a:ln w="15875">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8A3F00"/>
                </a:solidFill>
                <a:latin typeface="Calibri"/>
              </a:rPr>
              <a:t>WP19 pilot in schools</a:t>
            </a:r>
          </a:p>
        </p:txBody>
      </p:sp>
      <p:sp>
        <p:nvSpPr>
          <p:cNvPr id="86" name="Rectangle 85"/>
          <p:cNvSpPr/>
          <p:nvPr/>
        </p:nvSpPr>
        <p:spPr>
          <a:xfrm>
            <a:off x="1600200" y="4896612"/>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17a CMU/EA, rights</a:t>
            </a:r>
          </a:p>
        </p:txBody>
      </p:sp>
      <p:sp>
        <p:nvSpPr>
          <p:cNvPr id="87" name="Rectangle 86"/>
          <p:cNvSpPr/>
          <p:nvPr/>
        </p:nvSpPr>
        <p:spPr>
          <a:xfrm>
            <a:off x="2282952" y="5059375"/>
            <a:ext cx="1005839" cy="135331"/>
          </a:xfrm>
          <a:prstGeom prst="rect">
            <a:avLst/>
          </a:prstGeom>
          <a:solidFill>
            <a:srgbClr val="DDF0EA"/>
          </a:solidFill>
          <a:ln w="9525">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64C40"/>
                </a:solidFill>
                <a:latin typeface="Calibri"/>
              </a:rPr>
              <a:t>19a website, guide</a:t>
            </a:r>
          </a:p>
        </p:txBody>
      </p:sp>
      <p:sp>
        <p:nvSpPr>
          <p:cNvPr id="89" name="TextBox 88"/>
          <p:cNvSpPr txBox="1"/>
          <p:nvPr/>
        </p:nvSpPr>
        <p:spPr>
          <a:xfrm>
            <a:off x="320040" y="5235854"/>
            <a:ext cx="1234440" cy="325526"/>
          </a:xfrm>
          <a:prstGeom prst="rect">
            <a:avLst/>
          </a:prstGeom>
          <a:noFill/>
        </p:spPr>
        <p:txBody>
          <a:bodyPr wrap="square" anchor="ctr" lIns="0" rIns="0" tIns="0" bIns="0">
            <a:spAutoFit/>
          </a:bodyPr>
          <a:lstStyle/>
          <a:p>
            <a:pPr algn="l"/>
            <a:r>
              <a:rPr sz="850" b="1" i="0">
                <a:solidFill>
                  <a:srgbClr val="5F5F5F"/>
                </a:solidFill>
                <a:latin typeface="Calibri"/>
              </a:rPr>
              <a:t>AR</a:t>
            </a:r>
          </a:p>
        </p:txBody>
      </p:sp>
      <p:sp>
        <p:nvSpPr>
          <p:cNvPr id="90" name="Rectangle 89"/>
          <p:cNvSpPr/>
          <p:nvPr/>
        </p:nvSpPr>
        <p:spPr>
          <a:xfrm>
            <a:off x="7915656" y="5249570"/>
            <a:ext cx="2029967" cy="135331"/>
          </a:xfrm>
          <a:prstGeom prst="rect">
            <a:avLst/>
          </a:prstGeom>
          <a:solidFill>
            <a:srgbClr val="DCE8F5"/>
          </a:solidFill>
          <a:ln w="1587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1F3F66"/>
                </a:solidFill>
                <a:latin typeface="Calibri"/>
              </a:rPr>
              <a:t>WP21 AR design mode</a:t>
            </a:r>
          </a:p>
        </p:txBody>
      </p:sp>
      <p:sp>
        <p:nvSpPr>
          <p:cNvPr id="91" name="Rectangle 90"/>
          <p:cNvSpPr/>
          <p:nvPr/>
        </p:nvSpPr>
        <p:spPr>
          <a:xfrm>
            <a:off x="9963912" y="5249570"/>
            <a:ext cx="1005839" cy="135331"/>
          </a:xfrm>
          <a:prstGeom prst="rect">
            <a:avLst/>
          </a:prstGeom>
          <a:solidFill>
            <a:srgbClr val="DCE8F5"/>
          </a:solidFill>
          <a:ln w="1587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1F3F66"/>
                </a:solidFill>
                <a:latin typeface="Calibri"/>
              </a:rPr>
              <a:t>22b AR player</a:t>
            </a:r>
          </a:p>
        </p:txBody>
      </p:sp>
      <p:sp>
        <p:nvSpPr>
          <p:cNvPr id="92" name="Rectangle 91"/>
          <p:cNvSpPr/>
          <p:nvPr/>
        </p:nvSpPr>
        <p:spPr>
          <a:xfrm>
            <a:off x="10988040" y="5249570"/>
            <a:ext cx="664463" cy="135331"/>
          </a:xfrm>
          <a:prstGeom prst="rect">
            <a:avLst/>
          </a:prstGeom>
          <a:solidFill>
            <a:srgbClr val="DCE8F5"/>
          </a:solidFill>
          <a:ln w="1587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1">
                <a:solidFill>
                  <a:srgbClr val="1F3F66"/>
                </a:solidFill>
                <a:latin typeface="Calibri"/>
              </a:rPr>
              <a:t>22c MR film</a:t>
            </a:r>
          </a:p>
        </p:txBody>
      </p:sp>
      <p:sp>
        <p:nvSpPr>
          <p:cNvPr id="93" name="Rectangle 92"/>
          <p:cNvSpPr/>
          <p:nvPr/>
        </p:nvSpPr>
        <p:spPr>
          <a:xfrm>
            <a:off x="7915656" y="5412333"/>
            <a:ext cx="1347215"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22a AR baker, pack</a:t>
            </a:r>
          </a:p>
        </p:txBody>
      </p:sp>
      <p:sp>
        <p:nvSpPr>
          <p:cNvPr id="94" name="TextBox 93"/>
          <p:cNvSpPr txBox="1"/>
          <p:nvPr/>
        </p:nvSpPr>
        <p:spPr>
          <a:xfrm>
            <a:off x="320040" y="5588812"/>
            <a:ext cx="1234440" cy="325526"/>
          </a:xfrm>
          <a:prstGeom prst="rect">
            <a:avLst/>
          </a:prstGeom>
          <a:noFill/>
        </p:spPr>
        <p:txBody>
          <a:bodyPr wrap="square" anchor="ctr" lIns="0" rIns="0" tIns="0" bIns="0">
            <a:spAutoFit/>
          </a:bodyPr>
          <a:lstStyle/>
          <a:p>
            <a:pPr algn="l"/>
            <a:r>
              <a:rPr sz="850" b="1" i="0">
                <a:solidFill>
                  <a:srgbClr val="5F5F5F"/>
                </a:solidFill>
                <a:latin typeface="Calibri"/>
              </a:rPr>
              <a:t>Projection</a:t>
            </a:r>
          </a:p>
        </p:txBody>
      </p:sp>
      <p:sp>
        <p:nvSpPr>
          <p:cNvPr id="95" name="Rectangle 94"/>
          <p:cNvSpPr/>
          <p:nvPr/>
        </p:nvSpPr>
        <p:spPr>
          <a:xfrm>
            <a:off x="4501896" y="5602528"/>
            <a:ext cx="664463"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23a spike</a:t>
            </a:r>
          </a:p>
        </p:txBody>
      </p:sp>
      <p:sp>
        <p:nvSpPr>
          <p:cNvPr id="96" name="Rectangle 95"/>
          <p:cNvSpPr/>
          <p:nvPr/>
        </p:nvSpPr>
        <p:spPr>
          <a:xfrm>
            <a:off x="7915656" y="5602528"/>
            <a:ext cx="1005839"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23b Projection stage</a:t>
            </a:r>
          </a:p>
        </p:txBody>
      </p:sp>
      <p:sp>
        <p:nvSpPr>
          <p:cNvPr id="97" name="Rectangle 96"/>
          <p:cNvSpPr/>
          <p:nvPr/>
        </p:nvSpPr>
        <p:spPr>
          <a:xfrm>
            <a:off x="8939783" y="5602528"/>
            <a:ext cx="493775"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23c class</a:t>
            </a:r>
          </a:p>
        </p:txBody>
      </p:sp>
      <p:sp>
        <p:nvSpPr>
          <p:cNvPr id="98" name="Rectangle 97"/>
          <p:cNvSpPr/>
          <p:nvPr/>
        </p:nvSpPr>
        <p:spPr>
          <a:xfrm>
            <a:off x="8939783" y="5765292"/>
            <a:ext cx="1005839"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23d Export to Pixera</a:t>
            </a:r>
          </a:p>
        </p:txBody>
      </p:sp>
      <p:sp>
        <p:nvSpPr>
          <p:cNvPr id="100" name="TextBox 99"/>
          <p:cNvSpPr txBox="1"/>
          <p:nvPr/>
        </p:nvSpPr>
        <p:spPr>
          <a:xfrm>
            <a:off x="320040" y="5941771"/>
            <a:ext cx="1234440" cy="162763"/>
          </a:xfrm>
          <a:prstGeom prst="rect">
            <a:avLst/>
          </a:prstGeom>
          <a:noFill/>
        </p:spPr>
        <p:txBody>
          <a:bodyPr wrap="square" anchor="ctr" lIns="0" rIns="0" tIns="0" bIns="0">
            <a:spAutoFit/>
          </a:bodyPr>
          <a:lstStyle/>
          <a:p>
            <a:pPr algn="l"/>
            <a:r>
              <a:rPr sz="850" b="1" i="0">
                <a:solidFill>
                  <a:srgbClr val="5F5F5F"/>
                </a:solidFill>
                <a:latin typeface="Calibri"/>
              </a:rPr>
              <a:t>Pathway</a:t>
            </a:r>
          </a:p>
        </p:txBody>
      </p:sp>
      <p:sp>
        <p:nvSpPr>
          <p:cNvPr id="101" name="Rectangle 100"/>
          <p:cNvSpPr/>
          <p:nvPr/>
        </p:nvSpPr>
        <p:spPr>
          <a:xfrm>
            <a:off x="7915656" y="5955487"/>
            <a:ext cx="2029967" cy="135331"/>
          </a:xfrm>
          <a:prstGeom prst="rect">
            <a:avLst/>
          </a:prstGeom>
          <a:solidFill>
            <a:srgbClr val="DCE8F5"/>
          </a:solidFill>
          <a:ln w="9525">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none"/>
          <a:lstStyle/>
          <a:p>
            <a:pPr algn="ctr"/>
            <a:r>
              <a:rPr sz="700" b="0">
                <a:solidFill>
                  <a:srgbClr val="1F3F66"/>
                </a:solidFill>
                <a:latin typeface="Calibri"/>
              </a:rPr>
              <a:t>WP20 pathway</a:t>
            </a:r>
          </a:p>
        </p:txBody>
      </p:sp>
      <p:cxnSp>
        <p:nvCxnSpPr>
          <p:cNvPr id="102" name="Connector 101"/>
          <p:cNvCxnSpPr/>
          <p:nvPr/>
        </p:nvCxnSpPr>
        <p:spPr>
          <a:xfrm>
            <a:off x="7915656" y="1280160"/>
            <a:ext cx="0" cy="4851806"/>
          </a:xfrm>
          <a:prstGeom prst="line">
            <a:avLst/>
          </a:prstGeom>
          <a:ln w="19050">
            <a:solidFill>
              <a:srgbClr val="D96A0B"/>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7970520" y="6113678"/>
            <a:ext cx="1463040" cy="182880"/>
          </a:xfrm>
          <a:prstGeom prst="rect">
            <a:avLst/>
          </a:prstGeom>
          <a:noFill/>
        </p:spPr>
        <p:txBody>
          <a:bodyPr wrap="square" anchor="t" lIns="0" rIns="0" tIns="0" bIns="0">
            <a:spAutoFit/>
          </a:bodyPr>
          <a:lstStyle/>
          <a:p>
            <a:pPr algn="l"/>
            <a:r>
              <a:rPr sz="850" b="1" i="0">
                <a:solidFill>
                  <a:srgbClr val="8A3F00"/>
                </a:solidFill>
                <a:latin typeface="Calibri"/>
              </a:rPr>
              <a:t>Release candidate</a:t>
            </a:r>
          </a:p>
        </p:txBody>
      </p:sp>
      <p:sp>
        <p:nvSpPr>
          <p:cNvPr id="104" name="Rounded Rectangle 103"/>
          <p:cNvSpPr/>
          <p:nvPr/>
        </p:nvSpPr>
        <p:spPr>
          <a:xfrm>
            <a:off x="8732520" y="182880"/>
            <a:ext cx="292608" cy="182880"/>
          </a:xfrm>
          <a:prstGeom prst="roundRect">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098280" y="164592"/>
            <a:ext cx="2926080" cy="228600"/>
          </a:xfrm>
          <a:prstGeom prst="rect">
            <a:avLst/>
          </a:prstGeom>
          <a:noFill/>
        </p:spPr>
        <p:txBody>
          <a:bodyPr wrap="square" anchor="t" lIns="0" rIns="0" tIns="0" bIns="0">
            <a:spAutoFit/>
          </a:bodyPr>
          <a:lstStyle/>
          <a:p>
            <a:pPr algn="l"/>
            <a:r>
              <a:rPr sz="900" b="0" i="0">
                <a:solidFill>
                  <a:srgbClr val="222222"/>
                </a:solidFill>
                <a:latin typeface="Calibri"/>
              </a:rPr>
              <a:t>Critical path</a:t>
            </a:r>
          </a:p>
        </p:txBody>
      </p:sp>
      <p:sp>
        <p:nvSpPr>
          <p:cNvPr id="106" name="Rounded Rectangle 105"/>
          <p:cNvSpPr/>
          <p:nvPr/>
        </p:nvSpPr>
        <p:spPr>
          <a:xfrm>
            <a:off x="8732520" y="402336"/>
            <a:ext cx="292608" cy="182880"/>
          </a:xfrm>
          <a:prstGeom prst="roundRect">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098280" y="384048"/>
            <a:ext cx="2926080" cy="228600"/>
          </a:xfrm>
          <a:prstGeom prst="rect">
            <a:avLst/>
          </a:prstGeom>
          <a:noFill/>
        </p:spPr>
        <p:txBody>
          <a:bodyPr wrap="square" anchor="t" lIns="0" rIns="0" tIns="0" bIns="0">
            <a:spAutoFit/>
          </a:bodyPr>
          <a:lstStyle/>
          <a:p>
            <a:pPr algn="l"/>
            <a:r>
              <a:rPr sz="900" b="0" i="0">
                <a:solidFill>
                  <a:srgbClr val="222222"/>
                </a:solidFill>
                <a:latin typeface="Calibri"/>
              </a:rPr>
              <a:t>First release</a:t>
            </a:r>
          </a:p>
        </p:txBody>
      </p:sp>
      <p:sp>
        <p:nvSpPr>
          <p:cNvPr id="108" name="Rounded Rectangle 107"/>
          <p:cNvSpPr/>
          <p:nvPr/>
        </p:nvSpPr>
        <p:spPr>
          <a:xfrm>
            <a:off x="8732520" y="621792"/>
            <a:ext cx="292608" cy="182880"/>
          </a:xfrm>
          <a:prstGeom prst="roundRect">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098280" y="603504"/>
            <a:ext cx="2926080" cy="228600"/>
          </a:xfrm>
          <a:prstGeom prst="rect">
            <a:avLst/>
          </a:prstGeom>
          <a:noFill/>
        </p:spPr>
        <p:txBody>
          <a:bodyPr wrap="square" anchor="t" lIns="0" rIns="0" tIns="0" bIns="0">
            <a:spAutoFit/>
          </a:bodyPr>
          <a:lstStyle/>
          <a:p>
            <a:pPr algn="l"/>
            <a:r>
              <a:rPr sz="900" b="0" i="0">
                <a:solidFill>
                  <a:srgbClr val="222222"/>
                </a:solidFill>
                <a:latin typeface="Calibri"/>
              </a:rPr>
              <a:t>AR, projection, pathway</a:t>
            </a:r>
          </a:p>
        </p:txBody>
      </p:sp>
      <p:sp>
        <p:nvSpPr>
          <p:cNvPr id="110" name="TextBox 109"/>
          <p:cNvSpPr txBox="1"/>
          <p:nvPr/>
        </p:nvSpPr>
        <p:spPr>
          <a:xfrm>
            <a:off x="274320" y="6199632"/>
            <a:ext cx="11612880" cy="502920"/>
          </a:xfrm>
          <a:prstGeom prst="rect">
            <a:avLst/>
          </a:prstGeom>
          <a:noFill/>
        </p:spPr>
        <p:txBody>
          <a:bodyPr wrap="square" anchor="t" lIns="0" rIns="0" tIns="0" bIns="0">
            <a:spAutoFit/>
          </a:bodyPr>
          <a:lstStyle/>
          <a:p>
            <a:pPr algn="l"/>
            <a:r>
              <a:rPr sz="850" b="0" i="0">
                <a:solidFill>
                  <a:srgbClr val="5F5F5F"/>
                </a:solidFill>
                <a:latin typeface="Calibri"/>
              </a:rPr>
              <a:t>Critical path: repo → spikes → stage core → Story API blocks → Production stage → Storyboard links and story coach → gate tests → release candidate (late Feb 2027) → pilot.</a:t>
            </a:r>
          </a:p>
          <a:p>
            <a:pPr algn="l"/>
            <a:r>
              <a:rPr sz="850" b="0" i="0">
                <a:solidFill>
                  <a:srgbClr val="5F5F5F"/>
                </a:solidFill>
                <a:latin typeface="Calibri"/>
              </a:rPr>
              <a:t>About 8 parallel Claude Code sessions give the shortest schedule (13 at the peak); 6 add about 4 weeks; 4 add about 13. Later strands start after the release candidate and end by 13 May 2027. Estimates, recalibrated at M1.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AR for audiences: the theatre version of a production</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A film is directed through a camera; in AR the audience walks round the stage and chooses the view. WP22, with AR trails on the roadmap.</a:t>
            </a:r>
          </a:p>
        </p:txBody>
      </p:sp>
      <p:sp>
        <p:nvSpPr>
          <p:cNvPr id="4" name="TextBox 3"/>
          <p:cNvSpPr txBox="1"/>
          <p:nvPr/>
        </p:nvSpPr>
        <p:spPr>
          <a:xfrm>
            <a:off x="457200" y="1097280"/>
            <a:ext cx="5486400" cy="274320"/>
          </a:xfrm>
          <a:prstGeom prst="rect">
            <a:avLst/>
          </a:prstGeom>
          <a:noFill/>
        </p:spPr>
        <p:txBody>
          <a:bodyPr wrap="square" anchor="t" lIns="0" rIns="0" tIns="0" bIns="0">
            <a:spAutoFit/>
          </a:bodyPr>
          <a:lstStyle/>
          <a:p>
            <a:pPr algn="l"/>
            <a:r>
              <a:rPr sz="1300" b="1" i="0">
                <a:solidFill>
                  <a:srgbClr val="222222"/>
                </a:solidFill>
                <a:latin typeface="Calibri"/>
              </a:rPr>
              <a:t>Audience experiences</a:t>
            </a:r>
          </a:p>
        </p:txBody>
      </p:sp>
      <p:sp>
        <p:nvSpPr>
          <p:cNvPr id="5" name="Rounded Rectangle 4"/>
          <p:cNvSpPr/>
          <p:nvPr/>
        </p:nvSpPr>
        <p:spPr>
          <a:xfrm>
            <a:off x="457200" y="1417320"/>
            <a:ext cx="2697480" cy="9601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Tabletop theatre</a:t>
            </a:r>
          </a:p>
          <a:p>
            <a:pPr algn="ctr"/>
            <a:r>
              <a:rPr sz="950" b="0">
                <a:solidFill>
                  <a:srgbClr val="222222"/>
                </a:solidFill>
                <a:latin typeface="Calibri"/>
              </a:rPr>
              <a:t>The production plays on a table; walk round it; scene changes are set changes. The default</a:t>
            </a:r>
          </a:p>
        </p:txBody>
      </p:sp>
      <p:sp>
        <p:nvSpPr>
          <p:cNvPr id="6" name="Rounded Rectangle 5"/>
          <p:cNvSpPr/>
          <p:nvPr/>
        </p:nvSpPr>
        <p:spPr>
          <a:xfrm>
            <a:off x="3319272" y="1417320"/>
            <a:ext cx="2697480" cy="9601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Life-size</a:t>
            </a:r>
          </a:p>
          <a:p>
            <a:pPr algn="ctr"/>
            <a:r>
              <a:rPr sz="950" b="0">
                <a:solidFill>
                  <a:srgbClr val="222222"/>
                </a:solidFill>
                <a:latin typeface="Calibri"/>
              </a:rPr>
              <a:t>Characters at real size in the classroom or playground</a:t>
            </a:r>
          </a:p>
        </p:txBody>
      </p:sp>
      <p:sp>
        <p:nvSpPr>
          <p:cNvPr id="7" name="Rounded Rectangle 6"/>
          <p:cNvSpPr/>
          <p:nvPr/>
        </p:nvSpPr>
        <p:spPr>
          <a:xfrm>
            <a:off x="6181344" y="1417320"/>
            <a:ext cx="2697480" cy="9601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Interactive AR</a:t>
            </a:r>
          </a:p>
          <a:p>
            <a:pPr algn="ctr"/>
            <a:r>
              <a:rPr sz="950" b="0">
                <a:solidFill>
                  <a:srgbClr val="222222"/>
                </a:solidFill>
                <a:latin typeface="Calibri"/>
              </a:rPr>
              <a:t>Tap characters to trigger events; choose a branch. In StoryStage only</a:t>
            </a:r>
          </a:p>
        </p:txBody>
      </p:sp>
      <p:sp>
        <p:nvSpPr>
          <p:cNvPr id="8" name="Rounded Rectangle 7"/>
          <p:cNvSpPr/>
          <p:nvPr/>
        </p:nvSpPr>
        <p:spPr>
          <a:xfrm>
            <a:off x="9043416" y="1417320"/>
            <a:ext cx="2697480" cy="9601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Mixed-reality film</a:t>
            </a:r>
          </a:p>
          <a:p>
            <a:pPr algn="ctr"/>
            <a:r>
              <a:rPr sz="950" b="0">
                <a:solidFill>
                  <a:srgbClr val="222222"/>
                </a:solidFill>
                <a:latin typeface="Calibri"/>
              </a:rPr>
              <a:t>Record the AR performance with the room behind it, as an MP4. Teacher setting</a:t>
            </a:r>
          </a:p>
        </p:txBody>
      </p:sp>
      <p:sp>
        <p:nvSpPr>
          <p:cNvPr id="9" name="TextBox 8"/>
          <p:cNvSpPr txBox="1"/>
          <p:nvPr/>
        </p:nvSpPr>
        <p:spPr>
          <a:xfrm>
            <a:off x="457200" y="2560320"/>
            <a:ext cx="5486400" cy="274320"/>
          </a:xfrm>
          <a:prstGeom prst="rect">
            <a:avLst/>
          </a:prstGeom>
          <a:noFill/>
        </p:spPr>
        <p:txBody>
          <a:bodyPr wrap="square" anchor="t" lIns="0" rIns="0" tIns="0" bIns="0">
            <a:spAutoFit/>
          </a:bodyPr>
          <a:lstStyle/>
          <a:p>
            <a:pPr algn="l"/>
            <a:r>
              <a:rPr sz="1300" b="1" i="0">
                <a:solidFill>
                  <a:srgbClr val="222222"/>
                </a:solidFill>
                <a:latin typeface="Calibri"/>
              </a:rPr>
              <a:t>Distribution formats</a:t>
            </a:r>
          </a:p>
        </p:txBody>
      </p:sp>
      <p:sp>
        <p:nvSpPr>
          <p:cNvPr id="10" name="Rounded Rectangle 9"/>
          <p:cNvSpPr/>
          <p:nvPr/>
        </p:nvSpPr>
        <p:spPr>
          <a:xfrm>
            <a:off x="457200" y="2880360"/>
            <a:ext cx="2697480" cy="1600200"/>
          </a:xfrm>
          <a:prstGeom prst="roundRect">
            <a:avLst>
              <a:gd name="adj" fmla="val 5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200" b="1">
                <a:solidFill>
                  <a:srgbClr val="1F3F66"/>
                </a:solidFill>
                <a:latin typeface="Calibri"/>
              </a:rPr>
              <a:t>The production in StoryStage</a:t>
            </a:r>
          </a:p>
          <a:p>
            <a:pPr algn="l"/>
            <a:r>
              <a:rPr sz="950" b="0">
                <a:solidFill>
                  <a:srgbClr val="222222"/>
                </a:solidFill>
                <a:latin typeface="Calibri"/>
              </a:rPr>
              <a:t>• Android app, or Chrome on Android (WebXR)</a:t>
            </a:r>
          </a:p>
          <a:p>
            <a:pPr algn="l"/>
            <a:r>
              <a:rPr sz="950" b="0">
                <a:solidFill>
                  <a:srgbClr val="222222"/>
                </a:solidFill>
                <a:latin typeface="Calibri"/>
              </a:rPr>
              <a:t>• iPad app (ARKit plugin)</a:t>
            </a:r>
          </a:p>
          <a:p>
            <a:pPr algn="l"/>
            <a:r>
              <a:rPr sz="950" b="0">
                <a:solidFill>
                  <a:srgbClr val="222222"/>
                </a:solidFill>
                <a:latin typeface="Calibri"/>
              </a:rPr>
              <a:t>• Keeps everything: taps, branches, all scenes, voices</a:t>
            </a:r>
          </a:p>
        </p:txBody>
      </p:sp>
      <p:sp>
        <p:nvSpPr>
          <p:cNvPr id="11" name="Rounded Rectangle 10"/>
          <p:cNvSpPr/>
          <p:nvPr/>
        </p:nvSpPr>
        <p:spPr>
          <a:xfrm>
            <a:off x="3319272" y="2880360"/>
            <a:ext cx="2697480" cy="160020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200" b="1">
                <a:solidFill>
                  <a:srgbClr val="164C40"/>
                </a:solidFill>
                <a:latin typeface="Calibri"/>
              </a:rPr>
              <a:t>AR pack: no StoryStage needed</a:t>
            </a:r>
          </a:p>
          <a:p>
            <a:pPr algn="l"/>
            <a:r>
              <a:rPr sz="950" b="0">
                <a:solidFill>
                  <a:srgbClr val="222222"/>
                </a:solidFill>
                <a:latin typeface="Calibri"/>
              </a:rPr>
              <a:t>• Android: GLB per scene in Scene Viewer</a:t>
            </a:r>
          </a:p>
          <a:p>
            <a:pPr algn="l"/>
            <a:r>
              <a:rPr sz="950" b="0">
                <a:solidFill>
                  <a:srgbClr val="222222"/>
                </a:solidFill>
                <a:latin typeface="Calibri"/>
              </a:rPr>
              <a:t>• iPad, iPhone: USDZ per scene in Quick Look</a:t>
            </a:r>
          </a:p>
          <a:p>
            <a:pPr algn="l"/>
            <a:r>
              <a:rPr sz="950" b="0">
                <a:solidFill>
                  <a:srgbClr val="222222"/>
                </a:solidFill>
                <a:latin typeface="Calibri"/>
              </a:rPr>
              <a:t>• Web page, QR sheet; linear, looping clips</a:t>
            </a:r>
          </a:p>
          <a:p>
            <a:pPr algn="l"/>
            <a:r>
              <a:rPr sz="950" b="0">
                <a:solidFill>
                  <a:srgbClr val="222222"/>
                </a:solidFill>
                <a:latin typeface="Calibri"/>
              </a:rPr>
              <a:t>• Budget: about 10 MB, 100k triangles</a:t>
            </a:r>
          </a:p>
        </p:txBody>
      </p:sp>
      <p:sp>
        <p:nvSpPr>
          <p:cNvPr id="12" name="Rounded Rectangle 11"/>
          <p:cNvSpPr/>
          <p:nvPr/>
        </p:nvSpPr>
        <p:spPr>
          <a:xfrm>
            <a:off x="6181344" y="2880360"/>
            <a:ext cx="2697480" cy="160020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200" b="1">
                <a:solidFill>
                  <a:srgbClr val="164C40"/>
                </a:solidFill>
                <a:latin typeface="Calibri"/>
              </a:rPr>
              <a:t>Mixed-reality film</a:t>
            </a:r>
          </a:p>
          <a:p>
            <a:pPr algn="l"/>
            <a:r>
              <a:rPr sz="950" b="0">
                <a:solidFill>
                  <a:srgbClr val="222222"/>
                </a:solidFill>
                <a:latin typeface="Calibri"/>
              </a:rPr>
              <a:t>• MP4 that plays anywhere</a:t>
            </a:r>
          </a:p>
          <a:p>
            <a:pPr algn="l"/>
            <a:r>
              <a:rPr sz="950" b="0">
                <a:solidFill>
                  <a:srgbClr val="222222"/>
                </a:solidFill>
                <a:latin typeface="Calibri"/>
              </a:rPr>
              <a:t>• Off by default; teacher approval</a:t>
            </a:r>
          </a:p>
          <a:p>
            <a:pPr algn="l"/>
            <a:r>
              <a:rPr sz="950" b="0">
                <a:solidFill>
                  <a:srgbClr val="222222"/>
                </a:solidFill>
                <a:latin typeface="Calibri"/>
              </a:rPr>
              <a:t>• Reminder about filming people</a:t>
            </a:r>
          </a:p>
        </p:txBody>
      </p:sp>
      <p:sp>
        <p:nvSpPr>
          <p:cNvPr id="13" name="Rounded Rectangle 12"/>
          <p:cNvSpPr/>
          <p:nvPr/>
        </p:nvSpPr>
        <p:spPr>
          <a:xfrm>
            <a:off x="9043416" y="2880360"/>
            <a:ext cx="2697480" cy="1600200"/>
          </a:xfrm>
          <a:prstGeom prst="roundRect">
            <a:avLst>
              <a:gd name="adj" fmla="val 5000"/>
            </a:avLst>
          </a:prstGeom>
          <a:solidFill>
            <a:srgbClr val="EFEFE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200" b="1">
                <a:solidFill>
                  <a:srgbClr val="4A4A4A"/>
                </a:solidFill>
                <a:latin typeface="Calibri"/>
              </a:rPr>
              <a:t>Headsets</a:t>
            </a:r>
          </a:p>
          <a:p>
            <a:pPr algn="l"/>
            <a:r>
              <a:rPr sz="950" b="0">
                <a:solidFill>
                  <a:srgbClr val="222222"/>
                </a:solidFill>
                <a:latin typeface="Calibri"/>
              </a:rPr>
              <a:t>• Quest browser, Vision Pro, through WebXR</a:t>
            </a:r>
          </a:p>
          <a:p>
            <a:pPr algn="l"/>
            <a:r>
              <a:rPr sz="950" b="0">
                <a:solidFill>
                  <a:srgbClr val="222222"/>
                </a:solidFill>
                <a:latin typeface="Calibri"/>
              </a:rPr>
              <a:t>• Roadmap: release 2</a:t>
            </a:r>
          </a:p>
        </p:txBody>
      </p:sp>
      <p:sp>
        <p:nvSpPr>
          <p:cNvPr id="14" name="TextBox 13"/>
          <p:cNvSpPr txBox="1"/>
          <p:nvPr/>
        </p:nvSpPr>
        <p:spPr>
          <a:xfrm>
            <a:off x="457200" y="4663440"/>
            <a:ext cx="5486400" cy="274320"/>
          </a:xfrm>
          <a:prstGeom prst="rect">
            <a:avLst/>
          </a:prstGeom>
          <a:noFill/>
        </p:spPr>
        <p:txBody>
          <a:bodyPr wrap="square" anchor="t" lIns="0" rIns="0" tIns="0" bIns="0">
            <a:spAutoFit/>
          </a:bodyPr>
          <a:lstStyle/>
          <a:p>
            <a:pPr algn="l"/>
            <a:r>
              <a:rPr sz="1300" b="1" i="0">
                <a:solidFill>
                  <a:srgbClr val="222222"/>
                </a:solidFill>
                <a:latin typeface="Calibri"/>
              </a:rPr>
              <a:t>Roadmap</a:t>
            </a:r>
          </a:p>
        </p:txBody>
      </p:sp>
      <p:sp>
        <p:nvSpPr>
          <p:cNvPr id="15" name="Rounded Rectangle 14"/>
          <p:cNvSpPr/>
          <p:nvPr/>
        </p:nvSpPr>
        <p:spPr>
          <a:xfrm>
            <a:off x="457200" y="4983480"/>
            <a:ext cx="2697480" cy="105156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64C40"/>
                </a:solidFill>
                <a:latin typeface="Calibri"/>
              </a:rPr>
              <a:t>First release</a:t>
            </a:r>
          </a:p>
          <a:p>
            <a:pPr algn="ctr"/>
            <a:r>
              <a:rPr sz="950" b="0">
                <a:solidFill>
                  <a:srgbClr val="222222"/>
                </a:solidFill>
                <a:latin typeface="Calibri"/>
              </a:rPr>
              <a:t>Storyboard, Production stage, Screening room, MP4, Prompter</a:t>
            </a:r>
          </a:p>
        </p:txBody>
      </p:sp>
      <p:cxnSp>
        <p:nvCxnSpPr>
          <p:cNvPr id="16" name="Connector 15"/>
          <p:cNvCxnSpPr/>
          <p:nvPr/>
        </p:nvCxnSpPr>
        <p:spPr>
          <a:xfrm>
            <a:off x="3172968" y="5509260"/>
            <a:ext cx="128016"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19272" y="4983480"/>
            <a:ext cx="2697480" cy="105156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8A3F00"/>
                </a:solidFill>
                <a:latin typeface="Calibri"/>
              </a:rPr>
              <a:t>Release 1.1</a:t>
            </a:r>
          </a:p>
          <a:p>
            <a:pPr algn="ctr"/>
            <a:r>
              <a:rPr sz="950" b="0">
                <a:solidFill>
                  <a:srgbClr val="222222"/>
                </a:solidFill>
                <a:latin typeface="Calibri"/>
              </a:rPr>
              <a:t>AR design mode (WP21), AR for audiences (WP22), projection (WP23), pathway (WP20): held until after the release candidate</a:t>
            </a:r>
          </a:p>
        </p:txBody>
      </p:sp>
      <p:cxnSp>
        <p:nvCxnSpPr>
          <p:cNvPr id="18" name="Connector 17"/>
          <p:cNvCxnSpPr/>
          <p:nvPr/>
        </p:nvCxnSpPr>
        <p:spPr>
          <a:xfrm>
            <a:off x="6035040" y="5509260"/>
            <a:ext cx="128016"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81344" y="4983480"/>
            <a:ext cx="2697480" cy="105156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8A3F00"/>
                </a:solidFill>
                <a:latin typeface="Calibri"/>
              </a:rPr>
              <a:t>Release 1.2</a:t>
            </a:r>
          </a:p>
          <a:p>
            <a:pPr algn="ctr"/>
            <a:r>
              <a:rPr sz="950" b="0">
                <a:solidFill>
                  <a:srgbClr val="222222"/>
                </a:solidFill>
                <a:latin typeface="Calibri"/>
              </a:rPr>
              <a:t>Voice-over and lip sync; concepts for older learners</a:t>
            </a:r>
          </a:p>
        </p:txBody>
      </p:sp>
      <p:cxnSp>
        <p:nvCxnSpPr>
          <p:cNvPr id="20" name="Connector 19"/>
          <p:cNvCxnSpPr/>
          <p:nvPr/>
        </p:nvCxnSpPr>
        <p:spPr>
          <a:xfrm>
            <a:off x="8897112" y="5509260"/>
            <a:ext cx="128016"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43416" y="4983480"/>
            <a:ext cx="2697480" cy="1051560"/>
          </a:xfrm>
          <a:prstGeom prst="roundRect">
            <a:avLst>
              <a:gd name="adj" fmla="val 8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1F3F66"/>
                </a:solidFill>
                <a:latin typeface="Calibri"/>
              </a:rPr>
              <a:t>Release 2: AR trails</a:t>
            </a:r>
          </a:p>
          <a:p>
            <a:pPr algn="ctr"/>
            <a:r>
              <a:rPr sz="950" b="0">
                <a:solidFill>
                  <a:srgbClr val="222222"/>
                </a:solidFill>
                <a:latin typeface="Calibri"/>
              </a:rPr>
              <a:t>Scenes pinned to markers or places: school grounds, museums, heritage sites. App first; location stays on the device</a:t>
            </a:r>
          </a:p>
        </p:txBody>
      </p:sp>
      <p:sp>
        <p:nvSpPr>
          <p:cNvPr id="22" name="TextBox 21"/>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Safeguards: viewing records nothing; camera images never go to the Prompter; first-name or anonymous credits in AR packs; no StoryStage server, schools host or share the packs. Detail: workplan WP22 and section 6b.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Two code editors in the first release, then one</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Learners can switch between Blocks and Tiles at any time. A pilot study decides which one continues.</a:t>
            </a:r>
          </a:p>
        </p:txBody>
      </p:sp>
      <p:sp>
        <p:nvSpPr>
          <p:cNvPr id="4" name="Rounded Rectangle 3"/>
          <p:cNvSpPr/>
          <p:nvPr/>
        </p:nvSpPr>
        <p:spPr>
          <a:xfrm>
            <a:off x="8732520" y="182880"/>
            <a:ext cx="292608" cy="182880"/>
          </a:xfrm>
          <a:prstGeom prst="roundRect">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98280" y="164592"/>
            <a:ext cx="2926080" cy="228600"/>
          </a:xfrm>
          <a:prstGeom prst="rect">
            <a:avLst/>
          </a:prstGeom>
          <a:noFill/>
        </p:spPr>
        <p:txBody>
          <a:bodyPr wrap="square" anchor="t" lIns="0" rIns="0" tIns="0" bIns="0">
            <a:spAutoFit/>
          </a:bodyPr>
          <a:lstStyle/>
          <a:p>
            <a:pPr algn="l"/>
            <a:r>
              <a:rPr sz="900" b="0" i="0">
                <a:solidFill>
                  <a:srgbClr val="222222"/>
                </a:solidFill>
                <a:latin typeface="Calibri"/>
              </a:rPr>
              <a:t>New code</a:t>
            </a:r>
          </a:p>
        </p:txBody>
      </p:sp>
      <p:sp>
        <p:nvSpPr>
          <p:cNvPr id="6" name="Rounded Rectangle 5"/>
          <p:cNvSpPr/>
          <p:nvPr/>
        </p:nvSpPr>
        <p:spPr>
          <a:xfrm>
            <a:off x="8732520" y="402336"/>
            <a:ext cx="292608" cy="182880"/>
          </a:xfrm>
          <a:prstGeom prst="roundRect">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384048"/>
            <a:ext cx="2926080" cy="228600"/>
          </a:xfrm>
          <a:prstGeom prst="rect">
            <a:avLst/>
          </a:prstGeom>
          <a:noFill/>
        </p:spPr>
        <p:txBody>
          <a:bodyPr wrap="square" anchor="t" lIns="0" rIns="0" tIns="0" bIns="0">
            <a:spAutoFit/>
          </a:bodyPr>
          <a:lstStyle/>
          <a:p>
            <a:pPr algn="l"/>
            <a:r>
              <a:rPr sz="900" b="0" i="0">
                <a:solidFill>
                  <a:srgbClr val="222222"/>
                </a:solidFill>
                <a:latin typeface="Calibri"/>
              </a:rPr>
              <a:t>New code that follows Alice's design</a:t>
            </a:r>
          </a:p>
        </p:txBody>
      </p:sp>
      <p:sp>
        <p:nvSpPr>
          <p:cNvPr id="8" name="Rounded Rectangle 7"/>
          <p:cNvSpPr/>
          <p:nvPr/>
        </p:nvSpPr>
        <p:spPr>
          <a:xfrm>
            <a:off x="8732520" y="621792"/>
            <a:ext cx="292608" cy="182880"/>
          </a:xfrm>
          <a:prstGeom prst="roundRect">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603504"/>
            <a:ext cx="2926080" cy="228600"/>
          </a:xfrm>
          <a:prstGeom prst="rect">
            <a:avLst/>
          </a:prstGeom>
          <a:noFill/>
        </p:spPr>
        <p:txBody>
          <a:bodyPr wrap="square" anchor="t" lIns="0" rIns="0" tIns="0" bIns="0">
            <a:spAutoFit/>
          </a:bodyPr>
          <a:lstStyle/>
          <a:p>
            <a:pPr algn="l"/>
            <a:r>
              <a:rPr sz="900" b="0" i="0">
                <a:solidFill>
                  <a:srgbClr val="222222"/>
                </a:solidFill>
                <a:latin typeface="Calibri"/>
              </a:rPr>
              <a:t>Shared by both</a:t>
            </a:r>
          </a:p>
        </p:txBody>
      </p:sp>
      <p:sp>
        <p:nvSpPr>
          <p:cNvPr id="10" name="Rounded Rectangle 9"/>
          <p:cNvSpPr/>
          <p:nvPr/>
        </p:nvSpPr>
        <p:spPr>
          <a:xfrm>
            <a:off x="457200" y="1188720"/>
            <a:ext cx="3566160" cy="173736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164C40"/>
                </a:solidFill>
                <a:latin typeface="Calibri"/>
              </a:rPr>
              <a:t>Blocks (option B)</a:t>
            </a:r>
          </a:p>
          <a:p>
            <a:pPr algn="l"/>
            <a:r>
              <a:rPr sz="1050" b="0">
                <a:solidFill>
                  <a:srgbClr val="222222"/>
                </a:solidFill>
                <a:latin typeface="Calibri"/>
              </a:rPr>
              <a:t>• Blockly (Apache-2.0), maintained by the Raspberry Pi Foundation</a:t>
            </a:r>
          </a:p>
          <a:p>
            <a:pPr algn="l"/>
            <a:r>
              <a:rPr sz="1050" b="0">
                <a:solidFill>
                  <a:srgbClr val="222222"/>
                </a:solidFill>
                <a:latin typeface="Calibri"/>
              </a:rPr>
              <a:t>• Custom renderer: text-like rows, not jigsaw pieces</a:t>
            </a:r>
          </a:p>
          <a:p>
            <a:pPr algn="l"/>
            <a:r>
              <a:rPr sz="1050" b="0">
                <a:solidFill>
                  <a:srgbClr val="222222"/>
                </a:solidFill>
                <a:latin typeface="Calibri"/>
              </a:rPr>
              <a:t>• Loose blocks switched off; no empty slots</a:t>
            </a:r>
          </a:p>
          <a:p>
            <a:pPr algn="l"/>
            <a:r>
              <a:rPr sz="1050" b="0">
                <a:solidFill>
                  <a:srgbClr val="222222"/>
                </a:solidFill>
                <a:latin typeface="Calibri"/>
              </a:rPr>
              <a:t>• Arguments asked for on drop; "add detail"</a:t>
            </a:r>
          </a:p>
          <a:p>
            <a:pPr algn="l"/>
            <a:r>
              <a:rPr sz="1050" b="0">
                <a:solidFill>
                  <a:srgbClr val="222222"/>
                </a:solidFill>
                <a:latin typeface="Calibri"/>
              </a:rPr>
              <a:t>• Keyboard plugin; screen-reader support coming</a:t>
            </a:r>
          </a:p>
        </p:txBody>
      </p:sp>
      <p:sp>
        <p:nvSpPr>
          <p:cNvPr id="11" name="Rounded Rectangle 10"/>
          <p:cNvSpPr/>
          <p:nvPr/>
        </p:nvSpPr>
        <p:spPr>
          <a:xfrm>
            <a:off x="4315968" y="1188720"/>
            <a:ext cx="3566160" cy="1737360"/>
          </a:xfrm>
          <a:prstGeom prst="roundRect">
            <a:avLst>
              <a:gd name="adj" fmla="val 5000"/>
            </a:avLst>
          </a:prstGeom>
          <a:solidFill>
            <a:srgbClr val="DDF0EA"/>
          </a:solidFill>
          <a:ln w="28575">
            <a:solidFill>
              <a:srgbClr val="C9A000"/>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164C40"/>
                </a:solidFill>
                <a:latin typeface="Calibri"/>
              </a:rPr>
              <a:t>Tiles (option C)</a:t>
            </a:r>
          </a:p>
          <a:p>
            <a:pPr algn="l"/>
            <a:r>
              <a:rPr sz="1050" b="0">
                <a:solidFill>
                  <a:srgbClr val="222222"/>
                </a:solidFill>
                <a:latin typeface="Calibri"/>
              </a:rPr>
              <a:t>• Alice 3's tile editor, rebuilt in React</a:t>
            </a:r>
          </a:p>
          <a:p>
            <a:pPr algn="l"/>
            <a:r>
              <a:rPr sz="1050" b="0">
                <a:solidFill>
                  <a:srgbClr val="222222"/>
                </a:solidFill>
                <a:latin typeface="Calibri"/>
              </a:rPr>
              <a:t>• Statement rows, cascading menus on drop</a:t>
            </a:r>
          </a:p>
          <a:p>
            <a:pPr algn="l"/>
            <a:r>
              <a:rPr sz="1050" b="0">
                <a:solidFill>
                  <a:srgbClr val="222222"/>
                </a:solidFill>
                <a:latin typeface="Calibri"/>
              </a:rPr>
              <a:t>• Do in order and do together containers</a:t>
            </a:r>
          </a:p>
          <a:p>
            <a:pPr algn="l"/>
            <a:r>
              <a:rPr sz="1050" b="0">
                <a:solidFill>
                  <a:srgbClr val="222222"/>
                </a:solidFill>
                <a:latin typeface="Calibri"/>
              </a:rPr>
              <a:t>• No invalid code, one method per tab</a:t>
            </a:r>
          </a:p>
          <a:p>
            <a:pPr algn="l"/>
            <a:r>
              <a:rPr sz="1050" b="0">
                <a:solidFill>
                  <a:srgbClr val="222222"/>
                </a:solidFill>
                <a:latin typeface="Calibri"/>
              </a:rPr>
              <a:t>• Keyboard and screen reader built in from the start</a:t>
            </a:r>
          </a:p>
        </p:txBody>
      </p:sp>
      <p:sp>
        <p:nvSpPr>
          <p:cNvPr id="12" name="Rounded Rectangle 11"/>
          <p:cNvSpPr/>
          <p:nvPr/>
        </p:nvSpPr>
        <p:spPr>
          <a:xfrm>
            <a:off x="8174736" y="1188720"/>
            <a:ext cx="3566160" cy="1737360"/>
          </a:xfrm>
          <a:prstGeom prst="roundRect">
            <a:avLst>
              <a:gd name="adj" fmla="val 5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400" b="1">
                <a:solidFill>
                  <a:srgbClr val="1F3F66"/>
                </a:solidFill>
                <a:latin typeface="Calibri"/>
              </a:rPr>
              <a:t>Shared underneath</a:t>
            </a:r>
          </a:p>
          <a:p>
            <a:pPr algn="l"/>
            <a:r>
              <a:rPr sz="1050" b="0">
                <a:solidFill>
                  <a:srgbClr val="222222"/>
                </a:solidFill>
                <a:latin typeface="Calibri"/>
              </a:rPr>
              <a:t>• One program (the AST) and its edit operations</a:t>
            </a:r>
          </a:p>
          <a:p>
            <a:pPr algn="l"/>
            <a:r>
              <a:rPr sz="1050" b="0">
                <a:solidFill>
                  <a:srgbClr val="222222"/>
                </a:solidFill>
                <a:latin typeface="Calibri"/>
              </a:rPr>
              <a:t>• Undo, Rehearse highlighting, the Prompter</a:t>
            </a:r>
          </a:p>
          <a:p>
            <a:pPr algn="l"/>
            <a:r>
              <a:rPr sz="1050" b="0">
                <a:solidFill>
                  <a:srgbClr val="222222"/>
                </a:solidFill>
                <a:latin typeface="Calibri"/>
              </a:rPr>
              <a:t>• Text view: Python-like or Java-like wording</a:t>
            </a:r>
          </a:p>
          <a:p>
            <a:pPr algn="l"/>
            <a:r>
              <a:rPr sz="1050" b="0">
                <a:solidFill>
                  <a:srgbClr val="222222"/>
                </a:solidFill>
                <a:latin typeface="Calibri"/>
              </a:rPr>
              <a:t>• Switching never loses or converts anything</a:t>
            </a:r>
          </a:p>
          <a:p>
            <a:pPr algn="l"/>
            <a:r>
              <a:rPr sz="1050" b="0">
                <a:solidFill>
                  <a:srgbClr val="222222"/>
                </a:solidFill>
                <a:latin typeface="Calibri"/>
              </a:rPr>
              <a:t>• Parity tests: same edits, identical program</a:t>
            </a:r>
          </a:p>
        </p:txBody>
      </p:sp>
      <p:sp>
        <p:nvSpPr>
          <p:cNvPr id="13" name="TextBox 12"/>
          <p:cNvSpPr txBox="1"/>
          <p:nvPr/>
        </p:nvSpPr>
        <p:spPr>
          <a:xfrm>
            <a:off x="457200" y="3246120"/>
            <a:ext cx="5486400" cy="274320"/>
          </a:xfrm>
          <a:prstGeom prst="rect">
            <a:avLst/>
          </a:prstGeom>
          <a:noFill/>
        </p:spPr>
        <p:txBody>
          <a:bodyPr wrap="square" anchor="t" lIns="0" rIns="0" tIns="0" bIns="0">
            <a:spAutoFit/>
          </a:bodyPr>
          <a:lstStyle/>
          <a:p>
            <a:pPr algn="l"/>
            <a:r>
              <a:rPr sz="1300" b="1" i="0">
                <a:solidFill>
                  <a:srgbClr val="222222"/>
                </a:solidFill>
                <a:latin typeface="Calibri"/>
              </a:rPr>
              <a:t>The study, in the pilot</a:t>
            </a:r>
          </a:p>
        </p:txBody>
      </p:sp>
      <p:sp>
        <p:nvSpPr>
          <p:cNvPr id="14" name="Rounded Rectangle 13"/>
          <p:cNvSpPr/>
          <p:nvPr/>
        </p:nvSpPr>
        <p:spPr>
          <a:xfrm>
            <a:off x="457200" y="3611880"/>
            <a:ext cx="2121408" cy="11887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164C40"/>
                </a:solidFill>
                <a:latin typeface="Calibri"/>
              </a:rPr>
              <a:t>Default per class</a:t>
            </a:r>
          </a:p>
          <a:p>
            <a:pPr algn="ctr"/>
            <a:r>
              <a:rPr sz="950" b="0">
                <a:solidFill>
                  <a:srgbClr val="222222"/>
                </a:solidFill>
                <a:latin typeface="Calibri"/>
              </a:rPr>
              <a:t>The teacher's setting; alternated between classes, so groups are comparable</a:t>
            </a:r>
          </a:p>
        </p:txBody>
      </p:sp>
      <p:cxnSp>
        <p:nvCxnSpPr>
          <p:cNvPr id="15" name="Connector 14"/>
          <p:cNvCxnSpPr/>
          <p:nvPr/>
        </p:nvCxnSpPr>
        <p:spPr>
          <a:xfrm>
            <a:off x="2587751" y="4206240"/>
            <a:ext cx="118873"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15768" y="3611880"/>
            <a:ext cx="2121408" cy="11887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164C40"/>
                </a:solidFill>
                <a:latin typeface="Calibri"/>
              </a:rPr>
              <a:t>Study tasks</a:t>
            </a:r>
          </a:p>
          <a:p>
            <a:pPr algn="ctr"/>
            <a:r>
              <a:rPr sz="950" b="0">
                <a:solidFill>
                  <a:srgbClr val="222222"/>
                </a:solidFill>
                <a:latin typeface="Calibri"/>
              </a:rPr>
              <a:t>Three to five built-in tasks, the same in both editors</a:t>
            </a:r>
          </a:p>
        </p:txBody>
      </p:sp>
      <p:cxnSp>
        <p:nvCxnSpPr>
          <p:cNvPr id="17" name="Connector 16"/>
          <p:cNvCxnSpPr/>
          <p:nvPr/>
        </p:nvCxnSpPr>
        <p:spPr>
          <a:xfrm>
            <a:off x="4846319" y="4206240"/>
            <a:ext cx="118873"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974336" y="3611880"/>
            <a:ext cx="2121408" cy="11887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164C40"/>
                </a:solidFill>
                <a:latin typeface="Calibri"/>
              </a:rPr>
              <a:t>Pseudonymous logs</a:t>
            </a:r>
          </a:p>
          <a:p>
            <a:pPr algn="ctr"/>
            <a:r>
              <a:rPr sz="950" b="0">
                <a:solidFill>
                  <a:srgbClr val="222222"/>
                </a:solidFill>
                <a:latin typeface="Calibri"/>
              </a:rPr>
              <a:t>Editor, switches, task success, time, undos, help; random session ids; exported by the teacher</a:t>
            </a:r>
          </a:p>
        </p:txBody>
      </p:sp>
      <p:cxnSp>
        <p:nvCxnSpPr>
          <p:cNvPr id="19" name="Connector 18"/>
          <p:cNvCxnSpPr/>
          <p:nvPr/>
        </p:nvCxnSpPr>
        <p:spPr>
          <a:xfrm>
            <a:off x="7104888" y="4206240"/>
            <a:ext cx="118872"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32903" y="3611880"/>
            <a:ext cx="2121408" cy="1188720"/>
          </a:xfrm>
          <a:prstGeom prst="roundRect">
            <a:avLst>
              <a:gd name="adj" fmla="val 8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164C40"/>
                </a:solidFill>
                <a:latin typeface="Calibri"/>
              </a:rPr>
              <a:t>Consent and DPIA</a:t>
            </a:r>
          </a:p>
          <a:p>
            <a:pPr algn="ctr"/>
            <a:r>
              <a:rPr sz="950" b="0">
                <a:solidFill>
                  <a:srgbClr val="222222"/>
                </a:solidFill>
                <a:latin typeface="Calibri"/>
              </a:rPr>
              <a:t>Information sheets; parental consent under 16; ethical review if possible</a:t>
            </a:r>
          </a:p>
        </p:txBody>
      </p:sp>
      <p:cxnSp>
        <p:nvCxnSpPr>
          <p:cNvPr id="21" name="Connector 20"/>
          <p:cNvCxnSpPr/>
          <p:nvPr/>
        </p:nvCxnSpPr>
        <p:spPr>
          <a:xfrm>
            <a:off x="9363455" y="4206240"/>
            <a:ext cx="118873" cy="0"/>
          </a:xfrm>
          <a:prstGeom prst="line">
            <a:avLst/>
          </a:prstGeom>
          <a:ln w="19050">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91472" y="3611880"/>
            <a:ext cx="2121408" cy="1188720"/>
          </a:xfrm>
          <a:prstGeom prst="roundRect">
            <a:avLst>
              <a:gd name="adj" fmla="val 8000"/>
            </a:avLst>
          </a:prstGeom>
          <a:solidFill>
            <a:srgbClr val="FDE6CF"/>
          </a:solidFill>
          <a:ln w="12700">
            <a:solidFill>
              <a:srgbClr val="D96A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8A3F00"/>
                </a:solidFill>
                <a:latin typeface="Calibri"/>
              </a:rPr>
              <a:t>Decision rule, co-designed</a:t>
            </a:r>
          </a:p>
          <a:p>
            <a:pPr algn="ctr"/>
            <a:r>
              <a:rPr sz="950" b="0">
                <a:solidFill>
                  <a:srgbClr val="222222"/>
                </a:solidFill>
                <a:latin typeface="Calibri"/>
              </a:rPr>
              <a:t>Task success first, then time and preference; no error counts; accessibility is a must</a:t>
            </a:r>
          </a:p>
        </p:txBody>
      </p:sp>
      <p:sp>
        <p:nvSpPr>
          <p:cNvPr id="23" name="TextBox 22"/>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Why: Alice's text-like tiles have evidence for the move to Java (Dann et al., 2012); Blockly is maintained, touch-ready and widely used. Cost: one extra lane for about 8 weeks; no delay with 8 parallel sessions. Workplan WP7, WP7c, WP19.5–19.8.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64592"/>
            <a:ext cx="8412480" cy="457200"/>
          </a:xfrm>
          <a:prstGeom prst="rect">
            <a:avLst/>
          </a:prstGeom>
          <a:noFill/>
        </p:spPr>
        <p:txBody>
          <a:bodyPr wrap="square" anchor="t" lIns="0" rIns="0" tIns="0" bIns="0">
            <a:spAutoFit/>
          </a:bodyPr>
          <a:lstStyle/>
          <a:p>
            <a:pPr algn="l"/>
            <a:r>
              <a:rPr sz="2400" b="1" i="0">
                <a:solidFill>
                  <a:srgbClr val="222222"/>
                </a:solidFill>
                <a:latin typeface="Calibri"/>
              </a:rPr>
              <a:t>Projection mapping: a building as the stage</a:t>
            </a:r>
          </a:p>
        </p:txBody>
      </p:sp>
      <p:sp>
        <p:nvSpPr>
          <p:cNvPr id="3" name="TextBox 2"/>
          <p:cNvSpPr txBox="1"/>
          <p:nvPr/>
        </p:nvSpPr>
        <p:spPr>
          <a:xfrm>
            <a:off x="274320" y="621792"/>
            <a:ext cx="8412480" cy="292608"/>
          </a:xfrm>
          <a:prstGeom prst="rect">
            <a:avLst/>
          </a:prstGeom>
          <a:noFill/>
        </p:spPr>
        <p:txBody>
          <a:bodyPr wrap="square" anchor="t" lIns="0" rIns="0" tIns="0" bIns="0">
            <a:spAutoFit/>
          </a:bodyPr>
          <a:lstStyle/>
          <a:p>
            <a:pPr algn="l"/>
            <a:r>
              <a:rPr sz="1100" b="0" i="0">
                <a:solidFill>
                  <a:srgbClr val="5F5F5F"/>
                </a:solidFill>
                <a:latin typeface="Calibri"/>
              </a:rPr>
              <a:t>Learners stage their production on a real object, preview it, project it in class, and export it for Pixera. WP23.</a:t>
            </a:r>
          </a:p>
        </p:txBody>
      </p:sp>
      <p:sp>
        <p:nvSpPr>
          <p:cNvPr id="4" name="Rounded Rectangle 3"/>
          <p:cNvSpPr/>
          <p:nvPr/>
        </p:nvSpPr>
        <p:spPr>
          <a:xfrm>
            <a:off x="457200" y="1188720"/>
            <a:ext cx="2651760" cy="118872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64C40"/>
                </a:solidFill>
                <a:latin typeface="Calibri"/>
              </a:rPr>
              <a:t>1  Projection stage</a:t>
            </a:r>
          </a:p>
          <a:p>
            <a:pPr algn="l"/>
            <a:r>
              <a:rPr sz="1000" b="0">
                <a:solidFill>
                  <a:srgbClr val="164C40"/>
                </a:solidFill>
                <a:latin typeface="Calibri"/>
              </a:rPr>
              <a:t>Any device</a:t>
            </a:r>
          </a:p>
          <a:p>
            <a:pPr algn="l"/>
            <a:r>
              <a:rPr sz="1050" b="0">
                <a:solidFill>
                  <a:srgbClr val="222222"/>
                </a:solidFill>
                <a:latin typeface="Calibri"/>
              </a:rPr>
              <a:t>Choose or build a surface; place virtual projectors; preview the production on it</a:t>
            </a:r>
          </a:p>
        </p:txBody>
      </p:sp>
      <p:cxnSp>
        <p:nvCxnSpPr>
          <p:cNvPr id="5" name="Connector 4"/>
          <p:cNvCxnSpPr/>
          <p:nvPr/>
        </p:nvCxnSpPr>
        <p:spPr>
          <a:xfrm>
            <a:off x="3127248" y="1783080"/>
            <a:ext cx="173736"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319272" y="1188720"/>
            <a:ext cx="2651760" cy="118872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64C40"/>
                </a:solidFill>
                <a:latin typeface="Calibri"/>
              </a:rPr>
              <a:t>2  Classroom projection</a:t>
            </a:r>
          </a:p>
          <a:p>
            <a:pPr algn="l"/>
            <a:r>
              <a:rPr sz="1000" b="0">
                <a:solidFill>
                  <a:srgbClr val="164C40"/>
                </a:solidFill>
                <a:latin typeface="Calibri"/>
              </a:rPr>
              <a:t>Desktop app + one projector</a:t>
            </a:r>
          </a:p>
          <a:p>
            <a:pPr algn="l"/>
            <a:r>
              <a:rPr sz="1050" b="0">
                <a:solidFill>
                  <a:srgbClr val="222222"/>
                </a:solidFill>
                <a:latin typeface="Calibri"/>
              </a:rPr>
              <a:t>Full-screen output warped onto a model or wall; no other software</a:t>
            </a:r>
          </a:p>
        </p:txBody>
      </p:sp>
      <p:cxnSp>
        <p:nvCxnSpPr>
          <p:cNvPr id="7" name="Connector 6"/>
          <p:cNvCxnSpPr/>
          <p:nvPr/>
        </p:nvCxnSpPr>
        <p:spPr>
          <a:xfrm>
            <a:off x="5989319" y="1783080"/>
            <a:ext cx="173737"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181344" y="1188720"/>
            <a:ext cx="2651760" cy="1188720"/>
          </a:xfrm>
          <a:prstGeom prst="roundRect">
            <a:avLst>
              <a:gd name="adj" fmla="val 5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64C40"/>
                </a:solidFill>
                <a:latin typeface="Calibri"/>
              </a:rPr>
              <a:t>3  Export for projection</a:t>
            </a:r>
          </a:p>
          <a:p>
            <a:pPr algn="l"/>
            <a:r>
              <a:rPr sz="1000" b="0">
                <a:solidFill>
                  <a:srgbClr val="164C40"/>
                </a:solidFill>
                <a:latin typeface="Calibri"/>
              </a:rPr>
              <a:t>Package</a:t>
            </a:r>
          </a:p>
          <a:p>
            <a:pPr algn="l"/>
            <a:r>
              <a:rPr sz="1050" b="0">
                <a:solidFill>
                  <a:srgbClr val="222222"/>
                </a:solidFill>
                <a:latin typeface="Calibri"/>
              </a:rPr>
              <a:t>Surface (glTF, OBJ), media per surface (PNG sequence, VP9; HAP on desktop), WAV, show file</a:t>
            </a:r>
          </a:p>
        </p:txBody>
      </p:sp>
      <p:cxnSp>
        <p:nvCxnSpPr>
          <p:cNvPr id="9" name="Connector 8"/>
          <p:cNvCxnSpPr/>
          <p:nvPr/>
        </p:nvCxnSpPr>
        <p:spPr>
          <a:xfrm>
            <a:off x="8851392" y="1783080"/>
            <a:ext cx="173736" cy="0"/>
          </a:xfrm>
          <a:prstGeom prst="line">
            <a:avLst/>
          </a:prstGeom>
          <a:ln w="22225">
            <a:solidFill>
              <a:srgbClr val="2E7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043416" y="1188720"/>
            <a:ext cx="2651760" cy="1188720"/>
          </a:xfrm>
          <a:prstGeom prst="roundRect">
            <a:avLst>
              <a:gd name="adj" fmla="val 5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F3F66"/>
                </a:solidFill>
                <a:latin typeface="Calibri"/>
              </a:rPr>
              <a:t>4  Real show</a:t>
            </a:r>
          </a:p>
          <a:p>
            <a:pPr algn="l"/>
            <a:r>
              <a:rPr sz="1000" b="0">
                <a:solidFill>
                  <a:srgbClr val="1F3F66"/>
                </a:solidFill>
                <a:latin typeface="Calibri"/>
              </a:rPr>
              <a:t>Pixera, at a venue or college</a:t>
            </a:r>
          </a:p>
          <a:p>
            <a:pPr algn="l"/>
            <a:r>
              <a:rPr sz="1050" b="0">
                <a:solidFill>
                  <a:srgbClr val="222222"/>
                </a:solidFill>
                <a:latin typeface="Calibri"/>
              </a:rPr>
              <a:t>Licensed Pixera runs, blends and calibrates; learners make and plan the content</a:t>
            </a:r>
          </a:p>
        </p:txBody>
      </p:sp>
      <p:sp>
        <p:nvSpPr>
          <p:cNvPr id="11" name="Rounded Rectangle 10"/>
          <p:cNvSpPr/>
          <p:nvPr/>
        </p:nvSpPr>
        <p:spPr>
          <a:xfrm>
            <a:off x="457200" y="2651760"/>
            <a:ext cx="5577840" cy="1828800"/>
          </a:xfrm>
          <a:prstGeom prst="roundRect">
            <a:avLst>
              <a:gd name="adj" fmla="val 4000"/>
            </a:avLst>
          </a:prstGeom>
          <a:solidFill>
            <a:srgbClr val="DCE8F5"/>
          </a:solidFill>
          <a:ln w="12700">
            <a:solidFill>
              <a:srgbClr val="2F5D8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F3F66"/>
                </a:solidFill>
                <a:latin typeface="Calibri"/>
              </a:rPr>
              <a:t>What Pixera needs</a:t>
            </a:r>
          </a:p>
          <a:p>
            <a:pPr algn="l"/>
            <a:r>
              <a:rPr sz="1050" b="0">
                <a:solidFill>
                  <a:srgbClr val="222222"/>
                </a:solidFill>
                <a:latin typeface="Calibri"/>
              </a:rPr>
              <a:t>• Surfaces: OBJ, FBX or glTF; one material per projected surface; triangles; UVs 0–1; metres</a:t>
            </a:r>
          </a:p>
          <a:p>
            <a:pPr algn="l"/>
            <a:r>
              <a:rPr sz="1050" b="0">
                <a:solidFill>
                  <a:srgbClr val="222222"/>
                </a:solidFill>
                <a:latin typeface="Calibri"/>
              </a:rPr>
              <a:t>• Media: HAP, NotchLC, VP9 best; PNG sequences good; H.264 plays poorly</a:t>
            </a:r>
          </a:p>
          <a:p>
            <a:pPr algn="l"/>
            <a:r>
              <a:rPr sz="1050" b="0">
                <a:solidFill>
                  <a:srgbClr val="222222"/>
                </a:solidFill>
                <a:latin typeface="Calibri"/>
              </a:rPr>
              <a:t>• API (JSON over TCP): add media, create layers, clips and cues, save</a:t>
            </a:r>
          </a:p>
          <a:p>
            <a:pPr algn="l"/>
            <a:r>
              <a:rPr sz="1050" b="0">
                <a:solidFill>
                  <a:srgbClr val="222222"/>
                </a:solidFill>
                <a:latin typeface="Calibri"/>
              </a:rPr>
              <a:t>• Not in the API or published: timelines, surface import, the project file</a:t>
            </a:r>
          </a:p>
          <a:p>
            <a:pPr algn="l"/>
            <a:r>
              <a:rPr sz="1050" b="0">
                <a:solidFill>
                  <a:srgbClr val="222222"/>
                </a:solidFill>
                <a:latin typeface="Calibri"/>
              </a:rPr>
              <a:t>• Windows 10 Pro and an NVIDIA graphics card. Creator is free but watermarked; an education version exists</a:t>
            </a:r>
          </a:p>
        </p:txBody>
      </p:sp>
      <p:sp>
        <p:nvSpPr>
          <p:cNvPr id="12" name="Rounded Rectangle 11"/>
          <p:cNvSpPr/>
          <p:nvPr/>
        </p:nvSpPr>
        <p:spPr>
          <a:xfrm>
            <a:off x="6172200" y="2651760"/>
            <a:ext cx="5532120" cy="1828800"/>
          </a:xfrm>
          <a:prstGeom prst="roundRect">
            <a:avLst>
              <a:gd name="adj" fmla="val 4000"/>
            </a:avLst>
          </a:prstGeom>
          <a:solidFill>
            <a:srgbClr val="DDF0EA"/>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sz="1300" b="1">
                <a:solidFill>
                  <a:srgbClr val="164C40"/>
                </a:solidFill>
                <a:latin typeface="Calibri"/>
              </a:rPr>
              <a:t>Export to Pixera = package + script + guide</a:t>
            </a:r>
          </a:p>
          <a:p>
            <a:pPr algn="l"/>
            <a:r>
              <a:rPr sz="1050" b="0">
                <a:solidFill>
                  <a:srgbClr val="222222"/>
                </a:solidFill>
                <a:latin typeface="Calibri"/>
              </a:rPr>
              <a:t>• Surface bake renderer: the production unrolled onto each surface (spike first)</a:t>
            </a:r>
          </a:p>
          <a:p>
            <a:pPr algn="l"/>
            <a:r>
              <a:rPr sz="1050" b="0">
                <a:solidFill>
                  <a:srgbClr val="222222"/>
                </a:solidFill>
                <a:latin typeface="Calibri"/>
              </a:rPr>
              <a:t>• Build script loads media and creates layers, clips and cues through the API</a:t>
            </a:r>
          </a:p>
          <a:p>
            <a:pPr algn="l"/>
            <a:r>
              <a:rPr sz="1050" b="0">
                <a:solidFill>
                  <a:srgbClr val="222222"/>
                </a:solidFill>
                <a:latin typeface="Calibri"/>
              </a:rPr>
              <a:t>• One-page operator guide for the manual steps and calibration</a:t>
            </a:r>
          </a:p>
          <a:p>
            <a:pPr algn="l"/>
            <a:r>
              <a:rPr sz="1050" b="0">
                <a:solidFill>
                  <a:srgbClr val="222222"/>
                </a:solidFill>
                <a:latin typeface="Calibri"/>
              </a:rPr>
              <a:t>• Free alternatives: MapMap (GPL-3), Splash (GPL)</a:t>
            </a:r>
          </a:p>
          <a:p>
            <a:pPr algn="l"/>
            <a:r>
              <a:rPr sz="1050" b="0">
                <a:solidFill>
                  <a:srgbClr val="222222"/>
                </a:solidFill>
                <a:latin typeface="Calibri"/>
              </a:rPr>
              <a:t>• Flashing check before every export; projector safety notes</a:t>
            </a:r>
          </a:p>
        </p:txBody>
      </p:sp>
      <p:sp>
        <p:nvSpPr>
          <p:cNvPr id="13" name="TextBox 12"/>
          <p:cNvSpPr txBox="1"/>
          <p:nvPr/>
        </p:nvSpPr>
        <p:spPr>
          <a:xfrm>
            <a:off x="274320" y="6355080"/>
            <a:ext cx="11612880" cy="365760"/>
          </a:xfrm>
          <a:prstGeom prst="rect">
            <a:avLst/>
          </a:prstGeom>
          <a:noFill/>
        </p:spPr>
        <p:txBody>
          <a:bodyPr wrap="square" anchor="t" lIns="0" rIns="0" tIns="0" bIns="0">
            <a:spAutoFit/>
          </a:bodyPr>
          <a:lstStyle/>
          <a:p>
            <a:pPr algn="l"/>
            <a:r>
              <a:rPr sz="850" b="0" i="0">
                <a:solidFill>
                  <a:srgbClr val="5F5F5F"/>
                </a:solidFill>
                <a:latin typeface="Calibri"/>
              </a:rPr>
              <a:t>Pathway links: art and design, design and technology, drama; careers in live events, theatre and museums (Pixera, disguise, Resolume, MadMapper, TouchDesigner, Notch). Testing needs a Windows PC with an NVIDIA card, or a partner.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